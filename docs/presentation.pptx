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Calibri"/>
              </a:defRPr>
            </a:pPr>
            <a:r>
              <a:rPr sz="1400" b="0" i="0" u="none" strike="noStrike">
                <a:solidFill>
                  <a:srgbClr val="0F172A"/>
                </a:solidFill>
                <a:latin typeface="Calibri"/>
              </a:rPr>
              <a:t>Toll by plaza (₹)</a:t>
            </a:r>
          </a:p>
        </c:rich>
      </c:tx>
      <c:layout/>
      <c:overlay val="0"/>
    </c:title>
    <c:autoTitleDeleted val="0"/>
    <c:plotArea>
      <c:layout/>
      <c:barChart>
        <c:barDir val="bar"/>
        <c:grouping val="clustered"/>
        <c:varyColors val="0"/>
        <c:ser>
          <c:idx val="0"/>
          <c:order val="0"/>
          <c:tx>
            <c:strRef>
              <c:f>Sheet1!$B$1</c:f>
              <c:strCache>
                <c:ptCount val="1"/>
                <c:pt idx="0">
                  <c:v>GNSS (distance based)</c:v>
                </c:pt>
              </c:strCache>
            </c:strRef>
          </c:tx>
          <c:spPr>
            <a:solidFill>
              <a:srgbClr val="2A78D6"/>
            </a:solidFill>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cat>
            <c:multiLvlStrRef>
              <c:f>Sheet1!$A$2:$A$9</c:f>
              <c:multiLvlStrCache>
                <c:ptCount val="8"/>
                <c:lvl>
                  <c:pt idx="0">
                    <c:v>Electronic City</c:v>
                  </c:pt>
                  <c:pt idx="1">
                    <c:v>Attibele</c:v>
                  </c:pt>
                  <c:pt idx="2">
                    <c:v>Krishnagiri</c:v>
                  </c:pt>
                  <c:pt idx="3">
                    <c:v>Thoppur</c:v>
                  </c:pt>
                  <c:pt idx="4">
                    <c:v>Omalur</c:v>
                  </c:pt>
                  <c:pt idx="5">
                    <c:v>Vaiguntham</c:v>
                  </c:pt>
                  <c:pt idx="6">
                    <c:v>Vijayamangalam</c:v>
                  </c:pt>
                  <c:pt idx="7">
                    <c:v>Kaniyur</c:v>
                  </c:pt>
                </c:lvl>
              </c:multiLvlStrCache>
            </c:multiLvlStrRef>
          </c:cat>
          <c:val>
            <c:numRef>
              <c:f>Sheet1!$B$2:$B$9</c:f>
              <c:numCache>
                <c:formatCode>General</c:formatCode>
                <c:ptCount val="8"/>
                <c:pt idx="0">
                  <c:v>60</c:v>
                </c:pt>
                <c:pt idx="1">
                  <c:v>35</c:v>
                </c:pt>
                <c:pt idx="2">
                  <c:v>89.03</c:v>
                </c:pt>
                <c:pt idx="3">
                  <c:v>115.99</c:v>
                </c:pt>
                <c:pt idx="4">
                  <c:v>51.95</c:v>
                </c:pt>
                <c:pt idx="5">
                  <c:v>59.3</c:v>
                </c:pt>
                <c:pt idx="6">
                  <c:v>65</c:v>
                </c:pt>
                <c:pt idx="7">
                  <c:v>66.36</c:v>
                </c:pt>
              </c:numCache>
            </c:numRef>
          </c:val>
        </c:ser>
        <c:ser>
          <c:idx val="1"/>
          <c:order val="1"/>
          <c:tx>
            <c:strRef>
              <c:f>Sheet1!$C$1</c:f>
              <c:strCache>
                <c:ptCount val="1"/>
                <c:pt idx="0">
                  <c:v>FASTag (full plaza fee)</c:v>
                </c:pt>
              </c:strCache>
            </c:strRef>
          </c:tx>
          <c:spPr>
            <a:solidFill>
              <a:srgbClr val="EB6834"/>
            </a:solidFill>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cat>
            <c:multiLvlStrRef>
              <c:f>Sheet1!$A$2:$A$9</c:f>
              <c:multiLvlStrCache>
                <c:ptCount val="8"/>
                <c:lvl>
                  <c:pt idx="0">
                    <c:v>Electronic City</c:v>
                  </c:pt>
                  <c:pt idx="1">
                    <c:v>Attibele</c:v>
                  </c:pt>
                  <c:pt idx="2">
                    <c:v>Krishnagiri</c:v>
                  </c:pt>
                  <c:pt idx="3">
                    <c:v>Thoppur</c:v>
                  </c:pt>
                  <c:pt idx="4">
                    <c:v>Omalur</c:v>
                  </c:pt>
                  <c:pt idx="5">
                    <c:v>Vaiguntham</c:v>
                  </c:pt>
                  <c:pt idx="6">
                    <c:v>Vijayamangalam</c:v>
                  </c:pt>
                  <c:pt idx="7">
                    <c:v>Kaniyur</c:v>
                  </c:pt>
                </c:lvl>
              </c:multiLvlStrCache>
            </c:multiLvlStrRef>
          </c:cat>
          <c:val>
            <c:numRef>
              <c:f>Sheet1!$C$2:$C$9</c:f>
              <c:numCache>
                <c:formatCode>General</c:formatCode>
                <c:ptCount val="8"/>
                <c:pt idx="0">
                  <c:v>60</c:v>
                </c:pt>
                <c:pt idx="1">
                  <c:v>35</c:v>
                </c:pt>
                <c:pt idx="2">
                  <c:v>95</c:v>
                </c:pt>
                <c:pt idx="3">
                  <c:v>160</c:v>
                </c:pt>
                <c:pt idx="4">
                  <c:v>95</c:v>
                </c:pt>
                <c:pt idx="5">
                  <c:v>75</c:v>
                </c:pt>
                <c:pt idx="6">
                  <c:v>65</c:v>
                </c:pt>
                <c:pt idx="7">
                  <c:v>125</c:v>
                </c:pt>
              </c:numCache>
            </c:numRef>
          </c:val>
        </c:ser>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475569"/>
                </a:solidFill>
                <a:latin typeface="Calibri"/>
              </a:defRPr>
            </a:pPr>
            <a:endParaRPr lang="en-US"/>
          </a:p>
        </c:txPr>
        <c:crossAx val="2094734552"/>
        <c:crosses val="autoZero"/>
        <c:auto val="1"/>
        <c:lblAlgn val="ctr"/>
        <c:noMultiLvlLbl val="1"/>
      </c:catAx>
      <c:valAx>
        <c:axId val="2094734552"/>
        <c:scaling>
          <c:orientation val="minMax"/>
          <c:min val="0"/>
        </c:scaling>
        <c:delete val="0"/>
        <c:axPos val="b"/>
        <c:majorGridlines>
          <c:spPr>
            <a:ln w="12700" cap="flat">
              <a:solidFill>
                <a:srgbClr val="E2E8F0"/>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rgbClr val="47556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75569"/>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72A"/>
                </a:solidFill>
                <a:latin typeface="Calibri"/>
              </a:defRPr>
            </a:pPr>
            <a:r>
              <a:rPr sz="1400" b="0" i="0" u="none" strike="noStrike">
                <a:solidFill>
                  <a:srgbClr val="0F172A"/>
                </a:solidFill>
                <a:latin typeface="Calibri"/>
              </a:rPr>
              <a:t>Car toll for short trips (₹)</a:t>
            </a:r>
          </a:p>
        </c:rich>
      </c:tx>
      <c:layout/>
      <c:overlay val="0"/>
    </c:title>
    <c:autoTitleDeleted val="0"/>
    <c:plotArea>
      <c:layout/>
      <c:barChart>
        <c:barDir val="bar"/>
        <c:grouping val="clustered"/>
        <c:varyColors val="0"/>
        <c:ser>
          <c:idx val="0"/>
          <c:order val="0"/>
          <c:tx>
            <c:strRef>
              <c:f>Sheet1!$B$1</c:f>
              <c:strCache>
                <c:ptCount val="1"/>
                <c:pt idx="0">
                  <c:v>GNSS (distance based)</c:v>
                </c:pt>
              </c:strCache>
            </c:strRef>
          </c:tx>
          <c:spPr>
            <a:solidFill>
              <a:srgbClr val="2A78D6"/>
            </a:solidFill>
            <a:effectLst/>
          </c:spPr>
          <c:invertIfNegative val="0"/>
          <c:dLbls>
            <c:numFmt formatCode="&quot;₹&quot;#,##0" sourceLinked="0"/>
            <c:txPr>
              <a:bodyPr/>
              <a:lstStyle/>
              <a:p>
                <a:pPr>
                  <a:defRPr b="0" i="0" strike="noStrike" sz="1200" u="none">
                    <a:solidFill>
                      <a:srgbClr val="0F172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Hosur → Bangalore (40 km)</c:v>
                  </c:pt>
                  <c:pt idx="1">
                    <c:v>Krishnagiri → Hosur (51 km)</c:v>
                  </c:pt>
                  <c:pt idx="2">
                    <c:v>Salem → Dharmapuri (62 km)</c:v>
                  </c:pt>
                  <c:pt idx="3">
                    <c:v>Coimbatore → Avinashi (44 km)</c:v>
                  </c:pt>
                </c:lvl>
              </c:multiLvlStrCache>
            </c:multiLvlStrRef>
          </c:cat>
          <c:val>
            <c:numRef>
              <c:f>Sheet1!$B$2:$B$5</c:f>
              <c:numCache>
                <c:formatCode>General</c:formatCode>
                <c:ptCount val="4"/>
                <c:pt idx="0">
                  <c:v>23.31</c:v>
                </c:pt>
                <c:pt idx="1">
                  <c:v>22.06</c:v>
                </c:pt>
                <c:pt idx="2">
                  <c:v>76.59</c:v>
                </c:pt>
                <c:pt idx="3">
                  <c:v>61.76</c:v>
                </c:pt>
              </c:numCache>
            </c:numRef>
          </c:val>
        </c:ser>
        <c:ser>
          <c:idx val="1"/>
          <c:order val="1"/>
          <c:tx>
            <c:strRef>
              <c:f>Sheet1!$C$1</c:f>
              <c:strCache>
                <c:ptCount val="1"/>
                <c:pt idx="0">
                  <c:v>FASTag (full plaza fee)</c:v>
                </c:pt>
              </c:strCache>
            </c:strRef>
          </c:tx>
          <c:spPr>
            <a:solidFill>
              <a:srgbClr val="EB6834"/>
            </a:solidFill>
            <a:effectLst/>
          </c:spPr>
          <c:invertIfNegative val="0"/>
          <c:dLbls>
            <c:numFmt formatCode="&quot;₹&quot;#,##0" sourceLinked="0"/>
            <c:txPr>
              <a:bodyPr/>
              <a:lstStyle/>
              <a:p>
                <a:pPr>
                  <a:defRPr b="0" i="0" strike="noStrike" sz="1200" u="none">
                    <a:solidFill>
                      <a:srgbClr val="0F172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Hosur → Bangalore (40 km)</c:v>
                  </c:pt>
                  <c:pt idx="1">
                    <c:v>Krishnagiri → Hosur (51 km)</c:v>
                  </c:pt>
                  <c:pt idx="2">
                    <c:v>Salem → Dharmapuri (62 km)</c:v>
                  </c:pt>
                  <c:pt idx="3">
                    <c:v>Coimbatore → Avinashi (44 km)</c:v>
                  </c:pt>
                </c:lvl>
              </c:multiLvlStrCache>
            </c:multiLvlStrRef>
          </c:cat>
          <c:val>
            <c:numRef>
              <c:f>Sheet1!$C$2:$C$5</c:f>
              <c:numCache>
                <c:formatCode>General</c:formatCode>
                <c:ptCount val="4"/>
                <c:pt idx="0">
                  <c:v>95</c:v>
                </c:pt>
                <c:pt idx="1">
                  <c:v>95</c:v>
                </c:pt>
                <c:pt idx="2">
                  <c:v>255</c:v>
                </c:pt>
                <c:pt idx="3">
                  <c:v>125</c:v>
                </c:pt>
              </c:numCache>
            </c:numRef>
          </c:val>
        </c:ser>
        <c:dLbls>
          <c:numFmt formatCode="&quot;₹&quot;#,##0" sourceLinked="0"/>
          <c:txPr>
            <a:bodyPr/>
            <a:lstStyle/>
            <a:p>
              <a:pPr>
                <a:defRPr b="0" i="0" strike="noStrike" sz="1200" u="none">
                  <a:solidFill>
                    <a:srgbClr val="0F172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475569"/>
                </a:solidFill>
                <a:latin typeface="Calibri"/>
              </a:defRPr>
            </a:pPr>
            <a:endParaRPr lang="en-US"/>
          </a:p>
        </c:txPr>
        <c:crossAx val="2094734552"/>
        <c:crosses val="autoZero"/>
        <c:auto val="1"/>
        <c:lblAlgn val="ctr"/>
        <c:noMultiLvlLbl val="1"/>
      </c:catAx>
      <c:valAx>
        <c:axId val="2094734552"/>
        <c:scaling>
          <c:orientation val="minMax"/>
          <c:min val="0"/>
        </c:scaling>
        <c:delete val="0"/>
        <c:axPos val="b"/>
        <c:majorGridlines>
          <c:spPr>
            <a:ln w="12700" cap="flat">
              <a:solidFill>
                <a:srgbClr val="E2E8F0"/>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rgbClr val="47556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75569"/>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traffic</c:v>
                </c:pt>
              </c:strCache>
            </c:strRef>
          </c:tx>
          <c:spPr>
            <a:solidFill>
              <a:srgbClr val="23406E"/>
            </a:solidFill>
            <a:effectLst/>
          </c:spPr>
          <c:invertIfNegative val="0"/>
          <c:dLbls>
            <c:numFmt formatCode="0&quot;%&quot;" sourceLinked="0"/>
            <c:txPr>
              <a:bodyPr/>
              <a:lstStyle/>
              <a:p>
                <a:pPr>
                  <a:defRPr b="0" i="0" strike="noStrike" sz="1100" u="none">
                    <a:solidFill>
                      <a:srgbClr val="0F172A"/>
                    </a:solidFill>
                    <a:latin typeface="Calibri"/>
                  </a:defRPr>
                </a:pPr>
              </a:p>
            </c:txPr>
            <c:showLegendKey val="0"/>
            <c:showVal val="1"/>
            <c:showCatName val="0"/>
            <c:showSerName val="0"/>
            <c:showPercent val="0"/>
            <c:showBubbleSize val="0"/>
            <c:showLeaderLines val="0"/>
          </c:dLbls>
          <c:cat>
            <c:multiLvlStrRef>
              <c:f>Sheet1!$A$2:$A$7</c:f>
              <c:multiLvlStrCache>
                <c:ptCount val="6"/>
                <c:lvl>
                  <c:pt idx="0">
                    <c:v>Oversized (7+)</c:v>
                  </c:pt>
                  <c:pt idx="1">
                    <c:v>3-axle</c:v>
                  </c:pt>
                  <c:pt idx="2">
                    <c:v>Bus / Truck</c:v>
                  </c:pt>
                  <c:pt idx="3">
                    <c:v>LCV / Mini bus</c:v>
                  </c:pt>
                  <c:pt idx="4">
                    <c:v>Multi-axle (4–6)</c:v>
                  </c:pt>
                  <c:pt idx="5">
                    <c:v>Car / Jeep / Van</c:v>
                  </c:pt>
                </c:lvl>
              </c:multiLvlStrCache>
            </c:multiLvlStrRef>
          </c:cat>
          <c:val>
            <c:numRef>
              <c:f>Sheet1!$B$2:$B$7</c:f>
              <c:numCache>
                <c:formatCode>General</c:formatCode>
                <c:ptCount val="6"/>
                <c:pt idx="0">
                  <c:v>5</c:v>
                </c:pt>
                <c:pt idx="1">
                  <c:v>7</c:v>
                </c:pt>
                <c:pt idx="2">
                  <c:v>8</c:v>
                </c:pt>
                <c:pt idx="3">
                  <c:v>12</c:v>
                </c:pt>
                <c:pt idx="4">
                  <c:v>13</c:v>
                </c:pt>
                <c:pt idx="5">
                  <c:v>55</c:v>
                </c:pt>
              </c:numCache>
            </c:numRef>
          </c:val>
        </c:ser>
        <c:dLbls>
          <c:numFmt formatCode="0&quot;%&quot;" sourceLinked="0"/>
          <c:txPr>
            <a:bodyPr/>
            <a:lstStyle/>
            <a:p>
              <a:pPr>
                <a:defRPr b="0" i="0" strike="noStrike" sz="1100" u="none">
                  <a:solidFill>
                    <a:srgbClr val="0F172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475569"/>
                </a:solidFill>
                <a:latin typeface="Calibri"/>
              </a:defRPr>
            </a:pPr>
            <a:endParaRPr lang="en-US"/>
          </a:p>
        </c:txPr>
        <c:crossAx val="2094734552"/>
        <c:crosses val="autoZero"/>
        <c:auto val="1"/>
        <c:lblAlgn val="ctr"/>
        <c:noMultiLvlLbl val="1"/>
      </c:catAx>
      <c:valAx>
        <c:axId val="2094734552"/>
        <c:scaling>
          <c:orientation val="minMax"/>
          <c:max val="65"/>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4755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Calibri"/>
              </a:defRPr>
            </a:pPr>
            <a:r>
              <a:rPr sz="1400" b="0" i="0" u="none" strike="noStrike">
                <a:solidFill>
                  <a:srgbClr val="FFFFFF"/>
                </a:solidFill>
                <a:latin typeface="Calibri"/>
              </a:rPr>
              <a:t>Full Coimbatore → Bangalore trip by vehicle class (₹)</a:t>
            </a:r>
          </a:p>
        </c:rich>
      </c:tx>
      <c:layout/>
      <c:overlay val="0"/>
    </c:title>
    <c:autoTitleDeleted val="0"/>
    <c:plotArea>
      <c:layout/>
      <c:barChart>
        <c:barDir val="col"/>
        <c:grouping val="clustered"/>
        <c:varyColors val="0"/>
        <c:ser>
          <c:idx val="0"/>
          <c:order val="0"/>
          <c:tx>
            <c:strRef>
              <c:f>Sheet1!$B$1</c:f>
              <c:strCache>
                <c:ptCount val="1"/>
                <c:pt idx="0">
                  <c:v>GNSS (distance based)</c:v>
                </c:pt>
              </c:strCache>
            </c:strRef>
          </c:tx>
          <c:spPr>
            <a:solidFill>
              <a:srgbClr val="5AA0F0"/>
            </a:solidFill>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cat>
            <c:multiLvlStrRef>
              <c:f>Sheet1!$A$2:$A$7</c:f>
              <c:multiLvlStrCache>
                <c:ptCount val="6"/>
                <c:lvl>
                  <c:pt idx="0">
                    <c:v>Car</c:v>
                  </c:pt>
                  <c:pt idx="1">
                    <c:v>LCV</c:v>
                  </c:pt>
                  <c:pt idx="2">
                    <c:v>Bus / Truck</c:v>
                  </c:pt>
                  <c:pt idx="3">
                    <c:v>3-axle</c:v>
                  </c:pt>
                  <c:pt idx="4">
                    <c:v>4–6 axle</c:v>
                  </c:pt>
                  <c:pt idx="5">
                    <c:v>7+ axle</c:v>
                  </c:pt>
                </c:lvl>
              </c:multiLvlStrCache>
            </c:multiLvlStrRef>
          </c:cat>
          <c:val>
            <c:numRef>
              <c:f>Sheet1!$B$2:$B$7</c:f>
              <c:numCache>
                <c:formatCode>General</c:formatCode>
                <c:ptCount val="6"/>
                <c:pt idx="0">
                  <c:v>542.63</c:v>
                </c:pt>
                <c:pt idx="1">
                  <c:v>885.59</c:v>
                </c:pt>
                <c:pt idx="2">
                  <c:v>1808.67</c:v>
                </c:pt>
                <c:pt idx="3">
                  <c:v>3078.15</c:v>
                </c:pt>
                <c:pt idx="4">
                  <c:v>3266.64</c:v>
                </c:pt>
                <c:pt idx="5">
                  <c:v>3679.15</c:v>
                </c:pt>
              </c:numCache>
            </c:numRef>
          </c:val>
        </c:ser>
        <c:ser>
          <c:idx val="1"/>
          <c:order val="1"/>
          <c:tx>
            <c:strRef>
              <c:f>Sheet1!$C$1</c:f>
              <c:strCache>
                <c:ptCount val="1"/>
                <c:pt idx="0">
                  <c:v>FASTag (full plaza fee)</c:v>
                </c:pt>
              </c:strCache>
            </c:strRef>
          </c:tx>
          <c:spPr>
            <a:solidFill>
              <a:srgbClr val="F07A4A"/>
            </a:solidFill>
            <a:effectLst/>
          </c:spPr>
          <c:invertIfNegative val="0"/>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cat>
            <c:multiLvlStrRef>
              <c:f>Sheet1!$A$2:$A$7</c:f>
              <c:multiLvlStrCache>
                <c:ptCount val="6"/>
                <c:lvl>
                  <c:pt idx="0">
                    <c:v>Car</c:v>
                  </c:pt>
                  <c:pt idx="1">
                    <c:v>LCV</c:v>
                  </c:pt>
                  <c:pt idx="2">
                    <c:v>Bus / Truck</c:v>
                  </c:pt>
                  <c:pt idx="3">
                    <c:v>3-axle</c:v>
                  </c:pt>
                  <c:pt idx="4">
                    <c:v>4–6 axle</c:v>
                  </c:pt>
                  <c:pt idx="5">
                    <c:v>7+ axle</c:v>
                  </c:pt>
                </c:lvl>
              </c:multiLvlStrCache>
            </c:multiLvlStrRef>
          </c:cat>
          <c:val>
            <c:numRef>
              <c:f>Sheet1!$C$2:$C$7</c:f>
              <c:numCache>
                <c:formatCode>General</c:formatCode>
                <c:ptCount val="6"/>
                <c:pt idx="0">
                  <c:v>710</c:v>
                </c:pt>
                <c:pt idx="1">
                  <c:v>1160</c:v>
                </c:pt>
                <c:pt idx="2">
                  <c:v>2370</c:v>
                </c:pt>
                <c:pt idx="3">
                  <c:v>3600</c:v>
                </c:pt>
                <c:pt idx="4">
                  <c:v>3860</c:v>
                </c:pt>
                <c:pt idx="5">
                  <c:v>4330</c:v>
                </c:pt>
              </c:numCache>
            </c:numRef>
          </c:val>
        </c:ser>
        <c:dLbls>
          <c:numFmt formatCode="#,##0" sourceLinked="0"/>
          <c:txPr>
            <a:bodyPr/>
            <a:lstStyle/>
            <a:p>
              <a:pPr>
                <a:defRPr b="0" i="0" strike="noStrike" sz="1200" u="none">
                  <a:solidFill>
                    <a:srgbClr val="000000"/>
                  </a:solidFill>
                  <a:latin typeface="Calibri"/>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C9D6EA"/>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23406E"/>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C9D6EA"/>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C9D6E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a GPS toll-based system simulation. Today, highway tolls in India are charged at plazas: you pay a fixed fee at each plaza you pass, however much of the road you use. We simulate the alternative the government is moving towards: satellite-based, distance-based tolling, where your GPS track decides the toll. We built it on the real 362 km Coimbatore to Bangalore highway, with its 8 real toll plazas and their published fees.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A toll plaza charges one fixed fee for a whole section of highway, between 10 and 86 km on our route. The fee doesn't depend on how much of that section you drive. For example, a car going from Krishnagiri to Hosur, 51 km, pays the full 95 rupee fee at the Krishnagiri plaza. Charged by distance, with the first 20 km free, the same trip costs about 22 rupees.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brief had four requirements: define toll zones, register where the vehicle enters and leaves them, calculate the distance and the toll, and display the vehicle's path. All four are delivered, and we went further: many vehicles at once, realistic GPS error and speed, real NHAI fees, a trip history database, and 66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simulates satellite-based tolling from start to finish. First, track: the vehicle reports a GPS fix every 10 seconds. Second, detect: we register when it enters and leaves each toll zone. Third, charge: it pays for the kilometres it drove in each zone, at that plaza's own rate, with the first 20 km free as the 2024 rules allow. Fourth, record: an itemised receipt, the FASTag comparison, and a permanent trip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pipeline for every vehicle, running in a SimPy discrete-event simulation. Vehicles depart from their towns and drive at a speed that drifts naturally. Every 10 seconds we take a GPS fix with a few metres of random error, and snap it back onto the road, which is called map-matching. When the matched position crosses a zone boundary we log an entry or an exit. At the destination the bill is calculated with this formula, a receipt is issued, and the trip is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use a straight line. The route is the real road from OpenStreetMap: NH544 to Salem, then NH44 through Dharmapuri, Krishnagiri and Hosur, 362 km in total. There are 8 real toll plazas on it, with their published NHAI fees. Each plaza's tollable length becomes an orange toll zone on the map, and its per-km rate is simply its fee divided by that length. Rates range from 1.34 rupees per km to 6 rupees on the Electronic City elevated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real example from the simulation: a car driving the whole route. In blue is what it pays with distance-based tolling, in orange what it pays at FASTag plazas today. Where the car drives a plaza's whole section, the two match, as at Attibele and Electronic City. Where zones overlap or the first 20 free kilometres apply, GNSS is cheaper. In total the car pays 542 rupees instead of 710, which is 24%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difference is on short trips. Local drivers crossing one plaza pay its full fee today. With distance-based tolling they pay only for what they drive, and the first 20 km are free. Krishnagiri to Hosur drops from 95 rupees to 22, Salem to Dharmapuri from 255 to 77. That is up to 77%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highways carry mixed traffic, so we simulate many vehicles at once. Each line in this time-distance chart is one vehicle: its slope is its speed, and the shaded bands are the toll zones. Traffic follows a realistic mix, 55% cars with LCVs, buses and trucks, joining and leaving at 9 towns. Speeds drift naturally, and GPS fixes carry a few metres of error that map-matching corrects.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200 vehicles with a fixed random seed: 31,663 km of driving. Distance-based tolls came to 1.18 lakh rupees against 1.54 lakh at FASTag plazas, 23% less, and 165 of the 200 vehicles paid less. On the right, the full route by vehicle class: cars, LCVs and buses save about 24%. Heavy trucks save about 15%, because National Permit vehicles don't get the free 20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runs as a desktop app or from the command line. In the app you choose the vehicle type, the towns, how much other traffic to add and the GPS error, then press Start. Every vehicle appears in the results table. Selecting one shows its itemised toll, its charts, the interactive map and its receipt. Every trip is saved to the database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organised in four layers. Interfaces: the command line and the Tkinter app. Output: charts and map, receipts, and the SQLite history. Core: the SimPy simulation, the toll zone and billing logic, the route model with map-matching, and the vehicle classes. Data: the real route and plaza files, plus the trip database. Each module has one job, which kept it easy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built with open-source Python tools: SimPy for the simulation, Geopy for distances, Matplotlib and Folium for charts and the map, SQLite for the history, Tkinter for the interface and pytest for testing. The road data comes from OpenStreetMap through the OSRM routing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make these results trustworthy. The data is real: OpenStreetMap for the road, NHAI's published fees for every plaza, and the actual fee rules including the 2024 amendment. And the code is tested: 66 automated tests, including a check that noisy GPS produces the same bill as perfect GPS.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team member introduces their own part here. Replace 'Team Member 1' to 4 with your names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any simulation, ours has limits, and each has a clear next step. Vehicles only drive towards Bangalore; the return direction is the obvious next step. Zones are centred on each plaza because official section boundaries aren't published in the data we used. The free 20 km is applied per trip rather than per day. Fees are a snapshot that NHAI revises yearly. And there is no congestion model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distance-based tolling charges drivers for the road they actually use. In our simulation of the real Coimbatore to Bangalore highway, a car pays 24% less for the full route, and short local trips pay up to 77% less. Everything is built on real roads, real plazas and real fees, and the code is on GitHub.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1.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3"/>
        </a:solidFill>
      </p:bgPr>
    </p:bg>
    <p:spTree>
      <p:nvGrpSpPr>
        <p:cNvPr id="1" name=""/>
        <p:cNvGrpSpPr/>
        <p:nvPr/>
      </p:nvGrpSpPr>
      <p:grpSpPr>
        <a:xfrm>
          <a:off x="0" y="0"/>
          <a:ext cx="0" cy="0"/>
          <a:chOff x="0" y="0"/>
          <a:chExt cx="0" cy="0"/>
        </a:xfrm>
      </p:grpSpPr>
      <p:pic>
        <p:nvPicPr>
          <p:cNvPr id="2" name="Image 0" descr="/tmp/claude-0/-home-user-gps-toll-system/7ee5193f-8dd6-5f5a-b25d-6a9dd81edb0f/scratchpad/deck/hero_route.png">    </p:cNvPr>
          <p:cNvPicPr>
            <a:picLocks noChangeAspect="1"/>
          </p:cNvPicPr>
          <p:nvPr/>
        </p:nvPicPr>
        <p:blipFill>
          <a:blip r:embed="rId1"/>
          <a:stretch>
            <a:fillRect/>
          </a:stretch>
        </p:blipFill>
        <p:spPr>
          <a:xfrm>
            <a:off x="6172200" y="411480"/>
            <a:ext cx="5660136" cy="6035040"/>
          </a:xfrm>
          <a:prstGeom prst="rect">
            <a:avLst/>
          </a:prstGeom>
        </p:spPr>
      </p:pic>
      <p:sp>
        <p:nvSpPr>
          <p:cNvPr id="3" name="Text 0"/>
          <p:cNvSpPr txBox="1"/>
          <p:nvPr/>
        </p:nvSpPr>
        <p:spPr>
          <a:xfrm>
            <a:off x="640080" y="1097280"/>
            <a:ext cx="5486400" cy="320040"/>
          </a:xfrm>
          <a:prstGeom prst="rect">
            <a:avLst/>
          </a:prstGeom>
          <a:noFill/>
          <a:ln/>
        </p:spPr>
        <p:txBody>
          <a:bodyPr wrap="square" lIns="0" tIns="0" rIns="0" bIns="0" rtlCol="0" anchor="t"/>
          <a:lstStyle/>
          <a:p>
            <a:pPr indent="0" marL="0">
              <a:buNone/>
            </a:pPr>
            <a:r>
              <a:rPr lang="en-US" sz="1200" b="1" spc="300" kern="0" dirty="0">
                <a:solidFill>
                  <a:srgbClr val="EB6834"/>
                </a:solidFill>
                <a:latin typeface="Arial" pitchFamily="34" charset="0"/>
                <a:ea typeface="Arial" pitchFamily="34" charset="-122"/>
                <a:cs typeface="Arial" pitchFamily="34" charset="-120"/>
              </a:rPr>
              <a:t>PYTHON  ·  SIMPY  ·  SATELLITE TOLLING</a:t>
            </a:r>
            <a:endParaRPr lang="en-US" sz="1200" dirty="0"/>
          </a:p>
        </p:txBody>
      </p:sp>
      <p:sp>
        <p:nvSpPr>
          <p:cNvPr id="4" name="Text 1"/>
          <p:cNvSpPr txBox="1"/>
          <p:nvPr/>
        </p:nvSpPr>
        <p:spPr>
          <a:xfrm>
            <a:off x="640080" y="1463040"/>
            <a:ext cx="5577840" cy="1783080"/>
          </a:xfrm>
          <a:prstGeom prst="rect">
            <a:avLst/>
          </a:prstGeom>
          <a:noFill/>
          <a:ln/>
        </p:spPr>
        <p:txBody>
          <a:bodyPr wrap="square" lIns="0" tIns="0" rIns="0" bIns="0" rtlCol="0" anchor="ctr"/>
          <a:lstStyle/>
          <a:p>
            <a:pPr indent="0" marL="0">
              <a:lnSpc>
                <a:spcPct val="95000"/>
              </a:lnSpc>
              <a:buNone/>
            </a:pPr>
            <a:r>
              <a:rPr lang="en-US" sz="4600" b="1" dirty="0">
                <a:solidFill>
                  <a:srgbClr val="FFFFFF"/>
                </a:solidFill>
                <a:latin typeface="Arial" pitchFamily="34" charset="0"/>
                <a:ea typeface="Arial" pitchFamily="34" charset="-122"/>
                <a:cs typeface="Arial" pitchFamily="34" charset="-120"/>
              </a:rPr>
              <a:t>GPS Toll-Based System Simulation</a:t>
            </a:r>
            <a:endParaRPr lang="en-US" sz="4600" dirty="0"/>
          </a:p>
        </p:txBody>
      </p:sp>
      <p:sp>
        <p:nvSpPr>
          <p:cNvPr id="5" name="Text 2"/>
          <p:cNvSpPr txBox="1"/>
          <p:nvPr/>
        </p:nvSpPr>
        <p:spPr>
          <a:xfrm>
            <a:off x="640080" y="3337560"/>
            <a:ext cx="5212080" cy="868680"/>
          </a:xfrm>
          <a:prstGeom prst="rect">
            <a:avLst/>
          </a:prstGeom>
          <a:noFill/>
          <a:ln/>
        </p:spPr>
        <p:txBody>
          <a:bodyPr wrap="square" lIns="0" tIns="0" rIns="0" bIns="0" rtlCol="0" anchor="t"/>
          <a:lstStyle/>
          <a:p>
            <a:pPr indent="0" marL="0">
              <a:buNone/>
            </a:pPr>
            <a:r>
              <a:rPr lang="en-US" sz="1800" dirty="0">
                <a:solidFill>
                  <a:srgbClr val="C9D6EA"/>
                </a:solidFill>
                <a:latin typeface="Calibri" pitchFamily="34" charset="0"/>
                <a:ea typeface="Calibri" pitchFamily="34" charset="-122"/>
                <a:cs typeface="Calibri" pitchFamily="34" charset="-120"/>
              </a:rPr>
              <a:t>Pay only for the kilometres you drive: distance-based tolling on the Coimbatore → Bangalore highway</a:t>
            </a:r>
            <a:endParaRPr lang="en-US" sz="1800" dirty="0"/>
          </a:p>
        </p:txBody>
      </p:sp>
      <p:sp>
        <p:nvSpPr>
          <p:cNvPr id="6" name="Text 3"/>
          <p:cNvSpPr txBox="1"/>
          <p:nvPr/>
        </p:nvSpPr>
        <p:spPr>
          <a:xfrm>
            <a:off x="640080" y="4526280"/>
            <a:ext cx="1691640"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362 km</a:t>
            </a:r>
            <a:endParaRPr lang="en-US" sz="3000" dirty="0"/>
          </a:p>
        </p:txBody>
      </p:sp>
      <p:sp>
        <p:nvSpPr>
          <p:cNvPr id="7" name="Text 4"/>
          <p:cNvSpPr txBox="1"/>
          <p:nvPr/>
        </p:nvSpPr>
        <p:spPr>
          <a:xfrm>
            <a:off x="640080" y="5074920"/>
            <a:ext cx="1691640" cy="320040"/>
          </a:xfrm>
          <a:prstGeom prst="rect">
            <a:avLst/>
          </a:prstGeom>
          <a:noFill/>
          <a:ln/>
        </p:spPr>
        <p:txBody>
          <a:bodyPr wrap="square" lIns="0" tIns="0" rIns="0" bIns="0" rtlCol="0" anchor="t"/>
          <a:lstStyle/>
          <a:p>
            <a:pPr indent="0" marL="0">
              <a:buNone/>
            </a:pPr>
            <a:r>
              <a:rPr lang="en-US" sz="1300" dirty="0">
                <a:solidFill>
                  <a:srgbClr val="C9D6EA"/>
                </a:solidFill>
                <a:latin typeface="Calibri" pitchFamily="34" charset="0"/>
                <a:ea typeface="Calibri" pitchFamily="34" charset="-122"/>
                <a:cs typeface="Calibri" pitchFamily="34" charset="-120"/>
              </a:rPr>
              <a:t>real road route</a:t>
            </a:r>
            <a:endParaRPr lang="en-US" sz="1300" dirty="0"/>
          </a:p>
        </p:txBody>
      </p:sp>
      <p:sp>
        <p:nvSpPr>
          <p:cNvPr id="8" name="Text 5"/>
          <p:cNvSpPr txBox="1"/>
          <p:nvPr/>
        </p:nvSpPr>
        <p:spPr>
          <a:xfrm>
            <a:off x="2423160" y="4526280"/>
            <a:ext cx="1691640" cy="5486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8</a:t>
            </a:r>
            <a:endParaRPr lang="en-US" sz="3000" dirty="0"/>
          </a:p>
        </p:txBody>
      </p:sp>
      <p:sp>
        <p:nvSpPr>
          <p:cNvPr id="9" name="Text 6"/>
          <p:cNvSpPr txBox="1"/>
          <p:nvPr/>
        </p:nvSpPr>
        <p:spPr>
          <a:xfrm>
            <a:off x="2423160" y="5074920"/>
            <a:ext cx="1691640" cy="320040"/>
          </a:xfrm>
          <a:prstGeom prst="rect">
            <a:avLst/>
          </a:prstGeom>
          <a:noFill/>
          <a:ln/>
        </p:spPr>
        <p:txBody>
          <a:bodyPr wrap="square" lIns="0" tIns="0" rIns="0" bIns="0" rtlCol="0" anchor="t"/>
          <a:lstStyle/>
          <a:p>
            <a:pPr indent="0" marL="0">
              <a:buNone/>
            </a:pPr>
            <a:r>
              <a:rPr lang="en-US" sz="1300" dirty="0">
                <a:solidFill>
                  <a:srgbClr val="C9D6EA"/>
                </a:solidFill>
                <a:latin typeface="Calibri" pitchFamily="34" charset="0"/>
                <a:ea typeface="Calibri" pitchFamily="34" charset="-122"/>
                <a:cs typeface="Calibri" pitchFamily="34" charset="-120"/>
              </a:rPr>
              <a:t>real toll plazas</a:t>
            </a:r>
            <a:endParaRPr lang="en-US" sz="1300" dirty="0"/>
          </a:p>
        </p:txBody>
      </p:sp>
      <p:sp>
        <p:nvSpPr>
          <p:cNvPr id="10" name="Text 7"/>
          <p:cNvSpPr txBox="1"/>
          <p:nvPr/>
        </p:nvSpPr>
        <p:spPr>
          <a:xfrm>
            <a:off x="4206240" y="4526280"/>
            <a:ext cx="1691640" cy="548640"/>
          </a:xfrm>
          <a:prstGeom prst="rect">
            <a:avLst/>
          </a:prstGeom>
          <a:noFill/>
          <a:ln/>
        </p:spPr>
        <p:txBody>
          <a:bodyPr wrap="square" lIns="0" tIns="0" rIns="0" bIns="0" rtlCol="0" anchor="t"/>
          <a:lstStyle/>
          <a:p>
            <a:pPr indent="0" marL="0">
              <a:buNone/>
            </a:pPr>
            <a:r>
              <a:rPr lang="en-US" sz="3000" b="1" dirty="0">
                <a:solidFill>
                  <a:srgbClr val="EB6834"/>
                </a:solidFill>
                <a:latin typeface="Arial" pitchFamily="34" charset="0"/>
                <a:ea typeface="Arial" pitchFamily="34" charset="-122"/>
                <a:cs typeface="Arial" pitchFamily="34" charset="-120"/>
              </a:rPr>
              <a:t>−24%</a:t>
            </a:r>
            <a:endParaRPr lang="en-US" sz="3000" dirty="0"/>
          </a:p>
        </p:txBody>
      </p:sp>
      <p:sp>
        <p:nvSpPr>
          <p:cNvPr id="11" name="Text 8"/>
          <p:cNvSpPr txBox="1"/>
          <p:nvPr/>
        </p:nvSpPr>
        <p:spPr>
          <a:xfrm>
            <a:off x="4206240" y="5074920"/>
            <a:ext cx="1691640" cy="320040"/>
          </a:xfrm>
          <a:prstGeom prst="rect">
            <a:avLst/>
          </a:prstGeom>
          <a:noFill/>
          <a:ln/>
        </p:spPr>
        <p:txBody>
          <a:bodyPr wrap="square" lIns="0" tIns="0" rIns="0" bIns="0" rtlCol="0" anchor="t"/>
          <a:lstStyle/>
          <a:p>
            <a:pPr indent="0" marL="0">
              <a:buNone/>
            </a:pPr>
            <a:r>
              <a:rPr lang="en-US" sz="1300" dirty="0">
                <a:solidFill>
                  <a:srgbClr val="C9D6EA"/>
                </a:solidFill>
                <a:latin typeface="Calibri" pitchFamily="34" charset="0"/>
                <a:ea typeface="Calibri" pitchFamily="34" charset="-122"/>
                <a:cs typeface="Calibri" pitchFamily="34" charset="-120"/>
              </a:rPr>
              <a:t>toll for a car</a:t>
            </a:r>
            <a:endParaRPr lang="en-US" sz="1300" dirty="0"/>
          </a:p>
        </p:txBody>
      </p:sp>
      <p:pic>
        <p:nvPicPr>
          <p:cNvPr id="12" name="Image 1" descr="preencoded.png">    </p:cNvPr>
          <p:cNvPicPr>
            <a:picLocks noChangeAspect="1"/>
          </p:cNvPicPr>
          <p:nvPr/>
        </p:nvPicPr>
        <p:blipFill>
          <a:blip r:embed="rId2"/>
          <a:stretch>
            <a:fillRect/>
          </a:stretch>
        </p:blipFill>
        <p:spPr>
          <a:xfrm>
            <a:off x="640080" y="5961888"/>
            <a:ext cx="237744" cy="237744"/>
          </a:xfrm>
          <a:prstGeom prst="rect">
            <a:avLst/>
          </a:prstGeom>
        </p:spPr>
      </p:pic>
      <p:sp>
        <p:nvSpPr>
          <p:cNvPr id="13" name="Text 9"/>
          <p:cNvSpPr txBox="1"/>
          <p:nvPr/>
        </p:nvSpPr>
        <p:spPr>
          <a:xfrm>
            <a:off x="960120" y="5943600"/>
            <a:ext cx="4572000" cy="274320"/>
          </a:xfrm>
          <a:prstGeom prst="rect">
            <a:avLst/>
          </a:prstGeom>
          <a:noFill/>
          <a:ln/>
        </p:spPr>
        <p:txBody>
          <a:bodyPr wrap="square" lIns="0" tIns="0" rIns="0" bIns="0" rtlCol="0" anchor="ctr"/>
          <a:lstStyle/>
          <a:p>
            <a:pPr indent="0" marL="0">
              <a:buNone/>
            </a:pPr>
            <a:r>
              <a:rPr lang="en-US" sz="1300" dirty="0">
                <a:solidFill>
                  <a:srgbClr val="C9D6EA"/>
                </a:solidFill>
                <a:latin typeface="Calibri" pitchFamily="34" charset="0"/>
                <a:ea typeface="Calibri" pitchFamily="34" charset="-122"/>
                <a:cs typeface="Calibri" pitchFamily="34" charset="-120"/>
              </a:rPr>
              <a:t>github.com/Kes2003/gps-toll-system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GPS Toll-Based System Simulation</a:t>
            </a:r>
            <a:endParaRPr lang="en-US" sz="1000" dirty="0"/>
          </a:p>
        </p:txBody>
      </p:sp>
      <p:sp>
        <p:nvSpPr>
          <p:cNvPr id="3" name="Text 1"/>
          <p:cNvSpPr txBox="1"/>
          <p:nvPr/>
        </p:nvSpPr>
        <p:spPr>
          <a:xfrm>
            <a:off x="10271455" y="6400800"/>
            <a:ext cx="13716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2 / 17</a:t>
            </a:r>
            <a:endParaRPr lang="en-US" sz="1000" dirty="0"/>
          </a:p>
        </p:txBody>
      </p:sp>
      <p:sp>
        <p:nvSpPr>
          <p:cNvPr id="4" name="Text 2"/>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300" kern="0" dirty="0">
                <a:solidFill>
                  <a:srgbClr val="EB6834"/>
                </a:solidFill>
                <a:latin typeface="Arial" pitchFamily="34" charset="0"/>
                <a:ea typeface="Arial" pitchFamily="34" charset="-122"/>
                <a:cs typeface="Arial" pitchFamily="34" charset="-120"/>
              </a:rPr>
              <a:t>THE PROBLEM</a:t>
            </a:r>
            <a:endParaRPr lang="en-US" sz="1200" dirty="0"/>
          </a:p>
        </p:txBody>
      </p:sp>
      <p:sp>
        <p:nvSpPr>
          <p:cNvPr id="5" name="Text 3"/>
          <p:cNvSpPr txBox="1"/>
          <p:nvPr/>
        </p:nvSpPr>
        <p:spPr>
          <a:xfrm>
            <a:off x="548640" y="676656"/>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Plaza tolls charge the full fee, however far you drive</a:t>
            </a:r>
            <a:endParaRPr lang="en-US" sz="3000" dirty="0"/>
          </a:p>
        </p:txBody>
      </p:sp>
      <p:sp>
        <p:nvSpPr>
          <p:cNvPr id="6" name="Shape 4"/>
          <p:cNvSpPr/>
          <p:nvPr/>
        </p:nvSpPr>
        <p:spPr>
          <a:xfrm>
            <a:off x="548640" y="1783080"/>
            <a:ext cx="658368" cy="658368"/>
          </a:xfrm>
          <a:prstGeom prst="ellipse">
            <a:avLst/>
          </a:prstGeom>
          <a:solidFill>
            <a:srgbClr val="EB6834"/>
          </a:solidFill>
          <a:ln w="12700">
            <a:solidFill>
              <a:srgbClr val="EB6834"/>
            </a:solidFill>
            <a:prstDash val="solid"/>
          </a:ln>
        </p:spPr>
      </p:sp>
      <p:pic>
        <p:nvPicPr>
          <p:cNvPr id="7" name="Image 0" descr="preencoded.png">    </p:cNvPr>
          <p:cNvPicPr>
            <a:picLocks noChangeAspect="1"/>
          </p:cNvPicPr>
          <p:nvPr/>
        </p:nvPicPr>
        <p:blipFill>
          <a:blip r:embed="rId1"/>
          <a:stretch>
            <a:fillRect/>
          </a:stretch>
        </p:blipFill>
        <p:spPr>
          <a:xfrm>
            <a:off x="713232" y="1947672"/>
            <a:ext cx="329184" cy="329184"/>
          </a:xfrm>
          <a:prstGeom prst="rect">
            <a:avLst/>
          </a:prstGeom>
        </p:spPr>
      </p:pic>
      <p:sp>
        <p:nvSpPr>
          <p:cNvPr id="8" name="Text 5"/>
          <p:cNvSpPr txBox="1"/>
          <p:nvPr/>
        </p:nvSpPr>
        <p:spPr>
          <a:xfrm>
            <a:off x="1463040" y="1764792"/>
            <a:ext cx="5303520" cy="365760"/>
          </a:xfrm>
          <a:prstGeom prst="rect">
            <a:avLst/>
          </a:prstGeom>
          <a:noFill/>
          <a:ln/>
        </p:spPr>
        <p:txBody>
          <a:bodyPr wrap="square" lIns="0" tIns="0" rIns="0" bIns="0" rtlCol="0" anchor="t"/>
          <a:lstStyle/>
          <a:p>
            <a:pPr indent="0" marL="0">
              <a:buNone/>
            </a:pPr>
            <a:r>
              <a:rPr lang="en-US" sz="1800" b="1" dirty="0">
                <a:solidFill>
                  <a:srgbClr val="0F172A"/>
                </a:solidFill>
                <a:latin typeface="Arial" pitchFamily="34" charset="0"/>
                <a:ea typeface="Arial" pitchFamily="34" charset="-122"/>
                <a:cs typeface="Arial" pitchFamily="34" charset="-120"/>
              </a:rPr>
              <a:t>One fixed fee per plaza</a:t>
            </a:r>
            <a:endParaRPr lang="en-US" sz="1800" dirty="0"/>
          </a:p>
        </p:txBody>
      </p:sp>
      <p:sp>
        <p:nvSpPr>
          <p:cNvPr id="9" name="Text 6"/>
          <p:cNvSpPr txBox="1"/>
          <p:nvPr/>
        </p:nvSpPr>
        <p:spPr>
          <a:xfrm>
            <a:off x="1463040" y="2167128"/>
            <a:ext cx="5303520" cy="77724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Each plaza charges a single fee for its whole section, 10 to 86 km on this route, even if you drive only part of it.</a:t>
            </a:r>
            <a:endParaRPr lang="en-US" sz="1400" dirty="0"/>
          </a:p>
        </p:txBody>
      </p:sp>
      <p:sp>
        <p:nvSpPr>
          <p:cNvPr id="10" name="Shape 7"/>
          <p:cNvSpPr/>
          <p:nvPr/>
        </p:nvSpPr>
        <p:spPr>
          <a:xfrm>
            <a:off x="548640" y="3154680"/>
            <a:ext cx="658368" cy="658368"/>
          </a:xfrm>
          <a:prstGeom prst="ellipse">
            <a:avLst/>
          </a:prstGeom>
          <a:solidFill>
            <a:srgbClr val="EB6834"/>
          </a:solidFill>
          <a:ln w="12700">
            <a:solidFill>
              <a:srgbClr val="EB6834"/>
            </a:solidFill>
            <a:prstDash val="solid"/>
          </a:ln>
        </p:spPr>
      </p:sp>
      <p:pic>
        <p:nvPicPr>
          <p:cNvPr id="11" name="Image 1" descr="preencoded.png">    </p:cNvPr>
          <p:cNvPicPr>
            <a:picLocks noChangeAspect="1"/>
          </p:cNvPicPr>
          <p:nvPr/>
        </p:nvPicPr>
        <p:blipFill>
          <a:blip r:embed="rId2"/>
          <a:stretch>
            <a:fillRect/>
          </a:stretch>
        </p:blipFill>
        <p:spPr>
          <a:xfrm>
            <a:off x="713232" y="3319272"/>
            <a:ext cx="329184" cy="329184"/>
          </a:xfrm>
          <a:prstGeom prst="rect">
            <a:avLst/>
          </a:prstGeom>
        </p:spPr>
      </p:pic>
      <p:sp>
        <p:nvSpPr>
          <p:cNvPr id="12" name="Text 8"/>
          <p:cNvSpPr txBox="1"/>
          <p:nvPr/>
        </p:nvSpPr>
        <p:spPr>
          <a:xfrm>
            <a:off x="1463040" y="3136392"/>
            <a:ext cx="5303520" cy="365760"/>
          </a:xfrm>
          <a:prstGeom prst="rect">
            <a:avLst/>
          </a:prstGeom>
          <a:noFill/>
          <a:ln/>
        </p:spPr>
        <p:txBody>
          <a:bodyPr wrap="square" lIns="0" tIns="0" rIns="0" bIns="0" rtlCol="0" anchor="t"/>
          <a:lstStyle/>
          <a:p>
            <a:pPr indent="0" marL="0">
              <a:buNone/>
            </a:pPr>
            <a:r>
              <a:rPr lang="en-US" sz="1800" b="1" dirty="0">
                <a:solidFill>
                  <a:srgbClr val="0F172A"/>
                </a:solidFill>
                <a:latin typeface="Arial" pitchFamily="34" charset="0"/>
                <a:ea typeface="Arial" pitchFamily="34" charset="-122"/>
                <a:cs typeface="Arial" pitchFamily="34" charset="-120"/>
              </a:rPr>
              <a:t>Distance isn't measured</a:t>
            </a:r>
            <a:endParaRPr lang="en-US" sz="1800" dirty="0"/>
          </a:p>
        </p:txBody>
      </p:sp>
      <p:sp>
        <p:nvSpPr>
          <p:cNvPr id="13" name="Text 9"/>
          <p:cNvSpPr txBox="1"/>
          <p:nvPr/>
        </p:nvSpPr>
        <p:spPr>
          <a:xfrm>
            <a:off x="1463040" y="3538728"/>
            <a:ext cx="5303520" cy="77724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What you pay depends on which plazas you pass, not on the kilometres you actually use.</a:t>
            </a:r>
            <a:endParaRPr lang="en-US" sz="1400" dirty="0"/>
          </a:p>
        </p:txBody>
      </p:sp>
      <p:sp>
        <p:nvSpPr>
          <p:cNvPr id="14" name="Shape 10"/>
          <p:cNvSpPr/>
          <p:nvPr/>
        </p:nvSpPr>
        <p:spPr>
          <a:xfrm>
            <a:off x="548640" y="4526280"/>
            <a:ext cx="658368" cy="658368"/>
          </a:xfrm>
          <a:prstGeom prst="ellipse">
            <a:avLst/>
          </a:prstGeom>
          <a:solidFill>
            <a:srgbClr val="EB6834"/>
          </a:solidFill>
          <a:ln w="12700">
            <a:solidFill>
              <a:srgbClr val="EB6834"/>
            </a:solidFill>
            <a:prstDash val="solid"/>
          </a:ln>
        </p:spPr>
      </p:sp>
      <p:pic>
        <p:nvPicPr>
          <p:cNvPr id="15" name="Image 2" descr="preencoded.png">    </p:cNvPr>
          <p:cNvPicPr>
            <a:picLocks noChangeAspect="1"/>
          </p:cNvPicPr>
          <p:nvPr/>
        </p:nvPicPr>
        <p:blipFill>
          <a:blip r:embed="rId3"/>
          <a:stretch>
            <a:fillRect/>
          </a:stretch>
        </p:blipFill>
        <p:spPr>
          <a:xfrm>
            <a:off x="713232" y="4690872"/>
            <a:ext cx="329184" cy="329184"/>
          </a:xfrm>
          <a:prstGeom prst="rect">
            <a:avLst/>
          </a:prstGeom>
        </p:spPr>
      </p:pic>
      <p:sp>
        <p:nvSpPr>
          <p:cNvPr id="16" name="Text 11"/>
          <p:cNvSpPr txBox="1"/>
          <p:nvPr/>
        </p:nvSpPr>
        <p:spPr>
          <a:xfrm>
            <a:off x="1463040" y="4507992"/>
            <a:ext cx="5303520" cy="365760"/>
          </a:xfrm>
          <a:prstGeom prst="rect">
            <a:avLst/>
          </a:prstGeom>
          <a:noFill/>
          <a:ln/>
        </p:spPr>
        <p:txBody>
          <a:bodyPr wrap="square" lIns="0" tIns="0" rIns="0" bIns="0" rtlCol="0" anchor="t"/>
          <a:lstStyle/>
          <a:p>
            <a:pPr indent="0" marL="0">
              <a:buNone/>
            </a:pPr>
            <a:r>
              <a:rPr lang="en-US" sz="1800" b="1" dirty="0">
                <a:solidFill>
                  <a:srgbClr val="0F172A"/>
                </a:solidFill>
                <a:latin typeface="Arial" pitchFamily="34" charset="0"/>
                <a:ea typeface="Arial" pitchFamily="34" charset="-122"/>
                <a:cs typeface="Arial" pitchFamily="34" charset="-120"/>
              </a:rPr>
              <a:t>Short trips pay the most per km</a:t>
            </a:r>
            <a:endParaRPr lang="en-US" sz="1800" dirty="0"/>
          </a:p>
        </p:txBody>
      </p:sp>
      <p:sp>
        <p:nvSpPr>
          <p:cNvPr id="17" name="Text 12"/>
          <p:cNvSpPr txBox="1"/>
          <p:nvPr/>
        </p:nvSpPr>
        <p:spPr>
          <a:xfrm>
            <a:off x="1463040" y="4910328"/>
            <a:ext cx="5303520" cy="77724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A local trip through one plaza pays exactly what a long-distance trip through that section pays.</a:t>
            </a:r>
            <a:endParaRPr lang="en-US" sz="1400" dirty="0"/>
          </a:p>
        </p:txBody>
      </p:sp>
      <p:sp>
        <p:nvSpPr>
          <p:cNvPr id="18" name="Shape 13"/>
          <p:cNvSpPr/>
          <p:nvPr/>
        </p:nvSpPr>
        <p:spPr>
          <a:xfrm>
            <a:off x="7315200" y="1645920"/>
            <a:ext cx="4325112" cy="4434840"/>
          </a:xfrm>
          <a:prstGeom prst="roundRect">
            <a:avLst>
              <a:gd name="adj" fmla="val 1691"/>
            </a:avLst>
          </a:prstGeom>
          <a:solidFill>
            <a:srgbClr val="0B1B33"/>
          </a:solidFill>
          <a:ln w="12700">
            <a:solidFill>
              <a:srgbClr val="0B1B33"/>
            </a:solidFill>
            <a:prstDash val="solid"/>
          </a:ln>
          <a:effectLst>
            <a:outerShdw sx="100000" sy="100000" kx="0" ky="0" algn="bl" rotWithShape="0" blurRad="127000" dist="25400" dir="5400000">
              <a:srgbClr val="000000">
                <a:alpha val="14000"/>
              </a:srgbClr>
            </a:outerShdw>
          </a:effectLst>
        </p:spPr>
      </p:sp>
      <p:sp>
        <p:nvSpPr>
          <p:cNvPr id="19" name="Text 14"/>
          <p:cNvSpPr txBox="1"/>
          <p:nvPr/>
        </p:nvSpPr>
        <p:spPr>
          <a:xfrm>
            <a:off x="7680960" y="1920240"/>
            <a:ext cx="3749040" cy="274320"/>
          </a:xfrm>
          <a:prstGeom prst="rect">
            <a:avLst/>
          </a:prstGeom>
          <a:noFill/>
          <a:ln/>
        </p:spPr>
        <p:txBody>
          <a:bodyPr wrap="square" lIns="0" tIns="0" rIns="0" bIns="0" rtlCol="0" anchor="t"/>
          <a:lstStyle/>
          <a:p>
            <a:pPr indent="0" marL="0">
              <a:buNone/>
            </a:pPr>
            <a:r>
              <a:rPr lang="en-US" sz="1100" b="1" spc="200" kern="0" dirty="0">
                <a:solidFill>
                  <a:srgbClr val="C9D6EA"/>
                </a:solidFill>
                <a:latin typeface="Arial" pitchFamily="34" charset="0"/>
                <a:ea typeface="Arial" pitchFamily="34" charset="-122"/>
                <a:cs typeface="Arial" pitchFamily="34" charset="-120"/>
              </a:rPr>
              <a:t>EXAMPLE TRIP</a:t>
            </a:r>
            <a:endParaRPr lang="en-US" sz="1100" dirty="0"/>
          </a:p>
        </p:txBody>
      </p:sp>
      <p:sp>
        <p:nvSpPr>
          <p:cNvPr id="20" name="Text 15"/>
          <p:cNvSpPr txBox="1"/>
          <p:nvPr/>
        </p:nvSpPr>
        <p:spPr>
          <a:xfrm>
            <a:off x="7680960" y="2212848"/>
            <a:ext cx="374904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Krishnagiri → Hosur by car</a:t>
            </a:r>
            <a:endParaRPr lang="en-US" sz="1700" dirty="0"/>
          </a:p>
        </p:txBody>
      </p:sp>
      <p:sp>
        <p:nvSpPr>
          <p:cNvPr id="21" name="Text 16"/>
          <p:cNvSpPr txBox="1"/>
          <p:nvPr/>
        </p:nvSpPr>
        <p:spPr>
          <a:xfrm>
            <a:off x="7680960" y="2697480"/>
            <a:ext cx="3657600" cy="868680"/>
          </a:xfrm>
          <a:prstGeom prst="rect">
            <a:avLst/>
          </a:prstGeom>
          <a:noFill/>
          <a:ln/>
        </p:spPr>
        <p:txBody>
          <a:bodyPr wrap="square" lIns="0" tIns="0" rIns="0" bIns="0" rtlCol="0" anchor="t"/>
          <a:lstStyle/>
          <a:p>
            <a:pPr indent="0" marL="0">
              <a:buNone/>
            </a:pPr>
            <a:r>
              <a:rPr lang="en-US" sz="5600" b="1" dirty="0">
                <a:solidFill>
                  <a:srgbClr val="F07A4A"/>
                </a:solidFill>
                <a:latin typeface="Arial" pitchFamily="34" charset="0"/>
                <a:ea typeface="Arial" pitchFamily="34" charset="-122"/>
                <a:cs typeface="Arial" pitchFamily="34" charset="-120"/>
              </a:rPr>
              <a:t>₹95</a:t>
            </a:r>
            <a:endParaRPr lang="en-US" sz="5600" dirty="0"/>
          </a:p>
        </p:txBody>
      </p:sp>
      <p:sp>
        <p:nvSpPr>
          <p:cNvPr id="22" name="Text 17"/>
          <p:cNvSpPr txBox="1"/>
          <p:nvPr/>
        </p:nvSpPr>
        <p:spPr>
          <a:xfrm>
            <a:off x="7680960" y="3566160"/>
            <a:ext cx="3657600" cy="3200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FASTag: the plaza's full fee</a:t>
            </a:r>
            <a:endParaRPr lang="en-US" sz="1500" dirty="0"/>
          </a:p>
        </p:txBody>
      </p:sp>
      <p:sp>
        <p:nvSpPr>
          <p:cNvPr id="23" name="Text 18"/>
          <p:cNvSpPr txBox="1"/>
          <p:nvPr/>
        </p:nvSpPr>
        <p:spPr>
          <a:xfrm>
            <a:off x="7680960" y="4023360"/>
            <a:ext cx="3657600" cy="868680"/>
          </a:xfrm>
          <a:prstGeom prst="rect">
            <a:avLst/>
          </a:prstGeom>
          <a:noFill/>
          <a:ln/>
        </p:spPr>
        <p:txBody>
          <a:bodyPr wrap="square" lIns="0" tIns="0" rIns="0" bIns="0" rtlCol="0" anchor="t"/>
          <a:lstStyle/>
          <a:p>
            <a:pPr indent="0" marL="0">
              <a:buNone/>
            </a:pPr>
            <a:r>
              <a:rPr lang="en-US" sz="5600" b="1" dirty="0">
                <a:solidFill>
                  <a:srgbClr val="5AA0F0"/>
                </a:solidFill>
                <a:latin typeface="Arial" pitchFamily="34" charset="0"/>
                <a:ea typeface="Arial" pitchFamily="34" charset="-122"/>
                <a:cs typeface="Arial" pitchFamily="34" charset="-120"/>
              </a:rPr>
              <a:t>₹22</a:t>
            </a:r>
            <a:endParaRPr lang="en-US" sz="5600" dirty="0"/>
          </a:p>
        </p:txBody>
      </p:sp>
      <p:sp>
        <p:nvSpPr>
          <p:cNvPr id="24" name="Text 19"/>
          <p:cNvSpPr txBox="1"/>
          <p:nvPr/>
        </p:nvSpPr>
        <p:spPr>
          <a:xfrm>
            <a:off x="7680960" y="4892040"/>
            <a:ext cx="3657600" cy="3200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GNSS: 51 km actually driven</a:t>
            </a:r>
            <a:endParaRPr lang="en-US" sz="1500" dirty="0"/>
          </a:p>
        </p:txBody>
      </p:sp>
      <p:sp>
        <p:nvSpPr>
          <p:cNvPr id="25" name="Text 20"/>
          <p:cNvSpPr txBox="1"/>
          <p:nvPr/>
        </p:nvSpPr>
        <p:spPr>
          <a:xfrm>
            <a:off x="7680960" y="5394960"/>
            <a:ext cx="3657600" cy="502920"/>
          </a:xfrm>
          <a:prstGeom prst="rect">
            <a:avLst/>
          </a:prstGeom>
          <a:noFill/>
          <a:ln/>
        </p:spPr>
        <p:txBody>
          <a:bodyPr wrap="square" lIns="0" tIns="0" rIns="0" bIns="0" rtlCol="0" anchor="t"/>
          <a:lstStyle/>
          <a:p>
            <a:pPr indent="0" marL="0">
              <a:buNone/>
            </a:pPr>
            <a:r>
              <a:rPr lang="en-US" sz="1200" dirty="0">
                <a:solidFill>
                  <a:srgbClr val="C9D6EA"/>
                </a:solidFill>
                <a:latin typeface="Calibri" pitchFamily="34" charset="0"/>
                <a:ea typeface="Calibri" pitchFamily="34" charset="-122"/>
                <a:cs typeface="Calibri" pitchFamily="34" charset="-120"/>
              </a:rPr>
              <a:t>Simulated with NHAI's published fees and the 20 km free rule.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GPS Toll-Based System Simulation</a:t>
            </a:r>
            <a:endParaRPr lang="en-US" sz="1000" dirty="0"/>
          </a:p>
        </p:txBody>
      </p:sp>
      <p:sp>
        <p:nvSpPr>
          <p:cNvPr id="3" name="Text 1"/>
          <p:cNvSpPr txBox="1"/>
          <p:nvPr/>
        </p:nvSpPr>
        <p:spPr>
          <a:xfrm>
            <a:off x="10271455" y="6400800"/>
            <a:ext cx="13716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3 / 17</a:t>
            </a:r>
            <a:endParaRPr lang="en-US" sz="1000" dirty="0"/>
          </a:p>
        </p:txBody>
      </p:sp>
      <p:sp>
        <p:nvSpPr>
          <p:cNvPr id="4" name="Text 2"/>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300" kern="0" dirty="0">
                <a:solidFill>
                  <a:srgbClr val="EB6834"/>
                </a:solidFill>
                <a:latin typeface="Arial" pitchFamily="34" charset="0"/>
                <a:ea typeface="Arial" pitchFamily="34" charset="-122"/>
                <a:cs typeface="Arial" pitchFamily="34" charset="-120"/>
              </a:rPr>
              <a:t>PROJECT OBJECTIVES</a:t>
            </a:r>
            <a:endParaRPr lang="en-US" sz="1200" dirty="0"/>
          </a:p>
        </p:txBody>
      </p:sp>
      <p:sp>
        <p:nvSpPr>
          <p:cNvPr id="5" name="Text 3"/>
          <p:cNvSpPr txBox="1"/>
          <p:nvPr/>
        </p:nvSpPr>
        <p:spPr>
          <a:xfrm>
            <a:off x="548640" y="676656"/>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Every requirement in the brief, delivered</a:t>
            </a:r>
            <a:endParaRPr lang="en-US" sz="3000" dirty="0"/>
          </a:p>
        </p:txBody>
      </p:sp>
      <p:sp>
        <p:nvSpPr>
          <p:cNvPr id="6" name="Shape 4"/>
          <p:cNvSpPr/>
          <p:nvPr/>
        </p:nvSpPr>
        <p:spPr>
          <a:xfrm>
            <a:off x="548640" y="1600200"/>
            <a:ext cx="2633472" cy="3429000"/>
          </a:xfrm>
          <a:prstGeom prst="roundRect">
            <a:avLst>
              <a:gd name="adj" fmla="val 2778"/>
            </a:avLst>
          </a:prstGeom>
          <a:solidFill>
            <a:srgbClr val="F1F5F9"/>
          </a:solidFill>
          <a:ln w="12700">
            <a:solidFill>
              <a:srgbClr val="F1F5F9"/>
            </a:solidFill>
            <a:prstDash val="solid"/>
          </a:ln>
        </p:spPr>
      </p:sp>
      <p:sp>
        <p:nvSpPr>
          <p:cNvPr id="7" name="Text 5"/>
          <p:cNvSpPr txBox="1"/>
          <p:nvPr/>
        </p:nvSpPr>
        <p:spPr>
          <a:xfrm>
            <a:off x="822960" y="1810512"/>
            <a:ext cx="1097280" cy="457200"/>
          </a:xfrm>
          <a:prstGeom prst="rect">
            <a:avLst/>
          </a:prstGeom>
          <a:noFill/>
          <a:ln/>
        </p:spPr>
        <p:txBody>
          <a:bodyPr wrap="square" lIns="0" tIns="0" rIns="0" bIns="0" rtlCol="0" anchor="t"/>
          <a:lstStyle/>
          <a:p>
            <a:pPr indent="0" marL="0">
              <a:buNone/>
            </a:pPr>
            <a:r>
              <a:rPr lang="en-US" sz="2800" b="1" dirty="0">
                <a:solidFill>
                  <a:srgbClr val="EB6834"/>
                </a:solidFill>
                <a:latin typeface="Arial" pitchFamily="34" charset="0"/>
                <a:ea typeface="Arial" pitchFamily="34" charset="-122"/>
                <a:cs typeface="Arial" pitchFamily="34" charset="-120"/>
              </a:rPr>
              <a:t>01</a:t>
            </a:r>
            <a:endParaRPr lang="en-US" sz="2800" dirty="0"/>
          </a:p>
        </p:txBody>
      </p:sp>
      <p:sp>
        <p:nvSpPr>
          <p:cNvPr id="8" name="Text 6"/>
          <p:cNvSpPr txBox="1"/>
          <p:nvPr/>
        </p:nvSpPr>
        <p:spPr>
          <a:xfrm>
            <a:off x="822960" y="2377440"/>
            <a:ext cx="2084832" cy="640080"/>
          </a:xfrm>
          <a:prstGeom prst="rect">
            <a:avLst/>
          </a:prstGeom>
          <a:noFill/>
          <a:ln/>
        </p:spPr>
        <p:txBody>
          <a:bodyPr wrap="square" lIns="0" tIns="0" rIns="0" bIns="0" rtlCol="0" anchor="t"/>
          <a:lstStyle/>
          <a:p>
            <a:pPr indent="0" marL="0">
              <a:buNone/>
            </a:pPr>
            <a:r>
              <a:rPr lang="en-US" sz="1700" b="1" dirty="0">
                <a:solidFill>
                  <a:srgbClr val="0F172A"/>
                </a:solidFill>
                <a:latin typeface="Arial" pitchFamily="34" charset="0"/>
                <a:ea typeface="Arial" pitchFamily="34" charset="-122"/>
                <a:cs typeface="Arial" pitchFamily="34" charset="-120"/>
              </a:rPr>
              <a:t>Define toll zones</a:t>
            </a:r>
            <a:endParaRPr lang="en-US" sz="1700" dirty="0"/>
          </a:p>
        </p:txBody>
      </p:sp>
      <p:sp>
        <p:nvSpPr>
          <p:cNvPr id="9" name="Text 7"/>
          <p:cNvSpPr txBox="1"/>
          <p:nvPr/>
        </p:nvSpPr>
        <p:spPr>
          <a:xfrm>
            <a:off x="822960" y="3063240"/>
            <a:ext cx="2084832" cy="128016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Each real plaza's tollable length becomes a toll zone on the 362 km route.</a:t>
            </a:r>
            <a:endParaRPr lang="en-US" sz="1300" dirty="0"/>
          </a:p>
        </p:txBody>
      </p:sp>
      <p:pic>
        <p:nvPicPr>
          <p:cNvPr id="10" name="Image 0" descr="preencoded.png">    </p:cNvPr>
          <p:cNvPicPr>
            <a:picLocks noChangeAspect="1"/>
          </p:cNvPicPr>
          <p:nvPr/>
        </p:nvPicPr>
        <p:blipFill>
          <a:blip r:embed="rId1"/>
          <a:stretch>
            <a:fillRect/>
          </a:stretch>
        </p:blipFill>
        <p:spPr>
          <a:xfrm>
            <a:off x="822960" y="4526280"/>
            <a:ext cx="237744" cy="237744"/>
          </a:xfrm>
          <a:prstGeom prst="rect">
            <a:avLst/>
          </a:prstGeom>
        </p:spPr>
      </p:pic>
      <p:sp>
        <p:nvSpPr>
          <p:cNvPr id="11" name="Text 8"/>
          <p:cNvSpPr txBox="1"/>
          <p:nvPr/>
        </p:nvSpPr>
        <p:spPr>
          <a:xfrm>
            <a:off x="1152144" y="4507992"/>
            <a:ext cx="1371600" cy="274320"/>
          </a:xfrm>
          <a:prstGeom prst="rect">
            <a:avLst/>
          </a:prstGeom>
          <a:noFill/>
          <a:ln/>
        </p:spPr>
        <p:txBody>
          <a:bodyPr wrap="square" lIns="0" tIns="0" rIns="0" bIns="0" rtlCol="0" anchor="ctr"/>
          <a:lstStyle/>
          <a:p>
            <a:pPr indent="0" marL="0">
              <a:buNone/>
            </a:pPr>
            <a:r>
              <a:rPr lang="en-US" sz="1300" b="1" dirty="0">
                <a:solidFill>
                  <a:srgbClr val="2A78D6"/>
                </a:solidFill>
                <a:latin typeface="Calibri" pitchFamily="34" charset="0"/>
                <a:ea typeface="Calibri" pitchFamily="34" charset="-122"/>
                <a:cs typeface="Calibri" pitchFamily="34" charset="-120"/>
              </a:rPr>
              <a:t>Delivered</a:t>
            </a:r>
            <a:endParaRPr lang="en-US" sz="1300" dirty="0"/>
          </a:p>
        </p:txBody>
      </p:sp>
      <p:sp>
        <p:nvSpPr>
          <p:cNvPr id="12" name="Shape 9"/>
          <p:cNvSpPr/>
          <p:nvPr/>
        </p:nvSpPr>
        <p:spPr>
          <a:xfrm>
            <a:off x="3364992" y="1600200"/>
            <a:ext cx="2633472" cy="3429000"/>
          </a:xfrm>
          <a:prstGeom prst="roundRect">
            <a:avLst>
              <a:gd name="adj" fmla="val 2778"/>
            </a:avLst>
          </a:prstGeom>
          <a:solidFill>
            <a:srgbClr val="F1F5F9"/>
          </a:solidFill>
          <a:ln w="12700">
            <a:solidFill>
              <a:srgbClr val="F1F5F9"/>
            </a:solidFill>
            <a:prstDash val="solid"/>
          </a:ln>
        </p:spPr>
      </p:sp>
      <p:sp>
        <p:nvSpPr>
          <p:cNvPr id="13" name="Text 10"/>
          <p:cNvSpPr txBox="1"/>
          <p:nvPr/>
        </p:nvSpPr>
        <p:spPr>
          <a:xfrm>
            <a:off x="3639312" y="1810512"/>
            <a:ext cx="1097280" cy="457200"/>
          </a:xfrm>
          <a:prstGeom prst="rect">
            <a:avLst/>
          </a:prstGeom>
          <a:noFill/>
          <a:ln/>
        </p:spPr>
        <p:txBody>
          <a:bodyPr wrap="square" lIns="0" tIns="0" rIns="0" bIns="0" rtlCol="0" anchor="t"/>
          <a:lstStyle/>
          <a:p>
            <a:pPr indent="0" marL="0">
              <a:buNone/>
            </a:pPr>
            <a:r>
              <a:rPr lang="en-US" sz="2800" b="1" dirty="0">
                <a:solidFill>
                  <a:srgbClr val="EB6834"/>
                </a:solidFill>
                <a:latin typeface="Arial" pitchFamily="34" charset="0"/>
                <a:ea typeface="Arial" pitchFamily="34" charset="-122"/>
                <a:cs typeface="Arial" pitchFamily="34" charset="-120"/>
              </a:rPr>
              <a:t>02</a:t>
            </a:r>
            <a:endParaRPr lang="en-US" sz="2800" dirty="0"/>
          </a:p>
        </p:txBody>
      </p:sp>
      <p:sp>
        <p:nvSpPr>
          <p:cNvPr id="14" name="Text 11"/>
          <p:cNvSpPr txBox="1"/>
          <p:nvPr/>
        </p:nvSpPr>
        <p:spPr>
          <a:xfrm>
            <a:off x="3639312" y="2377440"/>
            <a:ext cx="2084832" cy="640080"/>
          </a:xfrm>
          <a:prstGeom prst="rect">
            <a:avLst/>
          </a:prstGeom>
          <a:noFill/>
          <a:ln/>
        </p:spPr>
        <p:txBody>
          <a:bodyPr wrap="square" lIns="0" tIns="0" rIns="0" bIns="0" rtlCol="0" anchor="t"/>
          <a:lstStyle/>
          <a:p>
            <a:pPr indent="0" marL="0">
              <a:buNone/>
            </a:pPr>
            <a:r>
              <a:rPr lang="en-US" sz="1700" b="1" dirty="0">
                <a:solidFill>
                  <a:srgbClr val="0F172A"/>
                </a:solidFill>
                <a:latin typeface="Arial" pitchFamily="34" charset="0"/>
                <a:ea typeface="Arial" pitchFamily="34" charset="-122"/>
                <a:cs typeface="Arial" pitchFamily="34" charset="-120"/>
              </a:rPr>
              <a:t>Register entry and exit</a:t>
            </a:r>
            <a:endParaRPr lang="en-US" sz="1700" dirty="0"/>
          </a:p>
        </p:txBody>
      </p:sp>
      <p:sp>
        <p:nvSpPr>
          <p:cNvPr id="15" name="Text 12"/>
          <p:cNvSpPr txBox="1"/>
          <p:nvPr/>
        </p:nvSpPr>
        <p:spPr>
          <a:xfrm>
            <a:off x="3639312" y="3063240"/>
            <a:ext cx="2084832" cy="128016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GPS fixes are snapped to the road; zone entry and exit are logged with time and km.</a:t>
            </a:r>
            <a:endParaRPr lang="en-US" sz="1300" dirty="0"/>
          </a:p>
        </p:txBody>
      </p:sp>
      <p:pic>
        <p:nvPicPr>
          <p:cNvPr id="16" name="Image 1" descr="preencoded.png">    </p:cNvPr>
          <p:cNvPicPr>
            <a:picLocks noChangeAspect="1"/>
          </p:cNvPicPr>
          <p:nvPr/>
        </p:nvPicPr>
        <p:blipFill>
          <a:blip r:embed="rId2"/>
          <a:stretch>
            <a:fillRect/>
          </a:stretch>
        </p:blipFill>
        <p:spPr>
          <a:xfrm>
            <a:off x="3639312" y="4526280"/>
            <a:ext cx="237744" cy="237744"/>
          </a:xfrm>
          <a:prstGeom prst="rect">
            <a:avLst/>
          </a:prstGeom>
        </p:spPr>
      </p:pic>
      <p:sp>
        <p:nvSpPr>
          <p:cNvPr id="17" name="Text 13"/>
          <p:cNvSpPr txBox="1"/>
          <p:nvPr/>
        </p:nvSpPr>
        <p:spPr>
          <a:xfrm>
            <a:off x="3968496" y="4507992"/>
            <a:ext cx="1371600" cy="274320"/>
          </a:xfrm>
          <a:prstGeom prst="rect">
            <a:avLst/>
          </a:prstGeom>
          <a:noFill/>
          <a:ln/>
        </p:spPr>
        <p:txBody>
          <a:bodyPr wrap="square" lIns="0" tIns="0" rIns="0" bIns="0" rtlCol="0" anchor="ctr"/>
          <a:lstStyle/>
          <a:p>
            <a:pPr indent="0" marL="0">
              <a:buNone/>
            </a:pPr>
            <a:r>
              <a:rPr lang="en-US" sz="1300" b="1" dirty="0">
                <a:solidFill>
                  <a:srgbClr val="2A78D6"/>
                </a:solidFill>
                <a:latin typeface="Calibri" pitchFamily="34" charset="0"/>
                <a:ea typeface="Calibri" pitchFamily="34" charset="-122"/>
                <a:cs typeface="Calibri" pitchFamily="34" charset="-120"/>
              </a:rPr>
              <a:t>Delivered</a:t>
            </a:r>
            <a:endParaRPr lang="en-US" sz="1300" dirty="0"/>
          </a:p>
        </p:txBody>
      </p:sp>
      <p:sp>
        <p:nvSpPr>
          <p:cNvPr id="18" name="Shape 14"/>
          <p:cNvSpPr/>
          <p:nvPr/>
        </p:nvSpPr>
        <p:spPr>
          <a:xfrm>
            <a:off x="6181344" y="1600200"/>
            <a:ext cx="2633472" cy="3429000"/>
          </a:xfrm>
          <a:prstGeom prst="roundRect">
            <a:avLst>
              <a:gd name="adj" fmla="val 2778"/>
            </a:avLst>
          </a:prstGeom>
          <a:solidFill>
            <a:srgbClr val="F1F5F9"/>
          </a:solidFill>
          <a:ln w="12700">
            <a:solidFill>
              <a:srgbClr val="F1F5F9"/>
            </a:solidFill>
            <a:prstDash val="solid"/>
          </a:ln>
        </p:spPr>
      </p:sp>
      <p:sp>
        <p:nvSpPr>
          <p:cNvPr id="19" name="Text 15"/>
          <p:cNvSpPr txBox="1"/>
          <p:nvPr/>
        </p:nvSpPr>
        <p:spPr>
          <a:xfrm>
            <a:off x="6455664" y="1810512"/>
            <a:ext cx="1097280" cy="457200"/>
          </a:xfrm>
          <a:prstGeom prst="rect">
            <a:avLst/>
          </a:prstGeom>
          <a:noFill/>
          <a:ln/>
        </p:spPr>
        <p:txBody>
          <a:bodyPr wrap="square" lIns="0" tIns="0" rIns="0" bIns="0" rtlCol="0" anchor="t"/>
          <a:lstStyle/>
          <a:p>
            <a:pPr indent="0" marL="0">
              <a:buNone/>
            </a:pPr>
            <a:r>
              <a:rPr lang="en-US" sz="2800" b="1" dirty="0">
                <a:solidFill>
                  <a:srgbClr val="EB6834"/>
                </a:solidFill>
                <a:latin typeface="Arial" pitchFamily="34" charset="0"/>
                <a:ea typeface="Arial" pitchFamily="34" charset="-122"/>
                <a:cs typeface="Arial" pitchFamily="34" charset="-120"/>
              </a:rPr>
              <a:t>03</a:t>
            </a:r>
            <a:endParaRPr lang="en-US" sz="2800" dirty="0"/>
          </a:p>
        </p:txBody>
      </p:sp>
      <p:sp>
        <p:nvSpPr>
          <p:cNvPr id="20" name="Text 16"/>
          <p:cNvSpPr txBox="1"/>
          <p:nvPr/>
        </p:nvSpPr>
        <p:spPr>
          <a:xfrm>
            <a:off x="6455664" y="2377440"/>
            <a:ext cx="2084832" cy="640080"/>
          </a:xfrm>
          <a:prstGeom prst="rect">
            <a:avLst/>
          </a:prstGeom>
          <a:noFill/>
          <a:ln/>
        </p:spPr>
        <p:txBody>
          <a:bodyPr wrap="square" lIns="0" tIns="0" rIns="0" bIns="0" rtlCol="0" anchor="t"/>
          <a:lstStyle/>
          <a:p>
            <a:pPr indent="0" marL="0">
              <a:buNone/>
            </a:pPr>
            <a:r>
              <a:rPr lang="en-US" sz="1700" b="1" dirty="0">
                <a:solidFill>
                  <a:srgbClr val="0F172A"/>
                </a:solidFill>
                <a:latin typeface="Arial" pitchFamily="34" charset="0"/>
                <a:ea typeface="Arial" pitchFamily="34" charset="-122"/>
                <a:cs typeface="Arial" pitchFamily="34" charset="-120"/>
              </a:rPr>
              <a:t>Calculate distance and toll</a:t>
            </a:r>
            <a:endParaRPr lang="en-US" sz="1700" dirty="0"/>
          </a:p>
        </p:txBody>
      </p:sp>
      <p:sp>
        <p:nvSpPr>
          <p:cNvPr id="21" name="Text 17"/>
          <p:cNvSpPr txBox="1"/>
          <p:nvPr/>
        </p:nvSpPr>
        <p:spPr>
          <a:xfrm>
            <a:off x="6455664" y="3063240"/>
            <a:ext cx="2084832" cy="128016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Km in each zone × that plaza's rate, with the 20 km free rule and a FASTag comparison.</a:t>
            </a:r>
            <a:endParaRPr lang="en-US" sz="1300" dirty="0"/>
          </a:p>
        </p:txBody>
      </p:sp>
      <p:pic>
        <p:nvPicPr>
          <p:cNvPr id="22" name="Image 2" descr="preencoded.png">    </p:cNvPr>
          <p:cNvPicPr>
            <a:picLocks noChangeAspect="1"/>
          </p:cNvPicPr>
          <p:nvPr/>
        </p:nvPicPr>
        <p:blipFill>
          <a:blip r:embed="rId3"/>
          <a:stretch>
            <a:fillRect/>
          </a:stretch>
        </p:blipFill>
        <p:spPr>
          <a:xfrm>
            <a:off x="6455664" y="4526280"/>
            <a:ext cx="237744" cy="237744"/>
          </a:xfrm>
          <a:prstGeom prst="rect">
            <a:avLst/>
          </a:prstGeom>
        </p:spPr>
      </p:pic>
      <p:sp>
        <p:nvSpPr>
          <p:cNvPr id="23" name="Text 18"/>
          <p:cNvSpPr txBox="1"/>
          <p:nvPr/>
        </p:nvSpPr>
        <p:spPr>
          <a:xfrm>
            <a:off x="6784848" y="4507992"/>
            <a:ext cx="1371600" cy="274320"/>
          </a:xfrm>
          <a:prstGeom prst="rect">
            <a:avLst/>
          </a:prstGeom>
          <a:noFill/>
          <a:ln/>
        </p:spPr>
        <p:txBody>
          <a:bodyPr wrap="square" lIns="0" tIns="0" rIns="0" bIns="0" rtlCol="0" anchor="ctr"/>
          <a:lstStyle/>
          <a:p>
            <a:pPr indent="0" marL="0">
              <a:buNone/>
            </a:pPr>
            <a:r>
              <a:rPr lang="en-US" sz="1300" b="1" dirty="0">
                <a:solidFill>
                  <a:srgbClr val="2A78D6"/>
                </a:solidFill>
                <a:latin typeface="Calibri" pitchFamily="34" charset="0"/>
                <a:ea typeface="Calibri" pitchFamily="34" charset="-122"/>
                <a:cs typeface="Calibri" pitchFamily="34" charset="-120"/>
              </a:rPr>
              <a:t>Delivered</a:t>
            </a:r>
            <a:endParaRPr lang="en-US" sz="1300" dirty="0"/>
          </a:p>
        </p:txBody>
      </p:sp>
      <p:sp>
        <p:nvSpPr>
          <p:cNvPr id="24" name="Shape 19"/>
          <p:cNvSpPr/>
          <p:nvPr/>
        </p:nvSpPr>
        <p:spPr>
          <a:xfrm>
            <a:off x="8997696" y="1600200"/>
            <a:ext cx="2633472" cy="3429000"/>
          </a:xfrm>
          <a:prstGeom prst="roundRect">
            <a:avLst>
              <a:gd name="adj" fmla="val 2778"/>
            </a:avLst>
          </a:prstGeom>
          <a:solidFill>
            <a:srgbClr val="F1F5F9"/>
          </a:solidFill>
          <a:ln w="12700">
            <a:solidFill>
              <a:srgbClr val="F1F5F9"/>
            </a:solidFill>
            <a:prstDash val="solid"/>
          </a:ln>
        </p:spPr>
      </p:sp>
      <p:sp>
        <p:nvSpPr>
          <p:cNvPr id="25" name="Text 20"/>
          <p:cNvSpPr txBox="1"/>
          <p:nvPr/>
        </p:nvSpPr>
        <p:spPr>
          <a:xfrm>
            <a:off x="9272016" y="1810512"/>
            <a:ext cx="1097280" cy="457200"/>
          </a:xfrm>
          <a:prstGeom prst="rect">
            <a:avLst/>
          </a:prstGeom>
          <a:noFill/>
          <a:ln/>
        </p:spPr>
        <p:txBody>
          <a:bodyPr wrap="square" lIns="0" tIns="0" rIns="0" bIns="0" rtlCol="0" anchor="t"/>
          <a:lstStyle/>
          <a:p>
            <a:pPr indent="0" marL="0">
              <a:buNone/>
            </a:pPr>
            <a:r>
              <a:rPr lang="en-US" sz="2800" b="1" dirty="0">
                <a:solidFill>
                  <a:srgbClr val="EB6834"/>
                </a:solidFill>
                <a:latin typeface="Arial" pitchFamily="34" charset="0"/>
                <a:ea typeface="Arial" pitchFamily="34" charset="-122"/>
                <a:cs typeface="Arial" pitchFamily="34" charset="-120"/>
              </a:rPr>
              <a:t>04</a:t>
            </a:r>
            <a:endParaRPr lang="en-US" sz="2800" dirty="0"/>
          </a:p>
        </p:txBody>
      </p:sp>
      <p:sp>
        <p:nvSpPr>
          <p:cNvPr id="26" name="Text 21"/>
          <p:cNvSpPr txBox="1"/>
          <p:nvPr/>
        </p:nvSpPr>
        <p:spPr>
          <a:xfrm>
            <a:off x="9272016" y="2377440"/>
            <a:ext cx="2084832" cy="640080"/>
          </a:xfrm>
          <a:prstGeom prst="rect">
            <a:avLst/>
          </a:prstGeom>
          <a:noFill/>
          <a:ln/>
        </p:spPr>
        <p:txBody>
          <a:bodyPr wrap="square" lIns="0" tIns="0" rIns="0" bIns="0" rtlCol="0" anchor="t"/>
          <a:lstStyle/>
          <a:p>
            <a:pPr indent="0" marL="0">
              <a:buNone/>
            </a:pPr>
            <a:r>
              <a:rPr lang="en-US" sz="1700" b="1" dirty="0">
                <a:solidFill>
                  <a:srgbClr val="0F172A"/>
                </a:solidFill>
                <a:latin typeface="Arial" pitchFamily="34" charset="0"/>
                <a:ea typeface="Arial" pitchFamily="34" charset="-122"/>
                <a:cs typeface="Arial" pitchFamily="34" charset="-120"/>
              </a:rPr>
              <a:t>Display the path</a:t>
            </a:r>
            <a:endParaRPr lang="en-US" sz="1700" dirty="0"/>
          </a:p>
        </p:txBody>
      </p:sp>
      <p:sp>
        <p:nvSpPr>
          <p:cNvPr id="27" name="Text 22"/>
          <p:cNvSpPr txBox="1"/>
          <p:nvPr/>
        </p:nvSpPr>
        <p:spPr>
          <a:xfrm>
            <a:off x="9272016" y="3063240"/>
            <a:ext cx="2084832" cy="128016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Route and traffic charts, toll by plaza, and an interactive map of every GPS track.</a:t>
            </a:r>
            <a:endParaRPr lang="en-US" sz="1300" dirty="0"/>
          </a:p>
        </p:txBody>
      </p:sp>
      <p:pic>
        <p:nvPicPr>
          <p:cNvPr id="28" name="Image 3" descr="preencoded.png">    </p:cNvPr>
          <p:cNvPicPr>
            <a:picLocks noChangeAspect="1"/>
          </p:cNvPicPr>
          <p:nvPr/>
        </p:nvPicPr>
        <p:blipFill>
          <a:blip r:embed="rId4"/>
          <a:stretch>
            <a:fillRect/>
          </a:stretch>
        </p:blipFill>
        <p:spPr>
          <a:xfrm>
            <a:off x="9272016" y="4526280"/>
            <a:ext cx="237744" cy="237744"/>
          </a:xfrm>
          <a:prstGeom prst="rect">
            <a:avLst/>
          </a:prstGeom>
        </p:spPr>
      </p:pic>
      <p:sp>
        <p:nvSpPr>
          <p:cNvPr id="29" name="Text 23"/>
          <p:cNvSpPr txBox="1"/>
          <p:nvPr/>
        </p:nvSpPr>
        <p:spPr>
          <a:xfrm>
            <a:off x="9601200" y="4507992"/>
            <a:ext cx="1371600" cy="274320"/>
          </a:xfrm>
          <a:prstGeom prst="rect">
            <a:avLst/>
          </a:prstGeom>
          <a:noFill/>
          <a:ln/>
        </p:spPr>
        <p:txBody>
          <a:bodyPr wrap="square" lIns="0" tIns="0" rIns="0" bIns="0" rtlCol="0" anchor="ctr"/>
          <a:lstStyle/>
          <a:p>
            <a:pPr indent="0" marL="0">
              <a:buNone/>
            </a:pPr>
            <a:r>
              <a:rPr lang="en-US" sz="1300" b="1" dirty="0">
                <a:solidFill>
                  <a:srgbClr val="2A78D6"/>
                </a:solidFill>
                <a:latin typeface="Calibri" pitchFamily="34" charset="0"/>
                <a:ea typeface="Calibri" pitchFamily="34" charset="-122"/>
                <a:cs typeface="Calibri" pitchFamily="34" charset="-120"/>
              </a:rPr>
              <a:t>Delivered</a:t>
            </a:r>
            <a:endParaRPr lang="en-US" sz="1300" dirty="0"/>
          </a:p>
        </p:txBody>
      </p:sp>
      <p:sp>
        <p:nvSpPr>
          <p:cNvPr id="30" name="Text 24"/>
          <p:cNvSpPr txBox="1"/>
          <p:nvPr/>
        </p:nvSpPr>
        <p:spPr>
          <a:xfrm>
            <a:off x="548640" y="5303520"/>
            <a:ext cx="2743200" cy="274320"/>
          </a:xfrm>
          <a:prstGeom prst="rect">
            <a:avLst/>
          </a:prstGeom>
          <a:noFill/>
          <a:ln/>
        </p:spPr>
        <p:txBody>
          <a:bodyPr wrap="square" lIns="0" tIns="0" rIns="0" bIns="0" rtlCol="0" anchor="t"/>
          <a:lstStyle/>
          <a:p>
            <a:pPr indent="0" marL="0">
              <a:buNone/>
            </a:pPr>
            <a:r>
              <a:rPr lang="en-US" sz="1100" b="1" spc="200" kern="0" dirty="0">
                <a:solidFill>
                  <a:srgbClr val="64748B"/>
                </a:solidFill>
                <a:latin typeface="Arial" pitchFamily="34" charset="0"/>
                <a:ea typeface="Arial" pitchFamily="34" charset="-122"/>
                <a:cs typeface="Arial" pitchFamily="34" charset="-120"/>
              </a:rPr>
              <a:t>BEYOND THE BRIEF</a:t>
            </a:r>
            <a:endParaRPr lang="en-US" sz="1100" dirty="0"/>
          </a:p>
        </p:txBody>
      </p:sp>
      <p:sp>
        <p:nvSpPr>
          <p:cNvPr id="31" name="Shape 25"/>
          <p:cNvSpPr/>
          <p:nvPr/>
        </p:nvSpPr>
        <p:spPr>
          <a:xfrm>
            <a:off x="548640" y="5650992"/>
            <a:ext cx="1874520" cy="402336"/>
          </a:xfrm>
          <a:prstGeom prst="roundRect">
            <a:avLst>
              <a:gd name="adj" fmla="val 50000"/>
            </a:avLst>
          </a:prstGeom>
          <a:solidFill>
            <a:srgbClr val="E3EEFB"/>
          </a:solidFill>
          <a:ln w="12700">
            <a:solidFill>
              <a:srgbClr val="E3EEFB"/>
            </a:solidFill>
            <a:prstDash val="solid"/>
          </a:ln>
        </p:spPr>
      </p:sp>
      <p:sp>
        <p:nvSpPr>
          <p:cNvPr id="32" name="Text 26"/>
          <p:cNvSpPr txBox="1"/>
          <p:nvPr/>
        </p:nvSpPr>
        <p:spPr>
          <a:xfrm>
            <a:off x="548640" y="5650992"/>
            <a:ext cx="1874520" cy="402336"/>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Multi-vehicle traffic</a:t>
            </a:r>
            <a:endParaRPr lang="en-US" sz="1300" dirty="0"/>
          </a:p>
        </p:txBody>
      </p:sp>
      <p:sp>
        <p:nvSpPr>
          <p:cNvPr id="33" name="Shape 27"/>
          <p:cNvSpPr/>
          <p:nvPr/>
        </p:nvSpPr>
        <p:spPr>
          <a:xfrm>
            <a:off x="2560320" y="5650992"/>
            <a:ext cx="2514600" cy="402336"/>
          </a:xfrm>
          <a:prstGeom prst="roundRect">
            <a:avLst>
              <a:gd name="adj" fmla="val 50000"/>
            </a:avLst>
          </a:prstGeom>
          <a:solidFill>
            <a:srgbClr val="E3EEFB"/>
          </a:solidFill>
          <a:ln w="12700">
            <a:solidFill>
              <a:srgbClr val="E3EEFB"/>
            </a:solidFill>
            <a:prstDash val="solid"/>
          </a:ln>
        </p:spPr>
      </p:sp>
      <p:sp>
        <p:nvSpPr>
          <p:cNvPr id="34" name="Text 28"/>
          <p:cNvSpPr txBox="1"/>
          <p:nvPr/>
        </p:nvSpPr>
        <p:spPr>
          <a:xfrm>
            <a:off x="2560320" y="5650992"/>
            <a:ext cx="2514600" cy="402336"/>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GPS noise and varying speed</a:t>
            </a:r>
            <a:endParaRPr lang="en-US" sz="1300" dirty="0"/>
          </a:p>
        </p:txBody>
      </p:sp>
      <p:sp>
        <p:nvSpPr>
          <p:cNvPr id="35" name="Shape 29"/>
          <p:cNvSpPr/>
          <p:nvPr/>
        </p:nvSpPr>
        <p:spPr>
          <a:xfrm>
            <a:off x="5212080" y="5650992"/>
            <a:ext cx="1828800" cy="402336"/>
          </a:xfrm>
          <a:prstGeom prst="roundRect">
            <a:avLst>
              <a:gd name="adj" fmla="val 50000"/>
            </a:avLst>
          </a:prstGeom>
          <a:solidFill>
            <a:srgbClr val="E3EEFB"/>
          </a:solidFill>
          <a:ln w="12700">
            <a:solidFill>
              <a:srgbClr val="E3EEFB"/>
            </a:solidFill>
            <a:prstDash val="solid"/>
          </a:ln>
        </p:spPr>
      </p:sp>
      <p:sp>
        <p:nvSpPr>
          <p:cNvPr id="36" name="Text 30"/>
          <p:cNvSpPr txBox="1"/>
          <p:nvPr/>
        </p:nvSpPr>
        <p:spPr>
          <a:xfrm>
            <a:off x="5212080" y="5650992"/>
            <a:ext cx="1828800" cy="402336"/>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Real NHAI toll fees</a:t>
            </a:r>
            <a:endParaRPr lang="en-US" sz="1300" dirty="0"/>
          </a:p>
        </p:txBody>
      </p:sp>
      <p:sp>
        <p:nvSpPr>
          <p:cNvPr id="37" name="Shape 31"/>
          <p:cNvSpPr/>
          <p:nvPr/>
        </p:nvSpPr>
        <p:spPr>
          <a:xfrm>
            <a:off x="7178040" y="5650992"/>
            <a:ext cx="1783080" cy="402336"/>
          </a:xfrm>
          <a:prstGeom prst="roundRect">
            <a:avLst>
              <a:gd name="adj" fmla="val 50000"/>
            </a:avLst>
          </a:prstGeom>
          <a:solidFill>
            <a:srgbClr val="E3EEFB"/>
          </a:solidFill>
          <a:ln w="12700">
            <a:solidFill>
              <a:srgbClr val="E3EEFB"/>
            </a:solidFill>
            <a:prstDash val="solid"/>
          </a:ln>
        </p:spPr>
      </p:sp>
      <p:sp>
        <p:nvSpPr>
          <p:cNvPr id="38" name="Text 32"/>
          <p:cNvSpPr txBox="1"/>
          <p:nvPr/>
        </p:nvSpPr>
        <p:spPr>
          <a:xfrm>
            <a:off x="7178040" y="5650992"/>
            <a:ext cx="1783080" cy="402336"/>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SQLite trip history</a:t>
            </a:r>
            <a:endParaRPr lang="en-US" sz="1300" dirty="0"/>
          </a:p>
        </p:txBody>
      </p:sp>
      <p:sp>
        <p:nvSpPr>
          <p:cNvPr id="39" name="Shape 33"/>
          <p:cNvSpPr/>
          <p:nvPr/>
        </p:nvSpPr>
        <p:spPr>
          <a:xfrm>
            <a:off x="9098280" y="5650992"/>
            <a:ext cx="1783080" cy="402336"/>
          </a:xfrm>
          <a:prstGeom prst="roundRect">
            <a:avLst>
              <a:gd name="adj" fmla="val 50000"/>
            </a:avLst>
          </a:prstGeom>
          <a:solidFill>
            <a:srgbClr val="E3EEFB"/>
          </a:solidFill>
          <a:ln w="12700">
            <a:solidFill>
              <a:srgbClr val="E3EEFB"/>
            </a:solidFill>
            <a:prstDash val="solid"/>
          </a:ln>
        </p:spPr>
      </p:sp>
      <p:sp>
        <p:nvSpPr>
          <p:cNvPr id="40" name="Text 34"/>
          <p:cNvSpPr txBox="1"/>
          <p:nvPr/>
        </p:nvSpPr>
        <p:spPr>
          <a:xfrm>
            <a:off x="9098280" y="5650992"/>
            <a:ext cx="1783080" cy="402336"/>
          </a:xfrm>
          <a:prstGeom prst="rect">
            <a:avLst/>
          </a:prstGeom>
          <a:noFill/>
          <a:ln/>
        </p:spPr>
        <p:txBody>
          <a:bodyPr wrap="square" lIns="0" tIns="0" rIns="0" bIns="0" rtlCol="0" anchor="ctr"/>
          <a:lstStyle/>
          <a:p>
            <a:pPr algn="ctr" indent="0" marL="0">
              <a:buNone/>
            </a:pPr>
            <a:r>
              <a:rPr lang="en-US" sz="1300" dirty="0">
                <a:solidFill>
                  <a:srgbClr val="0F172A"/>
                </a:solidFill>
                <a:latin typeface="Calibri" pitchFamily="34" charset="0"/>
                <a:ea typeface="Calibri" pitchFamily="34" charset="-122"/>
                <a:cs typeface="Calibri" pitchFamily="34" charset="-120"/>
              </a:rPr>
              <a:t>66 automated tests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B33"/>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t"/>
          <a:lstStyle/>
          <a:p>
            <a:pPr indent="0" marL="0">
              <a:buNone/>
            </a:pPr>
            <a:r>
              <a:rPr lang="en-US" sz="1000" dirty="0">
                <a:solidFill>
                  <a:srgbClr val="8FA3C2"/>
                </a:solidFill>
                <a:latin typeface="Calibri" pitchFamily="34" charset="0"/>
                <a:ea typeface="Calibri" pitchFamily="34" charset="-122"/>
                <a:cs typeface="Calibri" pitchFamily="34" charset="-120"/>
              </a:rPr>
              <a:t>GPS Toll-Based System Simulation</a:t>
            </a:r>
            <a:endParaRPr lang="en-US" sz="1000" dirty="0"/>
          </a:p>
        </p:txBody>
      </p:sp>
      <p:sp>
        <p:nvSpPr>
          <p:cNvPr id="3" name="Text 1"/>
          <p:cNvSpPr txBox="1"/>
          <p:nvPr/>
        </p:nvSpPr>
        <p:spPr>
          <a:xfrm>
            <a:off x="10271455" y="6400800"/>
            <a:ext cx="1371600" cy="274320"/>
          </a:xfrm>
          <a:prstGeom prst="rect">
            <a:avLst/>
          </a:prstGeom>
          <a:noFill/>
          <a:ln/>
        </p:spPr>
        <p:txBody>
          <a:bodyPr wrap="square" lIns="0" tIns="0" rIns="0" bIns="0" rtlCol="0" anchor="t"/>
          <a:lstStyle/>
          <a:p>
            <a:pPr algn="r" indent="0" marL="0">
              <a:buNone/>
            </a:pPr>
            <a:r>
              <a:rPr lang="en-US" sz="1000" dirty="0">
                <a:solidFill>
                  <a:srgbClr val="8FA3C2"/>
                </a:solidFill>
                <a:latin typeface="Calibri" pitchFamily="34" charset="0"/>
                <a:ea typeface="Calibri" pitchFamily="34" charset="-122"/>
                <a:cs typeface="Calibri" pitchFamily="34" charset="-120"/>
              </a:rPr>
              <a:t>4 / 17</a:t>
            </a:r>
            <a:endParaRPr lang="en-US" sz="1000" dirty="0"/>
          </a:p>
        </p:txBody>
      </p:sp>
      <p:sp>
        <p:nvSpPr>
          <p:cNvPr id="4" name="Text 2"/>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300" kern="0" dirty="0">
                <a:solidFill>
                  <a:srgbClr val="EB6834"/>
                </a:solidFill>
                <a:latin typeface="Arial" pitchFamily="34" charset="0"/>
                <a:ea typeface="Arial" pitchFamily="34" charset="-122"/>
                <a:cs typeface="Arial" pitchFamily="34" charset="-120"/>
              </a:rPr>
              <a:t>OUR SOLUTION</a:t>
            </a:r>
            <a:endParaRPr lang="en-US" sz="1200" dirty="0"/>
          </a:p>
        </p:txBody>
      </p:sp>
      <p:sp>
        <p:nvSpPr>
          <p:cNvPr id="5" name="Text 3"/>
          <p:cNvSpPr txBox="1"/>
          <p:nvPr/>
        </p:nvSpPr>
        <p:spPr>
          <a:xfrm>
            <a:off x="548640" y="676656"/>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Satellite-based tolling, simulated end to end</a:t>
            </a:r>
            <a:endParaRPr lang="en-US" sz="3000" dirty="0"/>
          </a:p>
        </p:txBody>
      </p:sp>
      <p:sp>
        <p:nvSpPr>
          <p:cNvPr id="6" name="Text 4"/>
          <p:cNvSpPr txBox="1"/>
          <p:nvPr/>
        </p:nvSpPr>
        <p:spPr>
          <a:xfrm>
            <a:off x="548640" y="1417320"/>
            <a:ext cx="11094415" cy="365760"/>
          </a:xfrm>
          <a:prstGeom prst="rect">
            <a:avLst/>
          </a:prstGeom>
          <a:noFill/>
          <a:ln/>
        </p:spPr>
        <p:txBody>
          <a:bodyPr wrap="square" lIns="0" tIns="0" rIns="0" bIns="0" rtlCol="0" anchor="t"/>
          <a:lstStyle/>
          <a:p>
            <a:pPr indent="0" marL="0">
              <a:buNone/>
            </a:pPr>
            <a:r>
              <a:rPr lang="en-US" sz="1700" dirty="0">
                <a:solidFill>
                  <a:srgbClr val="C9D6EA"/>
                </a:solidFill>
                <a:latin typeface="Calibri" pitchFamily="34" charset="0"/>
                <a:ea typeface="Calibri" pitchFamily="34" charset="-122"/>
                <a:cs typeface="Calibri" pitchFamily="34" charset="-120"/>
              </a:rPr>
              <a:t>Instead of charging at plazas, the vehicle's GPS track decides the toll.</a:t>
            </a:r>
            <a:endParaRPr lang="en-US" sz="1700" dirty="0"/>
          </a:p>
        </p:txBody>
      </p:sp>
      <p:sp>
        <p:nvSpPr>
          <p:cNvPr id="7" name="Shape 5"/>
          <p:cNvSpPr/>
          <p:nvPr/>
        </p:nvSpPr>
        <p:spPr>
          <a:xfrm>
            <a:off x="548640" y="2103120"/>
            <a:ext cx="2633472" cy="3246120"/>
          </a:xfrm>
          <a:prstGeom prst="roundRect">
            <a:avLst>
              <a:gd name="adj" fmla="val 2778"/>
            </a:avLst>
          </a:prstGeom>
          <a:solidFill>
            <a:srgbClr val="142A4D"/>
          </a:solidFill>
          <a:ln w="12700">
            <a:solidFill>
              <a:srgbClr val="142A4D"/>
            </a:solidFill>
            <a:prstDash val="solid"/>
          </a:ln>
        </p:spPr>
      </p:sp>
      <p:sp>
        <p:nvSpPr>
          <p:cNvPr id="8" name="Shape 6"/>
          <p:cNvSpPr/>
          <p:nvPr/>
        </p:nvSpPr>
        <p:spPr>
          <a:xfrm>
            <a:off x="822960" y="2377440"/>
            <a:ext cx="777240" cy="777240"/>
          </a:xfrm>
          <a:prstGeom prst="ellipse">
            <a:avLst/>
          </a:prstGeom>
          <a:solidFill>
            <a:srgbClr val="EB6834"/>
          </a:solidFill>
          <a:ln w="12700">
            <a:solidFill>
              <a:srgbClr val="EB6834"/>
            </a:solidFill>
            <a:prstDash val="solid"/>
          </a:ln>
        </p:spPr>
      </p:sp>
      <p:pic>
        <p:nvPicPr>
          <p:cNvPr id="9" name="Image 0" descr="preencoded.png">    </p:cNvPr>
          <p:cNvPicPr>
            <a:picLocks noChangeAspect="1"/>
          </p:cNvPicPr>
          <p:nvPr/>
        </p:nvPicPr>
        <p:blipFill>
          <a:blip r:embed="rId1"/>
          <a:stretch>
            <a:fillRect/>
          </a:stretch>
        </p:blipFill>
        <p:spPr>
          <a:xfrm>
            <a:off x="1017270" y="2571750"/>
            <a:ext cx="388620" cy="388620"/>
          </a:xfrm>
          <a:prstGeom prst="rect">
            <a:avLst/>
          </a:prstGeom>
        </p:spPr>
      </p:pic>
      <p:sp>
        <p:nvSpPr>
          <p:cNvPr id="10" name="Text 7"/>
          <p:cNvSpPr txBox="1"/>
          <p:nvPr/>
        </p:nvSpPr>
        <p:spPr>
          <a:xfrm>
            <a:off x="822960" y="3383280"/>
            <a:ext cx="2084832" cy="411480"/>
          </a:xfrm>
          <a:prstGeom prst="rect">
            <a:avLst/>
          </a:prstGeom>
          <a:noFill/>
          <a:ln/>
        </p:spPr>
        <p:txBody>
          <a:bodyPr wrap="square" lIns="0" tIns="0" rIns="0" bIns="0" rtlCol="0" anchor="t"/>
          <a:lstStyle/>
          <a:p>
            <a:pPr indent="0" marL="0">
              <a:buNone/>
            </a:pPr>
            <a:r>
              <a:rPr lang="en-US" sz="2100" b="1" dirty="0">
                <a:solidFill>
                  <a:srgbClr val="FFFFFF"/>
                </a:solidFill>
                <a:latin typeface="Arial" pitchFamily="34" charset="0"/>
                <a:ea typeface="Arial" pitchFamily="34" charset="-122"/>
                <a:cs typeface="Arial" pitchFamily="34" charset="-120"/>
              </a:rPr>
              <a:t>Track</a:t>
            </a:r>
            <a:endParaRPr lang="en-US" sz="2100" dirty="0"/>
          </a:p>
        </p:txBody>
      </p:sp>
      <p:sp>
        <p:nvSpPr>
          <p:cNvPr id="11" name="Text 8"/>
          <p:cNvSpPr txBox="1"/>
          <p:nvPr/>
        </p:nvSpPr>
        <p:spPr>
          <a:xfrm>
            <a:off x="822960" y="3886200"/>
            <a:ext cx="2084832" cy="1325880"/>
          </a:xfrm>
          <a:prstGeom prst="rect">
            <a:avLst/>
          </a:prstGeom>
          <a:noFill/>
          <a:ln/>
        </p:spPr>
        <p:txBody>
          <a:bodyPr wrap="square" lIns="0" tIns="0" rIns="0" bIns="0" rtlCol="0" anchor="t"/>
          <a:lstStyle/>
          <a:p>
            <a:pPr indent="0" marL="0">
              <a:buNone/>
            </a:pPr>
            <a:r>
              <a:rPr lang="en-US" sz="1500" dirty="0">
                <a:solidFill>
                  <a:srgbClr val="C9D6EA"/>
                </a:solidFill>
                <a:latin typeface="Calibri" pitchFamily="34" charset="0"/>
                <a:ea typeface="Calibri" pitchFamily="34" charset="-122"/>
                <a:cs typeface="Calibri" pitchFamily="34" charset="-120"/>
              </a:rPr>
              <a:t>A GPS fix every 10 seconds, with realistic error, snapped back onto the road.</a:t>
            </a:r>
            <a:endParaRPr lang="en-US" sz="1500" dirty="0"/>
          </a:p>
        </p:txBody>
      </p:sp>
      <p:sp>
        <p:nvSpPr>
          <p:cNvPr id="12" name="Shape 9"/>
          <p:cNvSpPr/>
          <p:nvPr/>
        </p:nvSpPr>
        <p:spPr>
          <a:xfrm>
            <a:off x="3364992" y="2103120"/>
            <a:ext cx="2633472" cy="3246120"/>
          </a:xfrm>
          <a:prstGeom prst="roundRect">
            <a:avLst>
              <a:gd name="adj" fmla="val 2778"/>
            </a:avLst>
          </a:prstGeom>
          <a:solidFill>
            <a:srgbClr val="142A4D"/>
          </a:solidFill>
          <a:ln w="12700">
            <a:solidFill>
              <a:srgbClr val="142A4D"/>
            </a:solidFill>
            <a:prstDash val="solid"/>
          </a:ln>
        </p:spPr>
      </p:sp>
      <p:sp>
        <p:nvSpPr>
          <p:cNvPr id="13" name="Shape 10"/>
          <p:cNvSpPr/>
          <p:nvPr/>
        </p:nvSpPr>
        <p:spPr>
          <a:xfrm>
            <a:off x="3639312" y="2377440"/>
            <a:ext cx="777240" cy="777240"/>
          </a:xfrm>
          <a:prstGeom prst="ellipse">
            <a:avLst/>
          </a:prstGeom>
          <a:solidFill>
            <a:srgbClr val="EB6834"/>
          </a:solidFill>
          <a:ln w="12700">
            <a:solidFill>
              <a:srgbClr val="EB6834"/>
            </a:solidFill>
            <a:prstDash val="solid"/>
          </a:ln>
        </p:spPr>
      </p:sp>
      <p:pic>
        <p:nvPicPr>
          <p:cNvPr id="14" name="Image 1" descr="preencoded.png">    </p:cNvPr>
          <p:cNvPicPr>
            <a:picLocks noChangeAspect="1"/>
          </p:cNvPicPr>
          <p:nvPr/>
        </p:nvPicPr>
        <p:blipFill>
          <a:blip r:embed="rId2"/>
          <a:stretch>
            <a:fillRect/>
          </a:stretch>
        </p:blipFill>
        <p:spPr>
          <a:xfrm>
            <a:off x="3833622" y="2571750"/>
            <a:ext cx="388620" cy="388620"/>
          </a:xfrm>
          <a:prstGeom prst="rect">
            <a:avLst/>
          </a:prstGeom>
        </p:spPr>
      </p:pic>
      <p:sp>
        <p:nvSpPr>
          <p:cNvPr id="15" name="Text 11"/>
          <p:cNvSpPr txBox="1"/>
          <p:nvPr/>
        </p:nvSpPr>
        <p:spPr>
          <a:xfrm>
            <a:off x="3639312" y="3383280"/>
            <a:ext cx="2084832" cy="411480"/>
          </a:xfrm>
          <a:prstGeom prst="rect">
            <a:avLst/>
          </a:prstGeom>
          <a:noFill/>
          <a:ln/>
        </p:spPr>
        <p:txBody>
          <a:bodyPr wrap="square" lIns="0" tIns="0" rIns="0" bIns="0" rtlCol="0" anchor="t"/>
          <a:lstStyle/>
          <a:p>
            <a:pPr indent="0" marL="0">
              <a:buNone/>
            </a:pPr>
            <a:r>
              <a:rPr lang="en-US" sz="2100" b="1" dirty="0">
                <a:solidFill>
                  <a:srgbClr val="FFFFFF"/>
                </a:solidFill>
                <a:latin typeface="Arial" pitchFamily="34" charset="0"/>
                <a:ea typeface="Arial" pitchFamily="34" charset="-122"/>
                <a:cs typeface="Arial" pitchFamily="34" charset="-120"/>
              </a:rPr>
              <a:t>Detect</a:t>
            </a:r>
            <a:endParaRPr lang="en-US" sz="2100" dirty="0"/>
          </a:p>
        </p:txBody>
      </p:sp>
      <p:sp>
        <p:nvSpPr>
          <p:cNvPr id="16" name="Text 12"/>
          <p:cNvSpPr txBox="1"/>
          <p:nvPr/>
        </p:nvSpPr>
        <p:spPr>
          <a:xfrm>
            <a:off x="3639312" y="3886200"/>
            <a:ext cx="2084832" cy="1325880"/>
          </a:xfrm>
          <a:prstGeom prst="rect">
            <a:avLst/>
          </a:prstGeom>
          <a:noFill/>
          <a:ln/>
        </p:spPr>
        <p:txBody>
          <a:bodyPr wrap="square" lIns="0" tIns="0" rIns="0" bIns="0" rtlCol="0" anchor="t"/>
          <a:lstStyle/>
          <a:p>
            <a:pPr indent="0" marL="0">
              <a:buNone/>
            </a:pPr>
            <a:r>
              <a:rPr lang="en-US" sz="1500" dirty="0">
                <a:solidFill>
                  <a:srgbClr val="C9D6EA"/>
                </a:solidFill>
                <a:latin typeface="Calibri" pitchFamily="34" charset="0"/>
                <a:ea typeface="Calibri" pitchFamily="34" charset="-122"/>
                <a:cs typeface="Calibri" pitchFamily="34" charset="-120"/>
              </a:rPr>
              <a:t>Entry into and exit from each toll zone, registered from the vehicle's position.</a:t>
            </a:r>
            <a:endParaRPr lang="en-US" sz="1500" dirty="0"/>
          </a:p>
        </p:txBody>
      </p:sp>
      <p:sp>
        <p:nvSpPr>
          <p:cNvPr id="17" name="Shape 13"/>
          <p:cNvSpPr/>
          <p:nvPr/>
        </p:nvSpPr>
        <p:spPr>
          <a:xfrm>
            <a:off x="6181344" y="2103120"/>
            <a:ext cx="2633472" cy="3246120"/>
          </a:xfrm>
          <a:prstGeom prst="roundRect">
            <a:avLst>
              <a:gd name="adj" fmla="val 2778"/>
            </a:avLst>
          </a:prstGeom>
          <a:solidFill>
            <a:srgbClr val="142A4D"/>
          </a:solidFill>
          <a:ln w="12700">
            <a:solidFill>
              <a:srgbClr val="142A4D"/>
            </a:solidFill>
            <a:prstDash val="solid"/>
          </a:ln>
        </p:spPr>
      </p:sp>
      <p:sp>
        <p:nvSpPr>
          <p:cNvPr id="18" name="Shape 14"/>
          <p:cNvSpPr/>
          <p:nvPr/>
        </p:nvSpPr>
        <p:spPr>
          <a:xfrm>
            <a:off x="6455664" y="2377440"/>
            <a:ext cx="777240" cy="777240"/>
          </a:xfrm>
          <a:prstGeom prst="ellipse">
            <a:avLst/>
          </a:prstGeom>
          <a:solidFill>
            <a:srgbClr val="EB6834"/>
          </a:solidFill>
          <a:ln w="12700">
            <a:solidFill>
              <a:srgbClr val="EB6834"/>
            </a:solidFill>
            <a:prstDash val="solid"/>
          </a:ln>
        </p:spPr>
      </p:sp>
      <p:pic>
        <p:nvPicPr>
          <p:cNvPr id="19" name="Image 2" descr="preencoded.png">    </p:cNvPr>
          <p:cNvPicPr>
            <a:picLocks noChangeAspect="1"/>
          </p:cNvPicPr>
          <p:nvPr/>
        </p:nvPicPr>
        <p:blipFill>
          <a:blip r:embed="rId3"/>
          <a:stretch>
            <a:fillRect/>
          </a:stretch>
        </p:blipFill>
        <p:spPr>
          <a:xfrm>
            <a:off x="6649974" y="2571750"/>
            <a:ext cx="388620" cy="388620"/>
          </a:xfrm>
          <a:prstGeom prst="rect">
            <a:avLst/>
          </a:prstGeom>
        </p:spPr>
      </p:pic>
      <p:sp>
        <p:nvSpPr>
          <p:cNvPr id="20" name="Text 15"/>
          <p:cNvSpPr txBox="1"/>
          <p:nvPr/>
        </p:nvSpPr>
        <p:spPr>
          <a:xfrm>
            <a:off x="6455664" y="3383280"/>
            <a:ext cx="2084832" cy="411480"/>
          </a:xfrm>
          <a:prstGeom prst="rect">
            <a:avLst/>
          </a:prstGeom>
          <a:noFill/>
          <a:ln/>
        </p:spPr>
        <p:txBody>
          <a:bodyPr wrap="square" lIns="0" tIns="0" rIns="0" bIns="0" rtlCol="0" anchor="t"/>
          <a:lstStyle/>
          <a:p>
            <a:pPr indent="0" marL="0">
              <a:buNone/>
            </a:pPr>
            <a:r>
              <a:rPr lang="en-US" sz="2100" b="1" dirty="0">
                <a:solidFill>
                  <a:srgbClr val="FFFFFF"/>
                </a:solidFill>
                <a:latin typeface="Arial" pitchFamily="34" charset="0"/>
                <a:ea typeface="Arial" pitchFamily="34" charset="-122"/>
                <a:cs typeface="Arial" pitchFamily="34" charset="-120"/>
              </a:rPr>
              <a:t>Charge</a:t>
            </a:r>
            <a:endParaRPr lang="en-US" sz="2100" dirty="0"/>
          </a:p>
        </p:txBody>
      </p:sp>
      <p:sp>
        <p:nvSpPr>
          <p:cNvPr id="21" name="Text 16"/>
          <p:cNvSpPr txBox="1"/>
          <p:nvPr/>
        </p:nvSpPr>
        <p:spPr>
          <a:xfrm>
            <a:off x="6455664" y="3886200"/>
            <a:ext cx="2084832" cy="1325880"/>
          </a:xfrm>
          <a:prstGeom prst="rect">
            <a:avLst/>
          </a:prstGeom>
          <a:noFill/>
          <a:ln/>
        </p:spPr>
        <p:txBody>
          <a:bodyPr wrap="square" lIns="0" tIns="0" rIns="0" bIns="0" rtlCol="0" anchor="t"/>
          <a:lstStyle/>
          <a:p>
            <a:pPr indent="0" marL="0">
              <a:buNone/>
            </a:pPr>
            <a:r>
              <a:rPr lang="en-US" sz="1500" dirty="0">
                <a:solidFill>
                  <a:srgbClr val="C9D6EA"/>
                </a:solidFill>
                <a:latin typeface="Calibri" pitchFamily="34" charset="0"/>
                <a:ea typeface="Calibri" pitchFamily="34" charset="-122"/>
                <a:cs typeface="Calibri" pitchFamily="34" charset="-120"/>
              </a:rPr>
              <a:t>Kilometres in each zone × that plaza's own per-km rate. The first 20 km a day are free.</a:t>
            </a:r>
            <a:endParaRPr lang="en-US" sz="1500" dirty="0"/>
          </a:p>
        </p:txBody>
      </p:sp>
      <p:sp>
        <p:nvSpPr>
          <p:cNvPr id="22" name="Shape 17"/>
          <p:cNvSpPr/>
          <p:nvPr/>
        </p:nvSpPr>
        <p:spPr>
          <a:xfrm>
            <a:off x="8997696" y="2103120"/>
            <a:ext cx="2633472" cy="3246120"/>
          </a:xfrm>
          <a:prstGeom prst="roundRect">
            <a:avLst>
              <a:gd name="adj" fmla="val 2778"/>
            </a:avLst>
          </a:prstGeom>
          <a:solidFill>
            <a:srgbClr val="142A4D"/>
          </a:solidFill>
          <a:ln w="12700">
            <a:solidFill>
              <a:srgbClr val="142A4D"/>
            </a:solidFill>
            <a:prstDash val="solid"/>
          </a:ln>
        </p:spPr>
      </p:sp>
      <p:sp>
        <p:nvSpPr>
          <p:cNvPr id="23" name="Shape 18"/>
          <p:cNvSpPr/>
          <p:nvPr/>
        </p:nvSpPr>
        <p:spPr>
          <a:xfrm>
            <a:off x="9272016" y="2377440"/>
            <a:ext cx="777240" cy="777240"/>
          </a:xfrm>
          <a:prstGeom prst="ellipse">
            <a:avLst/>
          </a:prstGeom>
          <a:solidFill>
            <a:srgbClr val="EB6834"/>
          </a:solidFill>
          <a:ln w="12700">
            <a:solidFill>
              <a:srgbClr val="EB6834"/>
            </a:solidFill>
            <a:prstDash val="solid"/>
          </a:ln>
        </p:spPr>
      </p:sp>
      <p:pic>
        <p:nvPicPr>
          <p:cNvPr id="24" name="Image 3" descr="preencoded.png">    </p:cNvPr>
          <p:cNvPicPr>
            <a:picLocks noChangeAspect="1"/>
          </p:cNvPicPr>
          <p:nvPr/>
        </p:nvPicPr>
        <p:blipFill>
          <a:blip r:embed="rId4"/>
          <a:stretch>
            <a:fillRect/>
          </a:stretch>
        </p:blipFill>
        <p:spPr>
          <a:xfrm>
            <a:off x="9466326" y="2571750"/>
            <a:ext cx="388620" cy="388620"/>
          </a:xfrm>
          <a:prstGeom prst="rect">
            <a:avLst/>
          </a:prstGeom>
        </p:spPr>
      </p:pic>
      <p:sp>
        <p:nvSpPr>
          <p:cNvPr id="25" name="Text 19"/>
          <p:cNvSpPr txBox="1"/>
          <p:nvPr/>
        </p:nvSpPr>
        <p:spPr>
          <a:xfrm>
            <a:off x="9272016" y="3383280"/>
            <a:ext cx="2084832" cy="411480"/>
          </a:xfrm>
          <a:prstGeom prst="rect">
            <a:avLst/>
          </a:prstGeom>
          <a:noFill/>
          <a:ln/>
        </p:spPr>
        <p:txBody>
          <a:bodyPr wrap="square" lIns="0" tIns="0" rIns="0" bIns="0" rtlCol="0" anchor="t"/>
          <a:lstStyle/>
          <a:p>
            <a:pPr indent="0" marL="0">
              <a:buNone/>
            </a:pPr>
            <a:r>
              <a:rPr lang="en-US" sz="2100" b="1" dirty="0">
                <a:solidFill>
                  <a:srgbClr val="FFFFFF"/>
                </a:solidFill>
                <a:latin typeface="Arial" pitchFamily="34" charset="0"/>
                <a:ea typeface="Arial" pitchFamily="34" charset="-122"/>
                <a:cs typeface="Arial" pitchFamily="34" charset="-120"/>
              </a:rPr>
              <a:t>Record</a:t>
            </a:r>
            <a:endParaRPr lang="en-US" sz="2100" dirty="0"/>
          </a:p>
        </p:txBody>
      </p:sp>
      <p:sp>
        <p:nvSpPr>
          <p:cNvPr id="26" name="Text 20"/>
          <p:cNvSpPr txBox="1"/>
          <p:nvPr/>
        </p:nvSpPr>
        <p:spPr>
          <a:xfrm>
            <a:off x="9272016" y="3886200"/>
            <a:ext cx="2084832" cy="1325880"/>
          </a:xfrm>
          <a:prstGeom prst="rect">
            <a:avLst/>
          </a:prstGeom>
          <a:noFill/>
          <a:ln/>
        </p:spPr>
        <p:txBody>
          <a:bodyPr wrap="square" lIns="0" tIns="0" rIns="0" bIns="0" rtlCol="0" anchor="t"/>
          <a:lstStyle/>
          <a:p>
            <a:pPr indent="0" marL="0">
              <a:buNone/>
            </a:pPr>
            <a:r>
              <a:rPr lang="en-US" sz="1500" dirty="0">
                <a:solidFill>
                  <a:srgbClr val="C9D6EA"/>
                </a:solidFill>
                <a:latin typeface="Calibri" pitchFamily="34" charset="0"/>
                <a:ea typeface="Calibri" pitchFamily="34" charset="-122"/>
                <a:cs typeface="Calibri" pitchFamily="34" charset="-120"/>
              </a:rPr>
              <a:t>An itemised receipt, the FASTag cost for comparison, and a SQLite trip history.</a:t>
            </a:r>
            <a:endParaRPr lang="en-US" sz="1500" dirty="0"/>
          </a:p>
        </p:txBody>
      </p:sp>
      <p:sp>
        <p:nvSpPr>
          <p:cNvPr id="27" name="Text 21"/>
          <p:cNvSpPr txBox="1"/>
          <p:nvPr/>
        </p:nvSpPr>
        <p:spPr>
          <a:xfrm>
            <a:off x="548640" y="5623560"/>
            <a:ext cx="11094415" cy="365760"/>
          </a:xfrm>
          <a:prstGeom prst="rect">
            <a:avLst/>
          </a:prstGeom>
          <a:noFill/>
          <a:ln/>
        </p:spPr>
        <p:txBody>
          <a:bodyPr wrap="square" lIns="0" tIns="0" rIns="0" bIns="0" rtlCol="0" anchor="t"/>
          <a:lstStyle/>
          <a:p>
            <a:pPr indent="0" marL="0">
              <a:buNone/>
            </a:pPr>
            <a:r>
              <a:rPr lang="en-US" sz="1400" i="1" dirty="0">
                <a:solidFill>
                  <a:srgbClr val="C9D6EA"/>
                </a:solidFill>
                <a:latin typeface="Calibri" pitchFamily="34" charset="0"/>
                <a:ea typeface="Calibri" pitchFamily="34" charset="-122"/>
                <a:cs typeface="Calibri" pitchFamily="34" charset="-120"/>
              </a:rPr>
              <a:t>Modelled on India's National Highways Fee Amendment Rules, 2024, which allow GNSS-based toll collection.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GPS Toll-Based System Simulation</a:t>
            </a:r>
            <a:endParaRPr lang="en-US" sz="1000" dirty="0"/>
          </a:p>
        </p:txBody>
      </p:sp>
      <p:sp>
        <p:nvSpPr>
          <p:cNvPr id="3" name="Text 1"/>
          <p:cNvSpPr txBox="1"/>
          <p:nvPr/>
        </p:nvSpPr>
        <p:spPr>
          <a:xfrm>
            <a:off x="10271455" y="6400800"/>
            <a:ext cx="13716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5 / 17</a:t>
            </a:r>
            <a:endParaRPr lang="en-US" sz="1000" dirty="0"/>
          </a:p>
        </p:txBody>
      </p:sp>
      <p:sp>
        <p:nvSpPr>
          <p:cNvPr id="4" name="Text 2"/>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300" kern="0" dirty="0">
                <a:solidFill>
                  <a:srgbClr val="EB6834"/>
                </a:solidFill>
                <a:latin typeface="Arial" pitchFamily="34" charset="0"/>
                <a:ea typeface="Arial" pitchFamily="34" charset="-122"/>
                <a:cs typeface="Arial" pitchFamily="34" charset="-120"/>
              </a:rPr>
              <a:t>HOW IT WORKS</a:t>
            </a:r>
            <a:endParaRPr lang="en-US" sz="1200" dirty="0"/>
          </a:p>
        </p:txBody>
      </p:sp>
      <p:sp>
        <p:nvSpPr>
          <p:cNvPr id="5" name="Text 3"/>
          <p:cNvSpPr txBox="1"/>
          <p:nvPr/>
        </p:nvSpPr>
        <p:spPr>
          <a:xfrm>
            <a:off x="548640" y="676656"/>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From GPS fix to toll receipt</a:t>
            </a:r>
            <a:endParaRPr lang="en-US" sz="3000" dirty="0"/>
          </a:p>
        </p:txBody>
      </p:sp>
      <p:sp>
        <p:nvSpPr>
          <p:cNvPr id="6" name="Shape 4"/>
          <p:cNvSpPr/>
          <p:nvPr/>
        </p:nvSpPr>
        <p:spPr>
          <a:xfrm>
            <a:off x="868680" y="1874520"/>
            <a:ext cx="914400" cy="914400"/>
          </a:xfrm>
          <a:prstGeom prst="ellipse">
            <a:avLst/>
          </a:prstGeom>
          <a:solidFill>
            <a:srgbClr val="0B1B33"/>
          </a:solidFill>
          <a:ln w="12700">
            <a:solidFill>
              <a:srgbClr val="0B1B33"/>
            </a:solidFill>
            <a:prstDash val="solid"/>
          </a:ln>
        </p:spPr>
      </p:sp>
      <p:pic>
        <p:nvPicPr>
          <p:cNvPr id="7" name="Image 0" descr="preencoded.png">    </p:cNvPr>
          <p:cNvPicPr>
            <a:picLocks noChangeAspect="1"/>
          </p:cNvPicPr>
          <p:nvPr/>
        </p:nvPicPr>
        <p:blipFill>
          <a:blip r:embed="rId1"/>
          <a:stretch>
            <a:fillRect/>
          </a:stretch>
        </p:blipFill>
        <p:spPr>
          <a:xfrm>
            <a:off x="1097280" y="2103120"/>
            <a:ext cx="457200" cy="457200"/>
          </a:xfrm>
          <a:prstGeom prst="rect">
            <a:avLst/>
          </a:prstGeom>
        </p:spPr>
      </p:pic>
      <p:sp>
        <p:nvSpPr>
          <p:cNvPr id="8" name="Shape 5"/>
          <p:cNvSpPr/>
          <p:nvPr/>
        </p:nvSpPr>
        <p:spPr>
          <a:xfrm>
            <a:off x="1892808" y="2331720"/>
            <a:ext cx="774131" cy="0"/>
          </a:xfrm>
          <a:prstGeom prst="line">
            <a:avLst/>
          </a:prstGeom>
          <a:noFill/>
          <a:ln w="25400">
            <a:solidFill>
              <a:srgbClr val="94A3B8"/>
            </a:solidFill>
            <a:prstDash val="solid"/>
            <a:tailEnd type="triangle"/>
          </a:ln>
        </p:spPr>
      </p:sp>
      <p:sp>
        <p:nvSpPr>
          <p:cNvPr id="9" name="Text 6"/>
          <p:cNvSpPr txBox="1"/>
          <p:nvPr/>
        </p:nvSpPr>
        <p:spPr>
          <a:xfrm>
            <a:off x="411480" y="2926080"/>
            <a:ext cx="1828800" cy="274320"/>
          </a:xfrm>
          <a:prstGeom prst="rect">
            <a:avLst/>
          </a:prstGeom>
          <a:noFill/>
          <a:ln/>
        </p:spPr>
        <p:txBody>
          <a:bodyPr wrap="square" lIns="0" tIns="0" rIns="0" bIns="0" rtlCol="0" anchor="t"/>
          <a:lstStyle/>
          <a:p>
            <a:pPr algn="ctr" indent="0" marL="0">
              <a:buNone/>
            </a:pPr>
            <a:r>
              <a:rPr lang="en-US" sz="1000" b="1" spc="200" kern="0" dirty="0">
                <a:solidFill>
                  <a:srgbClr val="EB6834"/>
                </a:solidFill>
                <a:latin typeface="Arial" pitchFamily="34" charset="0"/>
                <a:ea typeface="Arial" pitchFamily="34" charset="-122"/>
                <a:cs typeface="Arial" pitchFamily="34" charset="-120"/>
              </a:rPr>
              <a:t>STEP 1</a:t>
            </a:r>
            <a:endParaRPr lang="en-US" sz="1000" dirty="0"/>
          </a:p>
        </p:txBody>
      </p:sp>
      <p:sp>
        <p:nvSpPr>
          <p:cNvPr id="10" name="Text 7"/>
          <p:cNvSpPr txBox="1"/>
          <p:nvPr/>
        </p:nvSpPr>
        <p:spPr>
          <a:xfrm>
            <a:off x="411480" y="3200400"/>
            <a:ext cx="1828800" cy="365760"/>
          </a:xfrm>
          <a:prstGeom prst="rect">
            <a:avLst/>
          </a:prstGeom>
          <a:noFill/>
          <a:ln/>
        </p:spPr>
        <p:txBody>
          <a:bodyPr wrap="square" lIns="0" tIns="0" rIns="0" bIns="0" rtlCol="0" anchor="t"/>
          <a:lstStyle/>
          <a:p>
            <a:pPr algn="ctr" indent="0" marL="0">
              <a:buNone/>
            </a:pPr>
            <a:r>
              <a:rPr lang="en-US" sz="1600" b="1" dirty="0">
                <a:solidFill>
                  <a:srgbClr val="0F172A"/>
                </a:solidFill>
                <a:latin typeface="Arial" pitchFamily="34" charset="0"/>
                <a:ea typeface="Arial" pitchFamily="34" charset="-122"/>
                <a:cs typeface="Arial" pitchFamily="34" charset="-120"/>
              </a:rPr>
              <a:t>Depart</a:t>
            </a:r>
            <a:endParaRPr lang="en-US" sz="1600" dirty="0"/>
          </a:p>
        </p:txBody>
      </p:sp>
      <p:sp>
        <p:nvSpPr>
          <p:cNvPr id="11" name="Text 8"/>
          <p:cNvSpPr txBox="1"/>
          <p:nvPr/>
        </p:nvSpPr>
        <p:spPr>
          <a:xfrm>
            <a:off x="429768" y="3611880"/>
            <a:ext cx="1792224" cy="914400"/>
          </a:xfrm>
          <a:prstGeom prst="rect">
            <a:avLst/>
          </a:prstGeom>
          <a:noFill/>
          <a:ln/>
        </p:spPr>
        <p:txBody>
          <a:bodyPr wrap="square" lIns="0" tIns="0" rIns="0" bIns="0" rtlCol="0" anchor="t"/>
          <a:lstStyle/>
          <a:p>
            <a:pPr algn="ctr" indent="0" marL="0">
              <a:buNone/>
            </a:pPr>
            <a:r>
              <a:rPr lang="en-US" sz="1300" dirty="0">
                <a:solidFill>
                  <a:srgbClr val="475569"/>
                </a:solidFill>
                <a:latin typeface="Calibri" pitchFamily="34" charset="0"/>
                <a:ea typeface="Calibri" pitchFamily="34" charset="-122"/>
                <a:cs typeface="Calibri" pitchFamily="34" charset="-120"/>
              </a:rPr>
              <a:t>Your vehicle and random traffic leave their towns.</a:t>
            </a:r>
            <a:endParaRPr lang="en-US" sz="1300" dirty="0"/>
          </a:p>
        </p:txBody>
      </p:sp>
      <p:sp>
        <p:nvSpPr>
          <p:cNvPr id="12" name="Shape 9"/>
          <p:cNvSpPr/>
          <p:nvPr/>
        </p:nvSpPr>
        <p:spPr>
          <a:xfrm>
            <a:off x="2776667" y="1874520"/>
            <a:ext cx="914400" cy="914400"/>
          </a:xfrm>
          <a:prstGeom prst="ellipse">
            <a:avLst/>
          </a:prstGeom>
          <a:solidFill>
            <a:srgbClr val="0B1B33"/>
          </a:solidFill>
          <a:ln w="12700">
            <a:solidFill>
              <a:srgbClr val="0B1B33"/>
            </a:solidFill>
            <a:prstDash val="solid"/>
          </a:ln>
        </p:spPr>
      </p:sp>
      <p:pic>
        <p:nvPicPr>
          <p:cNvPr id="13" name="Image 1" descr="preencoded.png">    </p:cNvPr>
          <p:cNvPicPr>
            <a:picLocks noChangeAspect="1"/>
          </p:cNvPicPr>
          <p:nvPr/>
        </p:nvPicPr>
        <p:blipFill>
          <a:blip r:embed="rId2"/>
          <a:stretch>
            <a:fillRect/>
          </a:stretch>
        </p:blipFill>
        <p:spPr>
          <a:xfrm>
            <a:off x="3005267" y="2103120"/>
            <a:ext cx="457200" cy="457200"/>
          </a:xfrm>
          <a:prstGeom prst="rect">
            <a:avLst/>
          </a:prstGeom>
        </p:spPr>
      </p:pic>
      <p:sp>
        <p:nvSpPr>
          <p:cNvPr id="14" name="Shape 10"/>
          <p:cNvSpPr/>
          <p:nvPr/>
        </p:nvSpPr>
        <p:spPr>
          <a:xfrm>
            <a:off x="3800795" y="2331720"/>
            <a:ext cx="774131" cy="0"/>
          </a:xfrm>
          <a:prstGeom prst="line">
            <a:avLst/>
          </a:prstGeom>
          <a:noFill/>
          <a:ln w="25400">
            <a:solidFill>
              <a:srgbClr val="94A3B8"/>
            </a:solidFill>
            <a:prstDash val="solid"/>
            <a:tailEnd type="triangle"/>
          </a:ln>
        </p:spPr>
      </p:sp>
      <p:sp>
        <p:nvSpPr>
          <p:cNvPr id="15" name="Text 11"/>
          <p:cNvSpPr txBox="1"/>
          <p:nvPr/>
        </p:nvSpPr>
        <p:spPr>
          <a:xfrm>
            <a:off x="2319467" y="2926080"/>
            <a:ext cx="1828800" cy="274320"/>
          </a:xfrm>
          <a:prstGeom prst="rect">
            <a:avLst/>
          </a:prstGeom>
          <a:noFill/>
          <a:ln/>
        </p:spPr>
        <p:txBody>
          <a:bodyPr wrap="square" lIns="0" tIns="0" rIns="0" bIns="0" rtlCol="0" anchor="t"/>
          <a:lstStyle/>
          <a:p>
            <a:pPr algn="ctr" indent="0" marL="0">
              <a:buNone/>
            </a:pPr>
            <a:r>
              <a:rPr lang="en-US" sz="1000" b="1" spc="200" kern="0" dirty="0">
                <a:solidFill>
                  <a:srgbClr val="EB6834"/>
                </a:solidFill>
                <a:latin typeface="Arial" pitchFamily="34" charset="0"/>
                <a:ea typeface="Arial" pitchFamily="34" charset="-122"/>
                <a:cs typeface="Arial" pitchFamily="34" charset="-120"/>
              </a:rPr>
              <a:t>STEP 2</a:t>
            </a:r>
            <a:endParaRPr lang="en-US" sz="1000" dirty="0"/>
          </a:p>
        </p:txBody>
      </p:sp>
      <p:sp>
        <p:nvSpPr>
          <p:cNvPr id="16" name="Text 12"/>
          <p:cNvSpPr txBox="1"/>
          <p:nvPr/>
        </p:nvSpPr>
        <p:spPr>
          <a:xfrm>
            <a:off x="2319467" y="3200400"/>
            <a:ext cx="1828800" cy="365760"/>
          </a:xfrm>
          <a:prstGeom prst="rect">
            <a:avLst/>
          </a:prstGeom>
          <a:noFill/>
          <a:ln/>
        </p:spPr>
        <p:txBody>
          <a:bodyPr wrap="square" lIns="0" tIns="0" rIns="0" bIns="0" rtlCol="0" anchor="t"/>
          <a:lstStyle/>
          <a:p>
            <a:pPr algn="ctr" indent="0" marL="0">
              <a:buNone/>
            </a:pPr>
            <a:r>
              <a:rPr lang="en-US" sz="1600" b="1" dirty="0">
                <a:solidFill>
                  <a:srgbClr val="0F172A"/>
                </a:solidFill>
                <a:latin typeface="Arial" pitchFamily="34" charset="0"/>
                <a:ea typeface="Arial" pitchFamily="34" charset="-122"/>
                <a:cs typeface="Arial" pitchFamily="34" charset="-120"/>
              </a:rPr>
              <a:t>Drive</a:t>
            </a:r>
            <a:endParaRPr lang="en-US" sz="1600" dirty="0"/>
          </a:p>
        </p:txBody>
      </p:sp>
      <p:sp>
        <p:nvSpPr>
          <p:cNvPr id="17" name="Text 13"/>
          <p:cNvSpPr txBox="1"/>
          <p:nvPr/>
        </p:nvSpPr>
        <p:spPr>
          <a:xfrm>
            <a:off x="2337755" y="3611880"/>
            <a:ext cx="1792224" cy="914400"/>
          </a:xfrm>
          <a:prstGeom prst="rect">
            <a:avLst/>
          </a:prstGeom>
          <a:noFill/>
          <a:ln/>
        </p:spPr>
        <p:txBody>
          <a:bodyPr wrap="square" lIns="0" tIns="0" rIns="0" bIns="0" rtlCol="0" anchor="t"/>
          <a:lstStyle/>
          <a:p>
            <a:pPr algn="ctr" indent="0" marL="0">
              <a:buNone/>
            </a:pPr>
            <a:r>
              <a:rPr lang="en-US" sz="1300" dirty="0">
                <a:solidFill>
                  <a:srgbClr val="475569"/>
                </a:solidFill>
                <a:latin typeface="Calibri" pitchFamily="34" charset="0"/>
                <a:ea typeface="Calibri" pitchFamily="34" charset="-122"/>
                <a:cs typeface="Calibri" pitchFamily="34" charset="-120"/>
              </a:rPr>
              <a:t>Speed drifts around each vehicle's cruising speed.</a:t>
            </a:r>
            <a:endParaRPr lang="en-US" sz="1300" dirty="0"/>
          </a:p>
        </p:txBody>
      </p:sp>
      <p:sp>
        <p:nvSpPr>
          <p:cNvPr id="18" name="Shape 14"/>
          <p:cNvSpPr/>
          <p:nvPr/>
        </p:nvSpPr>
        <p:spPr>
          <a:xfrm>
            <a:off x="4684654" y="1874520"/>
            <a:ext cx="914400" cy="914400"/>
          </a:xfrm>
          <a:prstGeom prst="ellipse">
            <a:avLst/>
          </a:prstGeom>
          <a:solidFill>
            <a:srgbClr val="0B1B33"/>
          </a:solidFill>
          <a:ln w="12700">
            <a:solidFill>
              <a:srgbClr val="0B1B33"/>
            </a:solidFill>
            <a:prstDash val="solid"/>
          </a:ln>
        </p:spPr>
      </p:sp>
      <p:pic>
        <p:nvPicPr>
          <p:cNvPr id="19" name="Image 2" descr="preencoded.png">    </p:cNvPr>
          <p:cNvPicPr>
            <a:picLocks noChangeAspect="1"/>
          </p:cNvPicPr>
          <p:nvPr/>
        </p:nvPicPr>
        <p:blipFill>
          <a:blip r:embed="rId3"/>
          <a:stretch>
            <a:fillRect/>
          </a:stretch>
        </p:blipFill>
        <p:spPr>
          <a:xfrm>
            <a:off x="4913254" y="2103120"/>
            <a:ext cx="457200" cy="457200"/>
          </a:xfrm>
          <a:prstGeom prst="rect">
            <a:avLst/>
          </a:prstGeom>
        </p:spPr>
      </p:pic>
      <p:sp>
        <p:nvSpPr>
          <p:cNvPr id="20" name="Shape 15"/>
          <p:cNvSpPr/>
          <p:nvPr/>
        </p:nvSpPr>
        <p:spPr>
          <a:xfrm>
            <a:off x="5708782" y="2331720"/>
            <a:ext cx="774131" cy="0"/>
          </a:xfrm>
          <a:prstGeom prst="line">
            <a:avLst/>
          </a:prstGeom>
          <a:noFill/>
          <a:ln w="25400">
            <a:solidFill>
              <a:srgbClr val="94A3B8"/>
            </a:solidFill>
            <a:prstDash val="solid"/>
            <a:tailEnd type="triangle"/>
          </a:ln>
        </p:spPr>
      </p:sp>
      <p:sp>
        <p:nvSpPr>
          <p:cNvPr id="21" name="Text 16"/>
          <p:cNvSpPr txBox="1"/>
          <p:nvPr/>
        </p:nvSpPr>
        <p:spPr>
          <a:xfrm>
            <a:off x="4227454" y="2926080"/>
            <a:ext cx="1828800" cy="274320"/>
          </a:xfrm>
          <a:prstGeom prst="rect">
            <a:avLst/>
          </a:prstGeom>
          <a:noFill/>
          <a:ln/>
        </p:spPr>
        <p:txBody>
          <a:bodyPr wrap="square" lIns="0" tIns="0" rIns="0" bIns="0" rtlCol="0" anchor="t"/>
          <a:lstStyle/>
          <a:p>
            <a:pPr algn="ctr" indent="0" marL="0">
              <a:buNone/>
            </a:pPr>
            <a:r>
              <a:rPr lang="en-US" sz="1000" b="1" spc="200" kern="0" dirty="0">
                <a:solidFill>
                  <a:srgbClr val="EB6834"/>
                </a:solidFill>
                <a:latin typeface="Arial" pitchFamily="34" charset="0"/>
                <a:ea typeface="Arial" pitchFamily="34" charset="-122"/>
                <a:cs typeface="Arial" pitchFamily="34" charset="-120"/>
              </a:rPr>
              <a:t>STEP 3</a:t>
            </a:r>
            <a:endParaRPr lang="en-US" sz="1000" dirty="0"/>
          </a:p>
        </p:txBody>
      </p:sp>
      <p:sp>
        <p:nvSpPr>
          <p:cNvPr id="22" name="Text 17"/>
          <p:cNvSpPr txBox="1"/>
          <p:nvPr/>
        </p:nvSpPr>
        <p:spPr>
          <a:xfrm>
            <a:off x="4227454" y="3200400"/>
            <a:ext cx="1828800" cy="365760"/>
          </a:xfrm>
          <a:prstGeom prst="rect">
            <a:avLst/>
          </a:prstGeom>
          <a:noFill/>
          <a:ln/>
        </p:spPr>
        <p:txBody>
          <a:bodyPr wrap="square" lIns="0" tIns="0" rIns="0" bIns="0" rtlCol="0" anchor="t"/>
          <a:lstStyle/>
          <a:p>
            <a:pPr algn="ctr" indent="0" marL="0">
              <a:buNone/>
            </a:pPr>
            <a:r>
              <a:rPr lang="en-US" sz="1600" b="1" dirty="0">
                <a:solidFill>
                  <a:srgbClr val="0F172A"/>
                </a:solidFill>
                <a:latin typeface="Arial" pitchFamily="34" charset="0"/>
                <a:ea typeface="Arial" pitchFamily="34" charset="-122"/>
                <a:cs typeface="Arial" pitchFamily="34" charset="-120"/>
              </a:rPr>
              <a:t>GPS fix</a:t>
            </a:r>
            <a:endParaRPr lang="en-US" sz="1600" dirty="0"/>
          </a:p>
        </p:txBody>
      </p:sp>
      <p:sp>
        <p:nvSpPr>
          <p:cNvPr id="23" name="Text 18"/>
          <p:cNvSpPr txBox="1"/>
          <p:nvPr/>
        </p:nvSpPr>
        <p:spPr>
          <a:xfrm>
            <a:off x="4245742" y="3611880"/>
            <a:ext cx="1792224" cy="914400"/>
          </a:xfrm>
          <a:prstGeom prst="rect">
            <a:avLst/>
          </a:prstGeom>
          <a:noFill/>
          <a:ln/>
        </p:spPr>
        <p:txBody>
          <a:bodyPr wrap="square" lIns="0" tIns="0" rIns="0" bIns="0" rtlCol="0" anchor="t"/>
          <a:lstStyle/>
          <a:p>
            <a:pPr algn="ctr" indent="0" marL="0">
              <a:buNone/>
            </a:pPr>
            <a:r>
              <a:rPr lang="en-US" sz="1300" dirty="0">
                <a:solidFill>
                  <a:srgbClr val="475569"/>
                </a:solidFill>
                <a:latin typeface="Calibri" pitchFamily="34" charset="0"/>
                <a:ea typeface="Calibri" pitchFamily="34" charset="-122"/>
                <a:cs typeface="Calibri" pitchFamily="34" charset="-120"/>
              </a:rPr>
              <a:t>Every 10 s, with about 5 m of random error.</a:t>
            </a:r>
            <a:endParaRPr lang="en-US" sz="1300" dirty="0"/>
          </a:p>
        </p:txBody>
      </p:sp>
      <p:sp>
        <p:nvSpPr>
          <p:cNvPr id="24" name="Shape 19"/>
          <p:cNvSpPr/>
          <p:nvPr/>
        </p:nvSpPr>
        <p:spPr>
          <a:xfrm>
            <a:off x="6592641" y="1874520"/>
            <a:ext cx="914400" cy="914400"/>
          </a:xfrm>
          <a:prstGeom prst="ellipse">
            <a:avLst/>
          </a:prstGeom>
          <a:solidFill>
            <a:srgbClr val="0B1B33"/>
          </a:solidFill>
          <a:ln w="12700">
            <a:solidFill>
              <a:srgbClr val="0B1B33"/>
            </a:solidFill>
            <a:prstDash val="solid"/>
          </a:ln>
        </p:spPr>
      </p:sp>
      <p:pic>
        <p:nvPicPr>
          <p:cNvPr id="25" name="Image 3" descr="preencoded.png">    </p:cNvPr>
          <p:cNvPicPr>
            <a:picLocks noChangeAspect="1"/>
          </p:cNvPicPr>
          <p:nvPr/>
        </p:nvPicPr>
        <p:blipFill>
          <a:blip r:embed="rId4"/>
          <a:stretch>
            <a:fillRect/>
          </a:stretch>
        </p:blipFill>
        <p:spPr>
          <a:xfrm>
            <a:off x="6821241" y="2103120"/>
            <a:ext cx="457200" cy="457200"/>
          </a:xfrm>
          <a:prstGeom prst="rect">
            <a:avLst/>
          </a:prstGeom>
        </p:spPr>
      </p:pic>
      <p:sp>
        <p:nvSpPr>
          <p:cNvPr id="26" name="Shape 20"/>
          <p:cNvSpPr/>
          <p:nvPr/>
        </p:nvSpPr>
        <p:spPr>
          <a:xfrm>
            <a:off x="7616769" y="2331720"/>
            <a:ext cx="774131" cy="0"/>
          </a:xfrm>
          <a:prstGeom prst="line">
            <a:avLst/>
          </a:prstGeom>
          <a:noFill/>
          <a:ln w="25400">
            <a:solidFill>
              <a:srgbClr val="94A3B8"/>
            </a:solidFill>
            <a:prstDash val="solid"/>
            <a:tailEnd type="triangle"/>
          </a:ln>
        </p:spPr>
      </p:sp>
      <p:sp>
        <p:nvSpPr>
          <p:cNvPr id="27" name="Text 21"/>
          <p:cNvSpPr txBox="1"/>
          <p:nvPr/>
        </p:nvSpPr>
        <p:spPr>
          <a:xfrm>
            <a:off x="6135441" y="2926080"/>
            <a:ext cx="1828800" cy="274320"/>
          </a:xfrm>
          <a:prstGeom prst="rect">
            <a:avLst/>
          </a:prstGeom>
          <a:noFill/>
          <a:ln/>
        </p:spPr>
        <p:txBody>
          <a:bodyPr wrap="square" lIns="0" tIns="0" rIns="0" bIns="0" rtlCol="0" anchor="t"/>
          <a:lstStyle/>
          <a:p>
            <a:pPr algn="ctr" indent="0" marL="0">
              <a:buNone/>
            </a:pPr>
            <a:r>
              <a:rPr lang="en-US" sz="1000" b="1" spc="200" kern="0" dirty="0">
                <a:solidFill>
                  <a:srgbClr val="EB6834"/>
                </a:solidFill>
                <a:latin typeface="Arial" pitchFamily="34" charset="0"/>
                <a:ea typeface="Arial" pitchFamily="34" charset="-122"/>
                <a:cs typeface="Arial" pitchFamily="34" charset="-120"/>
              </a:rPr>
              <a:t>STEP 4</a:t>
            </a:r>
            <a:endParaRPr lang="en-US" sz="1000" dirty="0"/>
          </a:p>
        </p:txBody>
      </p:sp>
      <p:sp>
        <p:nvSpPr>
          <p:cNvPr id="28" name="Text 22"/>
          <p:cNvSpPr txBox="1"/>
          <p:nvPr/>
        </p:nvSpPr>
        <p:spPr>
          <a:xfrm>
            <a:off x="6135441" y="3200400"/>
            <a:ext cx="1828800" cy="365760"/>
          </a:xfrm>
          <a:prstGeom prst="rect">
            <a:avLst/>
          </a:prstGeom>
          <a:noFill/>
          <a:ln/>
        </p:spPr>
        <p:txBody>
          <a:bodyPr wrap="square" lIns="0" tIns="0" rIns="0" bIns="0" rtlCol="0" anchor="t"/>
          <a:lstStyle/>
          <a:p>
            <a:pPr algn="ctr" indent="0" marL="0">
              <a:buNone/>
            </a:pPr>
            <a:r>
              <a:rPr lang="en-US" sz="1600" b="1" dirty="0">
                <a:solidFill>
                  <a:srgbClr val="0F172A"/>
                </a:solidFill>
                <a:latin typeface="Arial" pitchFamily="34" charset="0"/>
                <a:ea typeface="Arial" pitchFamily="34" charset="-122"/>
                <a:cs typeface="Arial" pitchFamily="34" charset="-120"/>
              </a:rPr>
              <a:t>Map-match</a:t>
            </a:r>
            <a:endParaRPr lang="en-US" sz="1600" dirty="0"/>
          </a:p>
        </p:txBody>
      </p:sp>
      <p:sp>
        <p:nvSpPr>
          <p:cNvPr id="29" name="Text 23"/>
          <p:cNvSpPr txBox="1"/>
          <p:nvPr/>
        </p:nvSpPr>
        <p:spPr>
          <a:xfrm>
            <a:off x="6153729" y="3611880"/>
            <a:ext cx="1792224" cy="914400"/>
          </a:xfrm>
          <a:prstGeom prst="rect">
            <a:avLst/>
          </a:prstGeom>
          <a:noFill/>
          <a:ln/>
        </p:spPr>
        <p:txBody>
          <a:bodyPr wrap="square" lIns="0" tIns="0" rIns="0" bIns="0" rtlCol="0" anchor="t"/>
          <a:lstStyle/>
          <a:p>
            <a:pPr algn="ctr" indent="0" marL="0">
              <a:buNone/>
            </a:pPr>
            <a:r>
              <a:rPr lang="en-US" sz="1300" dirty="0">
                <a:solidFill>
                  <a:srgbClr val="475569"/>
                </a:solidFill>
                <a:latin typeface="Calibri" pitchFamily="34" charset="0"/>
                <a:ea typeface="Calibri" pitchFamily="34" charset="-122"/>
                <a:cs typeface="Calibri" pitchFamily="34" charset="-120"/>
              </a:rPr>
              <a:t>Each fix is snapped to the nearest point on the road.</a:t>
            </a:r>
            <a:endParaRPr lang="en-US" sz="1300" dirty="0"/>
          </a:p>
        </p:txBody>
      </p:sp>
      <p:sp>
        <p:nvSpPr>
          <p:cNvPr id="30" name="Shape 24"/>
          <p:cNvSpPr/>
          <p:nvPr/>
        </p:nvSpPr>
        <p:spPr>
          <a:xfrm>
            <a:off x="8500628" y="1874520"/>
            <a:ext cx="914400" cy="914400"/>
          </a:xfrm>
          <a:prstGeom prst="ellipse">
            <a:avLst/>
          </a:prstGeom>
          <a:solidFill>
            <a:srgbClr val="0B1B33"/>
          </a:solidFill>
          <a:ln w="12700">
            <a:solidFill>
              <a:srgbClr val="0B1B33"/>
            </a:solidFill>
            <a:prstDash val="solid"/>
          </a:ln>
        </p:spPr>
      </p:sp>
      <p:pic>
        <p:nvPicPr>
          <p:cNvPr id="31" name="Image 4" descr="preencoded.png">    </p:cNvPr>
          <p:cNvPicPr>
            <a:picLocks noChangeAspect="1"/>
          </p:cNvPicPr>
          <p:nvPr/>
        </p:nvPicPr>
        <p:blipFill>
          <a:blip r:embed="rId5"/>
          <a:stretch>
            <a:fillRect/>
          </a:stretch>
        </p:blipFill>
        <p:spPr>
          <a:xfrm>
            <a:off x="8729228" y="2103120"/>
            <a:ext cx="457200" cy="457200"/>
          </a:xfrm>
          <a:prstGeom prst="rect">
            <a:avLst/>
          </a:prstGeom>
        </p:spPr>
      </p:pic>
      <p:sp>
        <p:nvSpPr>
          <p:cNvPr id="32" name="Shape 25"/>
          <p:cNvSpPr/>
          <p:nvPr/>
        </p:nvSpPr>
        <p:spPr>
          <a:xfrm>
            <a:off x="9524756" y="2331720"/>
            <a:ext cx="774131" cy="0"/>
          </a:xfrm>
          <a:prstGeom prst="line">
            <a:avLst/>
          </a:prstGeom>
          <a:noFill/>
          <a:ln w="25400">
            <a:solidFill>
              <a:srgbClr val="94A3B8"/>
            </a:solidFill>
            <a:prstDash val="solid"/>
            <a:tailEnd type="triangle"/>
          </a:ln>
        </p:spPr>
      </p:sp>
      <p:sp>
        <p:nvSpPr>
          <p:cNvPr id="33" name="Text 26"/>
          <p:cNvSpPr txBox="1"/>
          <p:nvPr/>
        </p:nvSpPr>
        <p:spPr>
          <a:xfrm>
            <a:off x="8043428" y="2926080"/>
            <a:ext cx="1828800" cy="274320"/>
          </a:xfrm>
          <a:prstGeom prst="rect">
            <a:avLst/>
          </a:prstGeom>
          <a:noFill/>
          <a:ln/>
        </p:spPr>
        <p:txBody>
          <a:bodyPr wrap="square" lIns="0" tIns="0" rIns="0" bIns="0" rtlCol="0" anchor="t"/>
          <a:lstStyle/>
          <a:p>
            <a:pPr algn="ctr" indent="0" marL="0">
              <a:buNone/>
            </a:pPr>
            <a:r>
              <a:rPr lang="en-US" sz="1000" b="1" spc="200" kern="0" dirty="0">
                <a:solidFill>
                  <a:srgbClr val="EB6834"/>
                </a:solidFill>
                <a:latin typeface="Arial" pitchFamily="34" charset="0"/>
                <a:ea typeface="Arial" pitchFamily="34" charset="-122"/>
                <a:cs typeface="Arial" pitchFamily="34" charset="-120"/>
              </a:rPr>
              <a:t>STEP 5</a:t>
            </a:r>
            <a:endParaRPr lang="en-US" sz="1000" dirty="0"/>
          </a:p>
        </p:txBody>
      </p:sp>
      <p:sp>
        <p:nvSpPr>
          <p:cNvPr id="34" name="Text 27"/>
          <p:cNvSpPr txBox="1"/>
          <p:nvPr/>
        </p:nvSpPr>
        <p:spPr>
          <a:xfrm>
            <a:off x="8043428" y="3200400"/>
            <a:ext cx="1828800" cy="365760"/>
          </a:xfrm>
          <a:prstGeom prst="rect">
            <a:avLst/>
          </a:prstGeom>
          <a:noFill/>
          <a:ln/>
        </p:spPr>
        <p:txBody>
          <a:bodyPr wrap="square" lIns="0" tIns="0" rIns="0" bIns="0" rtlCol="0" anchor="t"/>
          <a:lstStyle/>
          <a:p>
            <a:pPr algn="ctr" indent="0" marL="0">
              <a:buNone/>
            </a:pPr>
            <a:r>
              <a:rPr lang="en-US" sz="1600" b="1" dirty="0">
                <a:solidFill>
                  <a:srgbClr val="0F172A"/>
                </a:solidFill>
                <a:latin typeface="Arial" pitchFamily="34" charset="0"/>
                <a:ea typeface="Arial" pitchFamily="34" charset="-122"/>
                <a:cs typeface="Arial" pitchFamily="34" charset="-120"/>
              </a:rPr>
              <a:t>Detect zones</a:t>
            </a:r>
            <a:endParaRPr lang="en-US" sz="1600" dirty="0"/>
          </a:p>
        </p:txBody>
      </p:sp>
      <p:sp>
        <p:nvSpPr>
          <p:cNvPr id="35" name="Text 28"/>
          <p:cNvSpPr txBox="1"/>
          <p:nvPr/>
        </p:nvSpPr>
        <p:spPr>
          <a:xfrm>
            <a:off x="8061716" y="3611880"/>
            <a:ext cx="1792224" cy="914400"/>
          </a:xfrm>
          <a:prstGeom prst="rect">
            <a:avLst/>
          </a:prstGeom>
          <a:noFill/>
          <a:ln/>
        </p:spPr>
        <p:txBody>
          <a:bodyPr wrap="square" lIns="0" tIns="0" rIns="0" bIns="0" rtlCol="0" anchor="t"/>
          <a:lstStyle/>
          <a:p>
            <a:pPr algn="ctr" indent="0" marL="0">
              <a:buNone/>
            </a:pPr>
            <a:r>
              <a:rPr lang="en-US" sz="1300" dirty="0">
                <a:solidFill>
                  <a:srgbClr val="475569"/>
                </a:solidFill>
                <a:latin typeface="Calibri" pitchFamily="34" charset="0"/>
                <a:ea typeface="Calibri" pitchFamily="34" charset="-122"/>
                <a:cs typeface="Calibri" pitchFamily="34" charset="-120"/>
              </a:rPr>
              <a:t>Crossing a zone boundary logs an entry or exit.</a:t>
            </a:r>
            <a:endParaRPr lang="en-US" sz="1300" dirty="0"/>
          </a:p>
        </p:txBody>
      </p:sp>
      <p:sp>
        <p:nvSpPr>
          <p:cNvPr id="36" name="Shape 29"/>
          <p:cNvSpPr/>
          <p:nvPr/>
        </p:nvSpPr>
        <p:spPr>
          <a:xfrm>
            <a:off x="10408615" y="1874520"/>
            <a:ext cx="914400" cy="914400"/>
          </a:xfrm>
          <a:prstGeom prst="ellipse">
            <a:avLst/>
          </a:prstGeom>
          <a:solidFill>
            <a:srgbClr val="EB6834"/>
          </a:solidFill>
          <a:ln w="12700">
            <a:solidFill>
              <a:srgbClr val="EB6834"/>
            </a:solidFill>
            <a:prstDash val="solid"/>
          </a:ln>
        </p:spPr>
      </p:sp>
      <p:pic>
        <p:nvPicPr>
          <p:cNvPr id="37" name="Image 5" descr="preencoded.png">    </p:cNvPr>
          <p:cNvPicPr>
            <a:picLocks noChangeAspect="1"/>
          </p:cNvPicPr>
          <p:nvPr/>
        </p:nvPicPr>
        <p:blipFill>
          <a:blip r:embed="rId6"/>
          <a:stretch>
            <a:fillRect/>
          </a:stretch>
        </p:blipFill>
        <p:spPr>
          <a:xfrm>
            <a:off x="10637215" y="2103120"/>
            <a:ext cx="457200" cy="457200"/>
          </a:xfrm>
          <a:prstGeom prst="rect">
            <a:avLst/>
          </a:prstGeom>
        </p:spPr>
      </p:pic>
      <p:sp>
        <p:nvSpPr>
          <p:cNvPr id="38" name="Text 30"/>
          <p:cNvSpPr txBox="1"/>
          <p:nvPr/>
        </p:nvSpPr>
        <p:spPr>
          <a:xfrm>
            <a:off x="9951415" y="2926080"/>
            <a:ext cx="1828800" cy="274320"/>
          </a:xfrm>
          <a:prstGeom prst="rect">
            <a:avLst/>
          </a:prstGeom>
          <a:noFill/>
          <a:ln/>
        </p:spPr>
        <p:txBody>
          <a:bodyPr wrap="square" lIns="0" tIns="0" rIns="0" bIns="0" rtlCol="0" anchor="t"/>
          <a:lstStyle/>
          <a:p>
            <a:pPr algn="ctr" indent="0" marL="0">
              <a:buNone/>
            </a:pPr>
            <a:r>
              <a:rPr lang="en-US" sz="1000" b="1" spc="200" kern="0" dirty="0">
                <a:solidFill>
                  <a:srgbClr val="EB6834"/>
                </a:solidFill>
                <a:latin typeface="Arial" pitchFamily="34" charset="0"/>
                <a:ea typeface="Arial" pitchFamily="34" charset="-122"/>
                <a:cs typeface="Arial" pitchFamily="34" charset="-120"/>
              </a:rPr>
              <a:t>STEP 6</a:t>
            </a:r>
            <a:endParaRPr lang="en-US" sz="1000" dirty="0"/>
          </a:p>
        </p:txBody>
      </p:sp>
      <p:sp>
        <p:nvSpPr>
          <p:cNvPr id="39" name="Text 31"/>
          <p:cNvSpPr txBox="1"/>
          <p:nvPr/>
        </p:nvSpPr>
        <p:spPr>
          <a:xfrm>
            <a:off x="9951415" y="3200400"/>
            <a:ext cx="1828800" cy="365760"/>
          </a:xfrm>
          <a:prstGeom prst="rect">
            <a:avLst/>
          </a:prstGeom>
          <a:noFill/>
          <a:ln/>
        </p:spPr>
        <p:txBody>
          <a:bodyPr wrap="square" lIns="0" tIns="0" rIns="0" bIns="0" rtlCol="0" anchor="t"/>
          <a:lstStyle/>
          <a:p>
            <a:pPr algn="ctr" indent="0" marL="0">
              <a:buNone/>
            </a:pPr>
            <a:r>
              <a:rPr lang="en-US" sz="1600" b="1" dirty="0">
                <a:solidFill>
                  <a:srgbClr val="0F172A"/>
                </a:solidFill>
                <a:latin typeface="Arial" pitchFamily="34" charset="0"/>
                <a:ea typeface="Arial" pitchFamily="34" charset="-122"/>
                <a:cs typeface="Arial" pitchFamily="34" charset="-120"/>
              </a:rPr>
              <a:t>Bill and save</a:t>
            </a:r>
            <a:endParaRPr lang="en-US" sz="1600" dirty="0"/>
          </a:p>
        </p:txBody>
      </p:sp>
      <p:sp>
        <p:nvSpPr>
          <p:cNvPr id="40" name="Text 32"/>
          <p:cNvSpPr txBox="1"/>
          <p:nvPr/>
        </p:nvSpPr>
        <p:spPr>
          <a:xfrm>
            <a:off x="9969703" y="3611880"/>
            <a:ext cx="1792224" cy="914400"/>
          </a:xfrm>
          <a:prstGeom prst="rect">
            <a:avLst/>
          </a:prstGeom>
          <a:noFill/>
          <a:ln/>
        </p:spPr>
        <p:txBody>
          <a:bodyPr wrap="square" lIns="0" tIns="0" rIns="0" bIns="0" rtlCol="0" anchor="t"/>
          <a:lstStyle/>
          <a:p>
            <a:pPr algn="ctr" indent="0" marL="0">
              <a:buNone/>
            </a:pPr>
            <a:r>
              <a:rPr lang="en-US" sz="1300" dirty="0">
                <a:solidFill>
                  <a:srgbClr val="475569"/>
                </a:solidFill>
                <a:latin typeface="Calibri" pitchFamily="34" charset="0"/>
                <a:ea typeface="Calibri" pitchFamily="34" charset="-122"/>
                <a:cs typeface="Calibri" pitchFamily="34" charset="-120"/>
              </a:rPr>
              <a:t>Receipt issued and the trip saved to SQLite.</a:t>
            </a:r>
            <a:endParaRPr lang="en-US" sz="1300" dirty="0"/>
          </a:p>
        </p:txBody>
      </p:sp>
      <p:sp>
        <p:nvSpPr>
          <p:cNvPr id="41" name="Shape 33"/>
          <p:cNvSpPr/>
          <p:nvPr/>
        </p:nvSpPr>
        <p:spPr>
          <a:xfrm>
            <a:off x="548640" y="4617720"/>
            <a:ext cx="11094415" cy="1325880"/>
          </a:xfrm>
          <a:prstGeom prst="roundRect">
            <a:avLst>
              <a:gd name="adj" fmla="val 5517"/>
            </a:avLst>
          </a:prstGeom>
          <a:solidFill>
            <a:srgbClr val="0B1B33"/>
          </a:solidFill>
          <a:ln w="12700">
            <a:solidFill>
              <a:srgbClr val="0B1B33"/>
            </a:solidFill>
            <a:prstDash val="solid"/>
          </a:ln>
        </p:spPr>
      </p:sp>
      <p:sp>
        <p:nvSpPr>
          <p:cNvPr id="42" name="Text 34"/>
          <p:cNvSpPr txBox="1"/>
          <p:nvPr/>
        </p:nvSpPr>
        <p:spPr>
          <a:xfrm>
            <a:off x="868680" y="4818888"/>
            <a:ext cx="3657600" cy="274320"/>
          </a:xfrm>
          <a:prstGeom prst="rect">
            <a:avLst/>
          </a:prstGeom>
          <a:noFill/>
          <a:ln/>
        </p:spPr>
        <p:txBody>
          <a:bodyPr wrap="square" lIns="0" tIns="0" rIns="0" bIns="0" rtlCol="0" anchor="t"/>
          <a:lstStyle/>
          <a:p>
            <a:pPr indent="0" marL="0">
              <a:buNone/>
            </a:pPr>
            <a:r>
              <a:rPr lang="en-US" sz="1100" b="1" spc="200" kern="0" dirty="0">
                <a:solidFill>
                  <a:srgbClr val="EB6834"/>
                </a:solidFill>
                <a:latin typeface="Arial" pitchFamily="34" charset="0"/>
                <a:ea typeface="Arial" pitchFamily="34" charset="-122"/>
                <a:cs typeface="Arial" pitchFamily="34" charset="-120"/>
              </a:rPr>
              <a:t>TOLL FORMULA</a:t>
            </a:r>
            <a:endParaRPr lang="en-US" sz="1100" dirty="0"/>
          </a:p>
        </p:txBody>
      </p:sp>
      <p:sp>
        <p:nvSpPr>
          <p:cNvPr id="43" name="Text 35"/>
          <p:cNvSpPr txBox="1"/>
          <p:nvPr/>
        </p:nvSpPr>
        <p:spPr>
          <a:xfrm>
            <a:off x="868680" y="5138928"/>
            <a:ext cx="1042416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Toll = Σ</a:t>
            </a:r>
            <a:pPr indent="0" marL="0">
              <a:buNone/>
            </a:pPr>
            <a:r>
              <a:rPr lang="en-US" sz="2100" dirty="0">
                <a:solidFill>
                  <a:srgbClr val="FFFFFF"/>
                </a:solidFill>
                <a:latin typeface="Calibri" pitchFamily="34" charset="0"/>
                <a:ea typeface="Calibri" pitchFamily="34" charset="-122"/>
                <a:cs typeface="Calibri" pitchFamily="34" charset="-120"/>
              </a:rPr>
              <a:t>  (km driven in zone × plaza fee ÷ tollable length)  </a:t>
            </a:r>
            <a:pPr indent="0" marL="0">
              <a:buNone/>
            </a:pPr>
            <a:r>
              <a:rPr lang="en-US" sz="2100" b="1" dirty="0">
                <a:solidFill>
                  <a:srgbClr val="5AA0F0"/>
                </a:solidFill>
                <a:latin typeface="Calibri" pitchFamily="34" charset="0"/>
                <a:ea typeface="Calibri" pitchFamily="34" charset="-122"/>
                <a:cs typeface="Calibri" pitchFamily="34" charset="-120"/>
              </a:rPr>
              <a:t>− first 20 km free</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GPS Toll-Based System Simulation</a:t>
            </a:r>
            <a:endParaRPr lang="en-US" sz="1000" dirty="0"/>
          </a:p>
        </p:txBody>
      </p:sp>
      <p:sp>
        <p:nvSpPr>
          <p:cNvPr id="3" name="Text 1"/>
          <p:cNvSpPr txBox="1"/>
          <p:nvPr/>
        </p:nvSpPr>
        <p:spPr>
          <a:xfrm>
            <a:off x="10271455" y="6400800"/>
            <a:ext cx="13716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6 / 17</a:t>
            </a:r>
            <a:endParaRPr lang="en-US" sz="1000" dirty="0"/>
          </a:p>
        </p:txBody>
      </p:sp>
      <p:sp>
        <p:nvSpPr>
          <p:cNvPr id="4" name="Text 2"/>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300" kern="0" dirty="0">
                <a:solidFill>
                  <a:srgbClr val="EB6834"/>
                </a:solidFill>
                <a:latin typeface="Arial" pitchFamily="34" charset="0"/>
                <a:ea typeface="Arial" pitchFamily="34" charset="-122"/>
                <a:cs typeface="Arial" pitchFamily="34" charset="-120"/>
              </a:rPr>
              <a:t>REAL DATA</a:t>
            </a:r>
            <a:endParaRPr lang="en-US" sz="1200" dirty="0"/>
          </a:p>
        </p:txBody>
      </p:sp>
      <p:sp>
        <p:nvSpPr>
          <p:cNvPr id="5" name="Text 3"/>
          <p:cNvSpPr txBox="1"/>
          <p:nvPr/>
        </p:nvSpPr>
        <p:spPr>
          <a:xfrm>
            <a:off x="548640" y="676656"/>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A real 362 km corridor with 8 toll plazas</a:t>
            </a:r>
            <a:endParaRPr lang="en-US" sz="3000" dirty="0"/>
          </a:p>
        </p:txBody>
      </p:sp>
      <p:sp>
        <p:nvSpPr>
          <p:cNvPr id="6" name="Shape 4"/>
          <p:cNvSpPr/>
          <p:nvPr/>
        </p:nvSpPr>
        <p:spPr>
          <a:xfrm>
            <a:off x="530352" y="1536192"/>
            <a:ext cx="5705856" cy="4764024"/>
          </a:xfrm>
          <a:prstGeom prst="rect">
            <a:avLst/>
          </a:prstGeom>
          <a:solidFill>
            <a:srgbClr val="FFFFFF"/>
          </a:solidFill>
          <a:ln w="12700">
            <a:solidFill>
              <a:srgbClr val="E2E8F0"/>
            </a:solidFill>
            <a:prstDash val="solid"/>
          </a:ln>
          <a:effectLst>
            <a:outerShdw sx="100000" sy="100000" kx="0" ky="0" algn="bl" rotWithShape="0" blurRad="127000" dist="25400" dir="5400000">
              <a:srgbClr val="000000">
                <a:alpha val="14000"/>
              </a:srgbClr>
            </a:outerShdw>
          </a:effectLst>
        </p:spPr>
      </p:sp>
      <p:pic>
        <p:nvPicPr>
          <p:cNvPr id="7" name="Image 0" descr="/home/user/gps-toll-system/docs/screenshots/route.png">    </p:cNvPr>
          <p:cNvPicPr>
            <a:picLocks noChangeAspect="1"/>
          </p:cNvPicPr>
          <p:nvPr/>
        </p:nvPicPr>
        <p:blipFill>
          <a:blip r:embed="rId1"/>
          <a:stretch>
            <a:fillRect/>
          </a:stretch>
        </p:blipFill>
        <p:spPr>
          <a:xfrm>
            <a:off x="548640" y="1554480"/>
            <a:ext cx="5669280" cy="4727448"/>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629400" y="1600200"/>
          <a:ext cx="5010912" cy="914400"/>
        </p:xfrm>
        <a:graphic>
          <a:graphicData uri="http://schemas.openxmlformats.org/drawingml/2006/table">
            <a:tbl>
              <a:tblPr/>
              <a:tblGrid>
                <a:gridCol w="1828800"/>
                <a:gridCol w="1417320"/>
                <a:gridCol w="868680"/>
                <a:gridCol w="896112"/>
              </a:tblGrid>
              <a:tr h="384048">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Toll plaza</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0B1B33"/>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Zone (km)</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0B1B33"/>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Car fee</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0B1B33"/>
                    </a:solidFill>
                  </a:tcPr>
                </a:tc>
                <a:tc>
                  <a:txBody>
                    <a:bodyPr/>
                    <a:lstStyle/>
                    <a:p>
                      <a:pPr algn="r" indent="0" marL="0">
                        <a:buNone/>
                      </a:pPr>
                      <a:r>
                        <a:rPr lang="en-US" sz="1200" b="1" dirty="0">
                          <a:solidFill>
                            <a:srgbClr val="FFFFFF"/>
                          </a:solidFill>
                          <a:latin typeface="Arial" pitchFamily="34" charset="0"/>
                          <a:ea typeface="Arial" pitchFamily="34" charset="-122"/>
                          <a:cs typeface="Arial" pitchFamily="34" charset="-120"/>
                        </a:rPr>
                        <a:t>₹ / km</a:t>
                      </a:r>
                      <a:endParaRPr lang="en-US" sz="1200" dirty="0">
                        <a:latin typeface="Arial" charset="0"/>
                        <a:ea typeface="Arial" charset="0"/>
                        <a:cs typeface="Arial"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0B1B33"/>
                    </a:solidFill>
                  </a:tcPr>
                </a:tc>
              </a:tr>
              <a:tr h="38404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Kaniyur</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2.6 – 45.3</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r" indent="0" marL="0">
                        <a:buNone/>
                      </a:pPr>
                      <a:r>
                        <a:rPr lang="en-US" sz="1300" dirty="0">
                          <a:solidFill>
                            <a:srgbClr val="0F172A"/>
                          </a:solidFill>
                          <a:latin typeface="Calibri" pitchFamily="34" charset="0"/>
                          <a:ea typeface="Calibri" pitchFamily="34" charset="-122"/>
                          <a:cs typeface="Calibri" pitchFamily="34" charset="-120"/>
                        </a:rPr>
                        <a:t>₹125</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r" indent="0" marL="0">
                        <a:buNone/>
                      </a:pPr>
                      <a:r>
                        <a:rPr lang="en-US" sz="1300" dirty="0">
                          <a:solidFill>
                            <a:srgbClr val="0F172A"/>
                          </a:solidFill>
                          <a:latin typeface="Calibri" pitchFamily="34" charset="0"/>
                          <a:ea typeface="Calibri" pitchFamily="34" charset="-122"/>
                          <a:cs typeface="Calibri" pitchFamily="34" charset="-120"/>
                        </a:rPr>
                        <a:t>2.93</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1F5F9"/>
                    </a:solidFill>
                  </a:tcPr>
                </a:tc>
              </a:tr>
              <a:tr h="38404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Vijayamangalam</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48.3 – 96.8</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0F172A"/>
                          </a:solidFill>
                          <a:latin typeface="Calibri" pitchFamily="34" charset="0"/>
                          <a:ea typeface="Calibri" pitchFamily="34" charset="-122"/>
                          <a:cs typeface="Calibri" pitchFamily="34" charset="-120"/>
                        </a:rPr>
                        <a:t>₹65</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0F172A"/>
                          </a:solidFill>
                          <a:latin typeface="Calibri" pitchFamily="34" charset="0"/>
                          <a:ea typeface="Calibri" pitchFamily="34" charset="-122"/>
                          <a:cs typeface="Calibri" pitchFamily="34" charset="-120"/>
                        </a:rPr>
                        <a:t>1.34</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Vaiguntham</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106.3 – 148.6</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r" indent="0" marL="0">
                        <a:buNone/>
                      </a:pPr>
                      <a:r>
                        <a:rPr lang="en-US" sz="1300" dirty="0">
                          <a:solidFill>
                            <a:srgbClr val="0F172A"/>
                          </a:solidFill>
                          <a:latin typeface="Calibri" pitchFamily="34" charset="0"/>
                          <a:ea typeface="Calibri" pitchFamily="34" charset="-122"/>
                          <a:cs typeface="Calibri" pitchFamily="34" charset="-120"/>
                        </a:rPr>
                        <a:t>₹75</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r" indent="0" marL="0">
                        <a:buNone/>
                      </a:pPr>
                      <a:r>
                        <a:rPr lang="en-US" sz="1300" dirty="0">
                          <a:solidFill>
                            <a:srgbClr val="0F172A"/>
                          </a:solidFill>
                          <a:latin typeface="Calibri" pitchFamily="34" charset="0"/>
                          <a:ea typeface="Calibri" pitchFamily="34" charset="-122"/>
                          <a:cs typeface="Calibri" pitchFamily="34" charset="-120"/>
                        </a:rPr>
                        <a:t>1.40</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1F5F9"/>
                    </a:solidFill>
                  </a:tcPr>
                </a:tc>
              </a:tr>
              <a:tr h="38404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Omalur</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148.6 – 186.1</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0F172A"/>
                          </a:solidFill>
                          <a:latin typeface="Calibri" pitchFamily="34" charset="0"/>
                          <a:ea typeface="Calibri" pitchFamily="34" charset="-122"/>
                          <a:cs typeface="Calibri" pitchFamily="34" charset="-120"/>
                        </a:rPr>
                        <a:t>₹95</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0F172A"/>
                          </a:solidFill>
                          <a:latin typeface="Calibri" pitchFamily="34" charset="0"/>
                          <a:ea typeface="Calibri" pitchFamily="34" charset="-122"/>
                          <a:cs typeface="Calibri" pitchFamily="34" charset="-120"/>
                        </a:rPr>
                        <a:t>1.38</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Thoppur</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186.1 – 248.5</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r" indent="0" marL="0">
                        <a:buNone/>
                      </a:pPr>
                      <a:r>
                        <a:rPr lang="en-US" sz="1300" dirty="0">
                          <a:solidFill>
                            <a:srgbClr val="0F172A"/>
                          </a:solidFill>
                          <a:latin typeface="Calibri" pitchFamily="34" charset="0"/>
                          <a:ea typeface="Calibri" pitchFamily="34" charset="-122"/>
                          <a:cs typeface="Calibri" pitchFamily="34" charset="-120"/>
                        </a:rPr>
                        <a:t>₹160</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r" indent="0" marL="0">
                        <a:buNone/>
                      </a:pPr>
                      <a:r>
                        <a:rPr lang="en-US" sz="1300" dirty="0">
                          <a:solidFill>
                            <a:srgbClr val="0F172A"/>
                          </a:solidFill>
                          <a:latin typeface="Calibri" pitchFamily="34" charset="0"/>
                          <a:ea typeface="Calibri" pitchFamily="34" charset="-122"/>
                          <a:cs typeface="Calibri" pitchFamily="34" charset="-120"/>
                        </a:rPr>
                        <a:t>1.86</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1F5F9"/>
                    </a:solidFill>
                  </a:tcPr>
                </a:tc>
              </a:tr>
              <a:tr h="38404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Krishnagiri</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248.5 – 304.6</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0F172A"/>
                          </a:solidFill>
                          <a:latin typeface="Calibri" pitchFamily="34" charset="0"/>
                          <a:ea typeface="Calibri" pitchFamily="34" charset="-122"/>
                          <a:cs typeface="Calibri" pitchFamily="34" charset="-120"/>
                        </a:rPr>
                        <a:t>₹95</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0F172A"/>
                          </a:solidFill>
                          <a:latin typeface="Calibri" pitchFamily="34" charset="0"/>
                          <a:ea typeface="Calibri" pitchFamily="34" charset="-122"/>
                          <a:cs typeface="Calibri" pitchFamily="34" charset="-120"/>
                        </a:rPr>
                        <a:t>1.59</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Attibele</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322.3 – 336.7</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r" indent="0" marL="0">
                        <a:buNone/>
                      </a:pPr>
                      <a:r>
                        <a:rPr lang="en-US" sz="1300" dirty="0">
                          <a:solidFill>
                            <a:srgbClr val="0F172A"/>
                          </a:solidFill>
                          <a:latin typeface="Calibri" pitchFamily="34" charset="0"/>
                          <a:ea typeface="Calibri" pitchFamily="34" charset="-122"/>
                          <a:cs typeface="Calibri" pitchFamily="34" charset="-120"/>
                        </a:rPr>
                        <a:t>₹35</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r" indent="0" marL="0">
                        <a:buNone/>
                      </a:pPr>
                      <a:r>
                        <a:rPr lang="en-US" sz="1300" dirty="0">
                          <a:solidFill>
                            <a:srgbClr val="0F172A"/>
                          </a:solidFill>
                          <a:latin typeface="Calibri" pitchFamily="34" charset="0"/>
                          <a:ea typeface="Calibri" pitchFamily="34" charset="-122"/>
                          <a:cs typeface="Calibri" pitchFamily="34" charset="-120"/>
                        </a:rPr>
                        <a:t>2.43</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1F5F9"/>
                    </a:solidFill>
                  </a:tcPr>
                </a:tc>
              </a:tr>
              <a:tr h="38404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Electronic City</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338.5 – 348.5</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0F172A"/>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0F172A"/>
                          </a:solidFill>
                          <a:latin typeface="Calibri" pitchFamily="34" charset="0"/>
                          <a:ea typeface="Calibri" pitchFamily="34" charset="-122"/>
                          <a:cs typeface="Calibri" pitchFamily="34" charset="-120"/>
                        </a:rPr>
                        <a:t>6.00</a:t>
                      </a:r>
                      <a:endParaRPr lang="en-US" sz="1300" dirty="0">
                        <a:latin typeface="Calibri" charset="0"/>
                        <a:ea typeface="Calibri" charset="0"/>
                        <a:cs typeface="Calibri" charset="0"/>
                      </a:endParaRPr>
                    </a:p>
                  </a:txBody>
                  <a:tcPr marL="91440" marR="91440"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9" name="Text 5"/>
          <p:cNvSpPr txBox="1"/>
          <p:nvPr/>
        </p:nvSpPr>
        <p:spPr>
          <a:xfrm>
            <a:off x="6629400" y="5257800"/>
            <a:ext cx="5010912" cy="7315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Road geometry and plaza positions from OpenStreetMap. Fees and tollable lengths from NHAI's Toll Information System.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GPS Toll-Based System Simulation</a:t>
            </a:r>
            <a:endParaRPr lang="en-US" sz="1000" dirty="0"/>
          </a:p>
        </p:txBody>
      </p:sp>
      <p:sp>
        <p:nvSpPr>
          <p:cNvPr id="3" name="Text 1"/>
          <p:cNvSpPr txBox="1"/>
          <p:nvPr/>
        </p:nvSpPr>
        <p:spPr>
          <a:xfrm>
            <a:off x="10271455" y="6400800"/>
            <a:ext cx="13716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7 / 17</a:t>
            </a:r>
            <a:endParaRPr lang="en-US" sz="1000" dirty="0"/>
          </a:p>
        </p:txBody>
      </p:sp>
      <p:sp>
        <p:nvSpPr>
          <p:cNvPr id="4" name="Text 2"/>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300" kern="0" dirty="0">
                <a:solidFill>
                  <a:srgbClr val="EB6834"/>
                </a:solidFill>
                <a:latin typeface="Arial" pitchFamily="34" charset="0"/>
                <a:ea typeface="Arial" pitchFamily="34" charset="-122"/>
                <a:cs typeface="Arial" pitchFamily="34" charset="-120"/>
              </a:rPr>
              <a:t>WORKED EXAMPLE</a:t>
            </a:r>
            <a:endParaRPr lang="en-US" sz="1200" dirty="0"/>
          </a:p>
        </p:txBody>
      </p:sp>
      <p:sp>
        <p:nvSpPr>
          <p:cNvPr id="5" name="Text 3"/>
          <p:cNvSpPr txBox="1"/>
          <p:nvPr/>
        </p:nvSpPr>
        <p:spPr>
          <a:xfrm>
            <a:off x="548640" y="676656"/>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A car from Coimbatore to Bangalore pays 24% less</a:t>
            </a:r>
            <a:endParaRPr lang="en-US" sz="3000" dirty="0"/>
          </a:p>
        </p:txBody>
      </p:sp>
      <p:graphicFrame>
        <p:nvGraphicFramePr>
          <p:cNvPr id="6" name="Chart 0" descr=""/>
          <p:cNvGraphicFramePr/>
          <p:nvPr/>
        </p:nvGraphicFramePr>
        <p:xfrm>
          <a:off x="548640" y="150876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863840" y="1600200"/>
            <a:ext cx="3776472" cy="1280160"/>
          </a:xfrm>
          <a:prstGeom prst="roundRect">
            <a:avLst>
              <a:gd name="adj" fmla="val 5714"/>
            </a:avLst>
          </a:prstGeom>
          <a:solidFill>
            <a:srgbClr val="E3EEFB"/>
          </a:solidFill>
          <a:ln w="12700">
            <a:solidFill>
              <a:srgbClr val="E3EEFB"/>
            </a:solidFill>
            <a:prstDash val="solid"/>
          </a:ln>
        </p:spPr>
      </p:sp>
      <p:sp>
        <p:nvSpPr>
          <p:cNvPr id="8" name="Text 5"/>
          <p:cNvSpPr txBox="1"/>
          <p:nvPr/>
        </p:nvSpPr>
        <p:spPr>
          <a:xfrm>
            <a:off x="8138160" y="1755648"/>
            <a:ext cx="3291840" cy="594360"/>
          </a:xfrm>
          <a:prstGeom prst="rect">
            <a:avLst/>
          </a:prstGeom>
          <a:noFill/>
          <a:ln/>
        </p:spPr>
        <p:txBody>
          <a:bodyPr wrap="square" lIns="0" tIns="0" rIns="0" bIns="0" rtlCol="0" anchor="t"/>
          <a:lstStyle/>
          <a:p>
            <a:pPr indent="0" marL="0">
              <a:buNone/>
            </a:pPr>
            <a:r>
              <a:rPr lang="en-US" sz="3400" b="1" dirty="0">
                <a:solidFill>
                  <a:srgbClr val="2A78D6"/>
                </a:solidFill>
                <a:latin typeface="Arial" pitchFamily="34" charset="0"/>
                <a:ea typeface="Arial" pitchFamily="34" charset="-122"/>
                <a:cs typeface="Arial" pitchFamily="34" charset="-120"/>
              </a:rPr>
              <a:t>₹542.63</a:t>
            </a:r>
            <a:endParaRPr lang="en-US" sz="3400" dirty="0"/>
          </a:p>
        </p:txBody>
      </p:sp>
      <p:sp>
        <p:nvSpPr>
          <p:cNvPr id="9" name="Text 6"/>
          <p:cNvSpPr txBox="1"/>
          <p:nvPr/>
        </p:nvSpPr>
        <p:spPr>
          <a:xfrm>
            <a:off x="8138160" y="2377440"/>
            <a:ext cx="3291840" cy="32004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GNSS toll: 313.8 km in toll zones</a:t>
            </a:r>
            <a:endParaRPr lang="en-US" sz="1400" dirty="0"/>
          </a:p>
        </p:txBody>
      </p:sp>
      <p:sp>
        <p:nvSpPr>
          <p:cNvPr id="10" name="Shape 7"/>
          <p:cNvSpPr/>
          <p:nvPr/>
        </p:nvSpPr>
        <p:spPr>
          <a:xfrm>
            <a:off x="7863840" y="3017520"/>
            <a:ext cx="3776472" cy="1280160"/>
          </a:xfrm>
          <a:prstGeom prst="roundRect">
            <a:avLst>
              <a:gd name="adj" fmla="val 5714"/>
            </a:avLst>
          </a:prstGeom>
          <a:solidFill>
            <a:srgbClr val="FCE7DD"/>
          </a:solidFill>
          <a:ln w="12700">
            <a:solidFill>
              <a:srgbClr val="FCE7DD"/>
            </a:solidFill>
            <a:prstDash val="solid"/>
          </a:ln>
        </p:spPr>
      </p:sp>
      <p:sp>
        <p:nvSpPr>
          <p:cNvPr id="11" name="Text 8"/>
          <p:cNvSpPr txBox="1"/>
          <p:nvPr/>
        </p:nvSpPr>
        <p:spPr>
          <a:xfrm>
            <a:off x="8138160" y="3172968"/>
            <a:ext cx="3291840" cy="594360"/>
          </a:xfrm>
          <a:prstGeom prst="rect">
            <a:avLst/>
          </a:prstGeom>
          <a:noFill/>
          <a:ln/>
        </p:spPr>
        <p:txBody>
          <a:bodyPr wrap="square" lIns="0" tIns="0" rIns="0" bIns="0" rtlCol="0" anchor="t"/>
          <a:lstStyle/>
          <a:p>
            <a:pPr indent="0" marL="0">
              <a:buNone/>
            </a:pPr>
            <a:r>
              <a:rPr lang="en-US" sz="3400" b="1" dirty="0">
                <a:solidFill>
                  <a:srgbClr val="EB6834"/>
                </a:solidFill>
                <a:latin typeface="Arial" pitchFamily="34" charset="0"/>
                <a:ea typeface="Arial" pitchFamily="34" charset="-122"/>
                <a:cs typeface="Arial" pitchFamily="34" charset="-120"/>
              </a:rPr>
              <a:t>₹710</a:t>
            </a:r>
            <a:endParaRPr lang="en-US" sz="3400" dirty="0"/>
          </a:p>
        </p:txBody>
      </p:sp>
      <p:sp>
        <p:nvSpPr>
          <p:cNvPr id="12" name="Text 9"/>
          <p:cNvSpPr txBox="1"/>
          <p:nvPr/>
        </p:nvSpPr>
        <p:spPr>
          <a:xfrm>
            <a:off x="8138160" y="3794760"/>
            <a:ext cx="3291840" cy="32004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FASTag: full fee at all 8 plazas</a:t>
            </a:r>
            <a:endParaRPr lang="en-US" sz="1400" dirty="0"/>
          </a:p>
        </p:txBody>
      </p:sp>
      <p:sp>
        <p:nvSpPr>
          <p:cNvPr id="13" name="Shape 10"/>
          <p:cNvSpPr/>
          <p:nvPr/>
        </p:nvSpPr>
        <p:spPr>
          <a:xfrm>
            <a:off x="7863840" y="4572000"/>
            <a:ext cx="502920" cy="502920"/>
          </a:xfrm>
          <a:prstGeom prst="ellipse">
            <a:avLst/>
          </a:prstGeom>
          <a:solidFill>
            <a:srgbClr val="0B1B33"/>
          </a:solidFill>
          <a:ln w="12700">
            <a:solidFill>
              <a:srgbClr val="0B1B33"/>
            </a:solidFill>
            <a:prstDash val="solid"/>
          </a:ln>
        </p:spPr>
      </p:sp>
      <p:pic>
        <p:nvPicPr>
          <p:cNvPr id="14" name="Image 0" descr="preencoded.png">    </p:cNvPr>
          <p:cNvPicPr>
            <a:picLocks noChangeAspect="1"/>
          </p:cNvPicPr>
          <p:nvPr/>
        </p:nvPicPr>
        <p:blipFill>
          <a:blip r:embed="rId2"/>
          <a:stretch>
            <a:fillRect/>
          </a:stretch>
        </p:blipFill>
        <p:spPr>
          <a:xfrm>
            <a:off x="7989570" y="4697730"/>
            <a:ext cx="251460" cy="251460"/>
          </a:xfrm>
          <a:prstGeom prst="rect">
            <a:avLst/>
          </a:prstGeom>
        </p:spPr>
      </p:pic>
      <p:sp>
        <p:nvSpPr>
          <p:cNvPr id="15" name="Text 11"/>
          <p:cNvSpPr txBox="1"/>
          <p:nvPr/>
        </p:nvSpPr>
        <p:spPr>
          <a:xfrm>
            <a:off x="8549640" y="4553712"/>
            <a:ext cx="3108960" cy="292608"/>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First 20 km a day free</a:t>
            </a:r>
            <a:endParaRPr lang="en-US" sz="1400" dirty="0"/>
          </a:p>
        </p:txBody>
      </p:sp>
      <p:sp>
        <p:nvSpPr>
          <p:cNvPr id="16" name="Text 12"/>
          <p:cNvSpPr txBox="1"/>
          <p:nvPr/>
        </p:nvSpPr>
        <p:spPr>
          <a:xfrm>
            <a:off x="8549640" y="4846320"/>
            <a:ext cx="3108960" cy="2743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NH Fee Amendment Rules, 2024</a:t>
            </a:r>
            <a:endParaRPr lang="en-US" sz="1200" dirty="0"/>
          </a:p>
        </p:txBody>
      </p:sp>
      <p:sp>
        <p:nvSpPr>
          <p:cNvPr id="17" name="Shape 13"/>
          <p:cNvSpPr/>
          <p:nvPr/>
        </p:nvSpPr>
        <p:spPr>
          <a:xfrm>
            <a:off x="7863840" y="5349240"/>
            <a:ext cx="502920" cy="502920"/>
          </a:xfrm>
          <a:prstGeom prst="ellipse">
            <a:avLst/>
          </a:prstGeom>
          <a:solidFill>
            <a:srgbClr val="0B1B33"/>
          </a:solidFill>
          <a:ln w="12700">
            <a:solidFill>
              <a:srgbClr val="0B1B33"/>
            </a:solidFill>
            <a:prstDash val="solid"/>
          </a:ln>
        </p:spPr>
      </p:sp>
      <p:pic>
        <p:nvPicPr>
          <p:cNvPr id="18" name="Image 1" descr="preencoded.png">    </p:cNvPr>
          <p:cNvPicPr>
            <a:picLocks noChangeAspect="1"/>
          </p:cNvPicPr>
          <p:nvPr/>
        </p:nvPicPr>
        <p:blipFill>
          <a:blip r:embed="rId3"/>
          <a:stretch>
            <a:fillRect/>
          </a:stretch>
        </p:blipFill>
        <p:spPr>
          <a:xfrm>
            <a:off x="7989570" y="5474970"/>
            <a:ext cx="251460" cy="251460"/>
          </a:xfrm>
          <a:prstGeom prst="rect">
            <a:avLst/>
          </a:prstGeom>
        </p:spPr>
      </p:pic>
      <p:sp>
        <p:nvSpPr>
          <p:cNvPr id="19" name="Text 14"/>
          <p:cNvSpPr txBox="1"/>
          <p:nvPr/>
        </p:nvSpPr>
        <p:spPr>
          <a:xfrm>
            <a:off x="8549640" y="5330952"/>
            <a:ext cx="3108960" cy="292608"/>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No free km for National Permit trucks</a:t>
            </a:r>
            <a:endParaRPr lang="en-US" sz="1400" dirty="0"/>
          </a:p>
        </p:txBody>
      </p:sp>
      <p:sp>
        <p:nvSpPr>
          <p:cNvPr id="20" name="Text 15"/>
          <p:cNvSpPr txBox="1"/>
          <p:nvPr/>
        </p:nvSpPr>
        <p:spPr>
          <a:xfrm>
            <a:off x="8549640" y="5623560"/>
            <a:ext cx="3108960" cy="2743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3-axle and larger goods vehicles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GPS Toll-Based System Simulation</a:t>
            </a:r>
            <a:endParaRPr lang="en-US" sz="1000" dirty="0"/>
          </a:p>
        </p:txBody>
      </p:sp>
      <p:sp>
        <p:nvSpPr>
          <p:cNvPr id="3" name="Text 1"/>
          <p:cNvSpPr txBox="1"/>
          <p:nvPr/>
        </p:nvSpPr>
        <p:spPr>
          <a:xfrm>
            <a:off x="10271455" y="6400800"/>
            <a:ext cx="13716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8 / 17</a:t>
            </a:r>
            <a:endParaRPr lang="en-US" sz="1000" dirty="0"/>
          </a:p>
        </p:txBody>
      </p:sp>
      <p:sp>
        <p:nvSpPr>
          <p:cNvPr id="4" name="Text 2"/>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300" kern="0" dirty="0">
                <a:solidFill>
                  <a:srgbClr val="EB6834"/>
                </a:solidFill>
                <a:latin typeface="Arial" pitchFamily="34" charset="0"/>
                <a:ea typeface="Arial" pitchFamily="34" charset="-122"/>
                <a:cs typeface="Arial" pitchFamily="34" charset="-120"/>
              </a:rPr>
              <a:t>INSIGHT</a:t>
            </a:r>
            <a:endParaRPr lang="en-US" sz="1200" dirty="0"/>
          </a:p>
        </p:txBody>
      </p:sp>
      <p:sp>
        <p:nvSpPr>
          <p:cNvPr id="5" name="Text 3"/>
          <p:cNvSpPr txBox="1"/>
          <p:nvPr/>
        </p:nvSpPr>
        <p:spPr>
          <a:xfrm>
            <a:off x="548640" y="676656"/>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Short trips see the biggest difference</a:t>
            </a:r>
            <a:endParaRPr lang="en-US" sz="3000" dirty="0"/>
          </a:p>
        </p:txBody>
      </p:sp>
      <p:sp>
        <p:nvSpPr>
          <p:cNvPr id="6" name="Shape 4"/>
          <p:cNvSpPr/>
          <p:nvPr/>
        </p:nvSpPr>
        <p:spPr>
          <a:xfrm>
            <a:off x="548640" y="1600200"/>
            <a:ext cx="3657600" cy="4480560"/>
          </a:xfrm>
          <a:prstGeom prst="roundRect">
            <a:avLst>
              <a:gd name="adj" fmla="val 2000"/>
            </a:avLst>
          </a:prstGeom>
          <a:solidFill>
            <a:srgbClr val="0B1B33"/>
          </a:solidFill>
          <a:ln w="12700">
            <a:solidFill>
              <a:srgbClr val="0B1B33"/>
            </a:solidFill>
            <a:prstDash val="solid"/>
          </a:ln>
          <a:effectLst>
            <a:outerShdw sx="100000" sy="100000" kx="0" ky="0" algn="bl" rotWithShape="0" blurRad="127000" dist="25400" dir="5400000">
              <a:srgbClr val="000000">
                <a:alpha val="14000"/>
              </a:srgbClr>
            </a:outerShdw>
          </a:effectLst>
        </p:spPr>
      </p:sp>
      <p:sp>
        <p:nvSpPr>
          <p:cNvPr id="7" name="Text 5"/>
          <p:cNvSpPr txBox="1"/>
          <p:nvPr/>
        </p:nvSpPr>
        <p:spPr>
          <a:xfrm>
            <a:off x="914400" y="1965960"/>
            <a:ext cx="2926080" cy="320040"/>
          </a:xfrm>
          <a:prstGeom prst="rect">
            <a:avLst/>
          </a:prstGeom>
          <a:noFill/>
          <a:ln/>
        </p:spPr>
        <p:txBody>
          <a:bodyPr wrap="square" lIns="0" tIns="0" rIns="0" bIns="0" rtlCol="0" anchor="t"/>
          <a:lstStyle/>
          <a:p>
            <a:pPr indent="0" marL="0">
              <a:buNone/>
            </a:pPr>
            <a:r>
              <a:rPr lang="en-US" sz="1400" b="1" spc="300" kern="0" dirty="0">
                <a:solidFill>
                  <a:srgbClr val="C9D6EA"/>
                </a:solidFill>
                <a:latin typeface="Arial" pitchFamily="34" charset="0"/>
                <a:ea typeface="Arial" pitchFamily="34" charset="-122"/>
                <a:cs typeface="Arial" pitchFamily="34" charset="-120"/>
              </a:rPr>
              <a:t>UP TO</a:t>
            </a:r>
            <a:endParaRPr lang="en-US" sz="1400" dirty="0"/>
          </a:p>
        </p:txBody>
      </p:sp>
      <p:sp>
        <p:nvSpPr>
          <p:cNvPr id="8" name="Text 6"/>
          <p:cNvSpPr txBox="1"/>
          <p:nvPr/>
        </p:nvSpPr>
        <p:spPr>
          <a:xfrm>
            <a:off x="914400" y="2286000"/>
            <a:ext cx="3017520" cy="1188720"/>
          </a:xfrm>
          <a:prstGeom prst="rect">
            <a:avLst/>
          </a:prstGeom>
          <a:noFill/>
          <a:ln/>
        </p:spPr>
        <p:txBody>
          <a:bodyPr wrap="square" lIns="0" tIns="0" rIns="0" bIns="0" rtlCol="0" anchor="t"/>
          <a:lstStyle/>
          <a:p>
            <a:pPr indent="0" marL="0">
              <a:buNone/>
            </a:pPr>
            <a:r>
              <a:rPr lang="en-US" sz="8000" b="1" dirty="0">
                <a:solidFill>
                  <a:srgbClr val="F07A4A"/>
                </a:solidFill>
                <a:latin typeface="Arial" pitchFamily="34" charset="0"/>
                <a:ea typeface="Arial" pitchFamily="34" charset="-122"/>
                <a:cs typeface="Arial" pitchFamily="34" charset="-120"/>
              </a:rPr>
              <a:t>77%</a:t>
            </a:r>
            <a:endParaRPr lang="en-US" sz="8000" dirty="0"/>
          </a:p>
        </p:txBody>
      </p:sp>
      <p:sp>
        <p:nvSpPr>
          <p:cNvPr id="9" name="Text 7"/>
          <p:cNvSpPr txBox="1"/>
          <p:nvPr/>
        </p:nvSpPr>
        <p:spPr>
          <a:xfrm>
            <a:off x="914400" y="3520440"/>
            <a:ext cx="301752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less toll on short trips</a:t>
            </a:r>
            <a:endParaRPr lang="en-US" sz="2000" dirty="0"/>
          </a:p>
        </p:txBody>
      </p:sp>
      <p:sp>
        <p:nvSpPr>
          <p:cNvPr id="10" name="Text 8"/>
          <p:cNvSpPr txBox="1"/>
          <p:nvPr/>
        </p:nvSpPr>
        <p:spPr>
          <a:xfrm>
            <a:off x="914400" y="4114800"/>
            <a:ext cx="2971800" cy="1005840"/>
          </a:xfrm>
          <a:prstGeom prst="rect">
            <a:avLst/>
          </a:prstGeom>
          <a:noFill/>
          <a:ln/>
        </p:spPr>
        <p:txBody>
          <a:bodyPr wrap="square" lIns="0" tIns="0" rIns="0" bIns="0" rtlCol="0" anchor="t"/>
          <a:lstStyle/>
          <a:p>
            <a:pPr indent="0" marL="0">
              <a:buNone/>
            </a:pPr>
            <a:r>
              <a:rPr lang="en-US" sz="1400" dirty="0">
                <a:solidFill>
                  <a:srgbClr val="C9D6EA"/>
                </a:solidFill>
                <a:latin typeface="Calibri" pitchFamily="34" charset="0"/>
                <a:ea typeface="Calibri" pitchFamily="34" charset="-122"/>
                <a:cs typeface="Calibri" pitchFamily="34" charset="-120"/>
              </a:rPr>
              <a:t>Krishnagiri → Hosur by car: ₹22 instead of ₹95. You pay for the 51 km you drive, not for the plaza's whole section.</a:t>
            </a:r>
            <a:endParaRPr lang="en-US" sz="1400" dirty="0"/>
          </a:p>
        </p:txBody>
      </p:sp>
      <p:sp>
        <p:nvSpPr>
          <p:cNvPr id="11" name="Text 9"/>
          <p:cNvSpPr txBox="1"/>
          <p:nvPr/>
        </p:nvSpPr>
        <p:spPr>
          <a:xfrm>
            <a:off x="914400" y="5257800"/>
            <a:ext cx="2971800" cy="5486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Salem → Dharmapuri: ₹77 instead of ₹255.</a:t>
            </a:r>
            <a:endParaRPr lang="en-US" sz="1400" dirty="0"/>
          </a:p>
        </p:txBody>
      </p:sp>
      <p:graphicFrame>
        <p:nvGraphicFramePr>
          <p:cNvPr id="12" name="Chart 0" descr=""/>
          <p:cNvGraphicFramePr/>
          <p:nvPr/>
        </p:nvGraphicFramePr>
        <p:xfrm>
          <a:off x="4572000" y="1508760"/>
          <a:ext cx="7068312" cy="47548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GPS Toll-Based System Simulation</a:t>
            </a:r>
            <a:endParaRPr lang="en-US" sz="1000" dirty="0"/>
          </a:p>
        </p:txBody>
      </p:sp>
      <p:sp>
        <p:nvSpPr>
          <p:cNvPr id="3" name="Text 1"/>
          <p:cNvSpPr txBox="1"/>
          <p:nvPr/>
        </p:nvSpPr>
        <p:spPr>
          <a:xfrm>
            <a:off x="10271455" y="6400800"/>
            <a:ext cx="13716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9 / 17</a:t>
            </a:r>
            <a:endParaRPr lang="en-US" sz="1000" dirty="0"/>
          </a:p>
        </p:txBody>
      </p:sp>
      <p:sp>
        <p:nvSpPr>
          <p:cNvPr id="4" name="Text 2"/>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300" kern="0" dirty="0">
                <a:solidFill>
                  <a:srgbClr val="EB6834"/>
                </a:solidFill>
                <a:latin typeface="Arial" pitchFamily="34" charset="0"/>
                <a:ea typeface="Arial" pitchFamily="34" charset="-122"/>
                <a:cs typeface="Arial" pitchFamily="34" charset="-120"/>
              </a:rPr>
              <a:t>FLEET SIMULATION</a:t>
            </a:r>
            <a:endParaRPr lang="en-US" sz="1200" dirty="0"/>
          </a:p>
        </p:txBody>
      </p:sp>
      <p:sp>
        <p:nvSpPr>
          <p:cNvPr id="5" name="Text 3"/>
          <p:cNvSpPr txBox="1"/>
          <p:nvPr/>
        </p:nvSpPr>
        <p:spPr>
          <a:xfrm>
            <a:off x="548640" y="676656"/>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Many vehicles on the highway at once</a:t>
            </a:r>
            <a:endParaRPr lang="en-US" sz="3000" dirty="0"/>
          </a:p>
        </p:txBody>
      </p:sp>
      <p:sp>
        <p:nvSpPr>
          <p:cNvPr id="6" name="Shape 4"/>
          <p:cNvSpPr/>
          <p:nvPr/>
        </p:nvSpPr>
        <p:spPr>
          <a:xfrm>
            <a:off x="530352" y="1536192"/>
            <a:ext cx="6483096" cy="4690872"/>
          </a:xfrm>
          <a:prstGeom prst="rect">
            <a:avLst/>
          </a:prstGeom>
          <a:solidFill>
            <a:srgbClr val="FFFFFF"/>
          </a:solidFill>
          <a:ln w="12700">
            <a:solidFill>
              <a:srgbClr val="E2E8F0"/>
            </a:solidFill>
            <a:prstDash val="solid"/>
          </a:ln>
          <a:effectLst>
            <a:outerShdw sx="100000" sy="100000" kx="0" ky="0" algn="bl" rotWithShape="0" blurRad="127000" dist="25400" dir="5400000">
              <a:srgbClr val="000000">
                <a:alpha val="14000"/>
              </a:srgbClr>
            </a:outerShdw>
          </a:effectLst>
        </p:spPr>
      </p:sp>
      <p:pic>
        <p:nvPicPr>
          <p:cNvPr id="7" name="Image 0" descr="/home/user/gps-toll-system/docs/screenshots/traffic.png">    </p:cNvPr>
          <p:cNvPicPr>
            <a:picLocks noChangeAspect="1"/>
          </p:cNvPicPr>
          <p:nvPr/>
        </p:nvPicPr>
        <p:blipFill>
          <a:blip r:embed="rId1"/>
          <a:stretch>
            <a:fillRect/>
          </a:stretch>
        </p:blipFill>
        <p:spPr>
          <a:xfrm>
            <a:off x="548640" y="1554480"/>
            <a:ext cx="6446520" cy="4654296"/>
          </a:xfrm>
          <a:prstGeom prst="rect">
            <a:avLst/>
          </a:prstGeom>
        </p:spPr>
      </p:pic>
      <p:sp>
        <p:nvSpPr>
          <p:cNvPr id="8" name="Text 5"/>
          <p:cNvSpPr txBox="1"/>
          <p:nvPr/>
        </p:nvSpPr>
        <p:spPr>
          <a:xfrm>
            <a:off x="7360920" y="1554480"/>
            <a:ext cx="4206240" cy="274320"/>
          </a:xfrm>
          <a:prstGeom prst="rect">
            <a:avLst/>
          </a:prstGeom>
          <a:noFill/>
          <a:ln/>
        </p:spPr>
        <p:txBody>
          <a:bodyPr wrap="square" lIns="0" tIns="0" rIns="0" bIns="0" rtlCol="0" anchor="t"/>
          <a:lstStyle/>
          <a:p>
            <a:pPr indent="0" marL="0">
              <a:buNone/>
            </a:pPr>
            <a:r>
              <a:rPr lang="en-US" sz="1100" b="1" spc="200" kern="0" dirty="0">
                <a:solidFill>
                  <a:srgbClr val="64748B"/>
                </a:solidFill>
                <a:latin typeface="Arial" pitchFamily="34" charset="0"/>
                <a:ea typeface="Arial" pitchFamily="34" charset="-122"/>
                <a:cs typeface="Arial" pitchFamily="34" charset="-120"/>
              </a:rPr>
              <a:t>TRAFFIC MIX</a:t>
            </a:r>
            <a:endParaRPr lang="en-US" sz="1100" dirty="0"/>
          </a:p>
        </p:txBody>
      </p:sp>
      <p:graphicFrame>
        <p:nvGraphicFramePr>
          <p:cNvPr id="9" name="Chart 0" descr=""/>
          <p:cNvGraphicFramePr/>
          <p:nvPr/>
        </p:nvGraphicFramePr>
        <p:xfrm>
          <a:off x="7269480" y="1783080"/>
          <a:ext cx="4370832" cy="237744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7360920" y="4389120"/>
            <a:ext cx="438912" cy="438912"/>
          </a:xfrm>
          <a:prstGeom prst="ellipse">
            <a:avLst/>
          </a:prstGeom>
          <a:solidFill>
            <a:srgbClr val="2A78D6"/>
          </a:solidFill>
          <a:ln w="12700">
            <a:solidFill>
              <a:srgbClr val="2A78D6"/>
            </a:solidFill>
            <a:prstDash val="solid"/>
          </a:ln>
        </p:spPr>
      </p:sp>
      <p:pic>
        <p:nvPicPr>
          <p:cNvPr id="11" name="Image 1" descr="preencoded.png">    </p:cNvPr>
          <p:cNvPicPr>
            <a:picLocks noChangeAspect="1"/>
          </p:cNvPicPr>
          <p:nvPr/>
        </p:nvPicPr>
        <p:blipFill>
          <a:blip r:embed="rId3"/>
          <a:stretch>
            <a:fillRect/>
          </a:stretch>
        </p:blipFill>
        <p:spPr>
          <a:xfrm>
            <a:off x="7470648" y="4498848"/>
            <a:ext cx="219456" cy="219456"/>
          </a:xfrm>
          <a:prstGeom prst="rect">
            <a:avLst/>
          </a:prstGeom>
        </p:spPr>
      </p:pic>
      <p:sp>
        <p:nvSpPr>
          <p:cNvPr id="12" name="Text 7"/>
          <p:cNvSpPr txBox="1"/>
          <p:nvPr/>
        </p:nvSpPr>
        <p:spPr>
          <a:xfrm>
            <a:off x="7955280" y="4389120"/>
            <a:ext cx="3657600" cy="438912"/>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Speed drifts ±10% around each vehicle's cruising speed</a:t>
            </a:r>
            <a:endParaRPr lang="en-US" sz="1300" dirty="0"/>
          </a:p>
        </p:txBody>
      </p:sp>
      <p:sp>
        <p:nvSpPr>
          <p:cNvPr id="13" name="Shape 8"/>
          <p:cNvSpPr/>
          <p:nvPr/>
        </p:nvSpPr>
        <p:spPr>
          <a:xfrm>
            <a:off x="7360920" y="5010912"/>
            <a:ext cx="438912" cy="438912"/>
          </a:xfrm>
          <a:prstGeom prst="ellipse">
            <a:avLst/>
          </a:prstGeom>
          <a:solidFill>
            <a:srgbClr val="2A78D6"/>
          </a:solidFill>
          <a:ln w="12700">
            <a:solidFill>
              <a:srgbClr val="2A78D6"/>
            </a:solidFill>
            <a:prstDash val="solid"/>
          </a:ln>
        </p:spPr>
      </p:sp>
      <p:pic>
        <p:nvPicPr>
          <p:cNvPr id="14" name="Image 2" descr="preencoded.png">    </p:cNvPr>
          <p:cNvPicPr>
            <a:picLocks noChangeAspect="1"/>
          </p:cNvPicPr>
          <p:nvPr/>
        </p:nvPicPr>
        <p:blipFill>
          <a:blip r:embed="rId4"/>
          <a:stretch>
            <a:fillRect/>
          </a:stretch>
        </p:blipFill>
        <p:spPr>
          <a:xfrm>
            <a:off x="7470648" y="5120640"/>
            <a:ext cx="219456" cy="219456"/>
          </a:xfrm>
          <a:prstGeom prst="rect">
            <a:avLst/>
          </a:prstGeom>
        </p:spPr>
      </p:pic>
      <p:sp>
        <p:nvSpPr>
          <p:cNvPr id="15" name="Text 9"/>
          <p:cNvSpPr txBox="1"/>
          <p:nvPr/>
        </p:nvSpPr>
        <p:spPr>
          <a:xfrm>
            <a:off x="7955280" y="5010912"/>
            <a:ext cx="3657600" cy="438912"/>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About 5 m of GPS error, corrected by map-matching</a:t>
            </a:r>
            <a:endParaRPr lang="en-US" sz="1300" dirty="0"/>
          </a:p>
        </p:txBody>
      </p:sp>
      <p:sp>
        <p:nvSpPr>
          <p:cNvPr id="16" name="Shape 10"/>
          <p:cNvSpPr/>
          <p:nvPr/>
        </p:nvSpPr>
        <p:spPr>
          <a:xfrm>
            <a:off x="7360920" y="5632704"/>
            <a:ext cx="438912" cy="438912"/>
          </a:xfrm>
          <a:prstGeom prst="ellipse">
            <a:avLst/>
          </a:prstGeom>
          <a:solidFill>
            <a:srgbClr val="2A78D6"/>
          </a:solidFill>
          <a:ln w="12700">
            <a:solidFill>
              <a:srgbClr val="2A78D6"/>
            </a:solidFill>
            <a:prstDash val="solid"/>
          </a:ln>
        </p:spPr>
      </p:sp>
      <p:pic>
        <p:nvPicPr>
          <p:cNvPr id="17" name="Image 3" descr="preencoded.png">    </p:cNvPr>
          <p:cNvPicPr>
            <a:picLocks noChangeAspect="1"/>
          </p:cNvPicPr>
          <p:nvPr/>
        </p:nvPicPr>
        <p:blipFill>
          <a:blip r:embed="rId5"/>
          <a:stretch>
            <a:fillRect/>
          </a:stretch>
        </p:blipFill>
        <p:spPr>
          <a:xfrm>
            <a:off x="7470648" y="5742432"/>
            <a:ext cx="219456" cy="219456"/>
          </a:xfrm>
          <a:prstGeom prst="rect">
            <a:avLst/>
          </a:prstGeom>
        </p:spPr>
      </p:pic>
      <p:sp>
        <p:nvSpPr>
          <p:cNvPr id="18" name="Text 11"/>
          <p:cNvSpPr txBox="1"/>
          <p:nvPr/>
        </p:nvSpPr>
        <p:spPr>
          <a:xfrm>
            <a:off x="7955280" y="5632704"/>
            <a:ext cx="3657600" cy="438912"/>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Departures spread over two hours, from 9 towns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B33"/>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t"/>
          <a:lstStyle/>
          <a:p>
            <a:pPr indent="0" marL="0">
              <a:buNone/>
            </a:pPr>
            <a:r>
              <a:rPr lang="en-US" sz="1000" dirty="0">
                <a:solidFill>
                  <a:srgbClr val="8FA3C2"/>
                </a:solidFill>
                <a:latin typeface="Calibri" pitchFamily="34" charset="0"/>
                <a:ea typeface="Calibri" pitchFamily="34" charset="-122"/>
                <a:cs typeface="Calibri" pitchFamily="34" charset="-120"/>
              </a:rPr>
              <a:t>GPS Toll-Based System Simulation</a:t>
            </a:r>
            <a:endParaRPr lang="en-US" sz="1000" dirty="0"/>
          </a:p>
        </p:txBody>
      </p:sp>
      <p:sp>
        <p:nvSpPr>
          <p:cNvPr id="3" name="Text 1"/>
          <p:cNvSpPr txBox="1"/>
          <p:nvPr/>
        </p:nvSpPr>
        <p:spPr>
          <a:xfrm>
            <a:off x="10271455" y="6400800"/>
            <a:ext cx="1371600" cy="274320"/>
          </a:xfrm>
          <a:prstGeom prst="rect">
            <a:avLst/>
          </a:prstGeom>
          <a:noFill/>
          <a:ln/>
        </p:spPr>
        <p:txBody>
          <a:bodyPr wrap="square" lIns="0" tIns="0" rIns="0" bIns="0" rtlCol="0" anchor="t"/>
          <a:lstStyle/>
          <a:p>
            <a:pPr algn="r" indent="0" marL="0">
              <a:buNone/>
            </a:pPr>
            <a:r>
              <a:rPr lang="en-US" sz="1000" dirty="0">
                <a:solidFill>
                  <a:srgbClr val="8FA3C2"/>
                </a:solidFill>
                <a:latin typeface="Calibri" pitchFamily="34" charset="0"/>
                <a:ea typeface="Calibri" pitchFamily="34" charset="-122"/>
                <a:cs typeface="Calibri" pitchFamily="34" charset="-120"/>
              </a:rPr>
              <a:t>10 / 17</a:t>
            </a:r>
            <a:endParaRPr lang="en-US" sz="1000" dirty="0"/>
          </a:p>
        </p:txBody>
      </p:sp>
      <p:sp>
        <p:nvSpPr>
          <p:cNvPr id="4" name="Text 2"/>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300" kern="0" dirty="0">
                <a:solidFill>
                  <a:srgbClr val="EB6834"/>
                </a:solidFill>
                <a:latin typeface="Arial" pitchFamily="34" charset="0"/>
                <a:ea typeface="Arial" pitchFamily="34" charset="-122"/>
                <a:cs typeface="Arial" pitchFamily="34" charset="-120"/>
              </a:rPr>
              <a:t>RESULTS</a:t>
            </a:r>
            <a:endParaRPr lang="en-US" sz="1200" dirty="0"/>
          </a:p>
        </p:txBody>
      </p:sp>
      <p:sp>
        <p:nvSpPr>
          <p:cNvPr id="5" name="Text 3"/>
          <p:cNvSpPr txBox="1"/>
          <p:nvPr/>
        </p:nvSpPr>
        <p:spPr>
          <a:xfrm>
            <a:off x="548640" y="676656"/>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200 vehicles, 31,663 km: 23% less toll overall</a:t>
            </a:r>
            <a:endParaRPr lang="en-US" sz="3000" dirty="0"/>
          </a:p>
        </p:txBody>
      </p:sp>
      <p:sp>
        <p:nvSpPr>
          <p:cNvPr id="6" name="Text 4"/>
          <p:cNvSpPr txBox="1"/>
          <p:nvPr/>
        </p:nvSpPr>
        <p:spPr>
          <a:xfrm>
            <a:off x="548640" y="1691640"/>
            <a:ext cx="4023360" cy="640080"/>
          </a:xfrm>
          <a:prstGeom prst="rect">
            <a:avLst/>
          </a:prstGeom>
          <a:noFill/>
          <a:ln/>
        </p:spPr>
        <p:txBody>
          <a:bodyPr wrap="square" lIns="0" tIns="0" rIns="0" bIns="0" rtlCol="0" anchor="t"/>
          <a:lstStyle/>
          <a:p>
            <a:pPr indent="0" marL="0">
              <a:buNone/>
            </a:pPr>
            <a:r>
              <a:rPr lang="en-US" sz="3600" b="1" dirty="0">
                <a:solidFill>
                  <a:srgbClr val="5AA0F0"/>
                </a:solidFill>
                <a:latin typeface="Arial" pitchFamily="34" charset="0"/>
                <a:ea typeface="Arial" pitchFamily="34" charset="-122"/>
                <a:cs typeface="Arial" pitchFamily="34" charset="-120"/>
              </a:rPr>
              <a:t>₹1,18,247</a:t>
            </a:r>
            <a:endParaRPr lang="en-US" sz="3600" dirty="0"/>
          </a:p>
        </p:txBody>
      </p:sp>
      <p:sp>
        <p:nvSpPr>
          <p:cNvPr id="7" name="Text 5"/>
          <p:cNvSpPr txBox="1"/>
          <p:nvPr/>
        </p:nvSpPr>
        <p:spPr>
          <a:xfrm>
            <a:off x="548640" y="2350008"/>
            <a:ext cx="4023360" cy="320040"/>
          </a:xfrm>
          <a:prstGeom prst="rect">
            <a:avLst/>
          </a:prstGeom>
          <a:noFill/>
          <a:ln/>
        </p:spPr>
        <p:txBody>
          <a:bodyPr wrap="square" lIns="0" tIns="0" rIns="0" bIns="0" rtlCol="0" anchor="t"/>
          <a:lstStyle/>
          <a:p>
            <a:pPr indent="0" marL="0">
              <a:buNone/>
            </a:pPr>
            <a:r>
              <a:rPr lang="en-US" sz="1500" dirty="0">
                <a:solidFill>
                  <a:srgbClr val="C9D6EA"/>
                </a:solidFill>
                <a:latin typeface="Calibri" pitchFamily="34" charset="0"/>
                <a:ea typeface="Calibri" pitchFamily="34" charset="-122"/>
                <a:cs typeface="Calibri" pitchFamily="34" charset="-120"/>
              </a:rPr>
              <a:t>GNSS tolls for all 200 vehicles</a:t>
            </a:r>
            <a:endParaRPr lang="en-US" sz="1500" dirty="0"/>
          </a:p>
        </p:txBody>
      </p:sp>
      <p:sp>
        <p:nvSpPr>
          <p:cNvPr id="8" name="Text 6"/>
          <p:cNvSpPr txBox="1"/>
          <p:nvPr/>
        </p:nvSpPr>
        <p:spPr>
          <a:xfrm>
            <a:off x="548640" y="3108960"/>
            <a:ext cx="4023360" cy="640080"/>
          </a:xfrm>
          <a:prstGeom prst="rect">
            <a:avLst/>
          </a:prstGeom>
          <a:noFill/>
          <a:ln/>
        </p:spPr>
        <p:txBody>
          <a:bodyPr wrap="square" lIns="0" tIns="0" rIns="0" bIns="0" rtlCol="0" anchor="t"/>
          <a:lstStyle/>
          <a:p>
            <a:pPr indent="0" marL="0">
              <a:buNone/>
            </a:pPr>
            <a:r>
              <a:rPr lang="en-US" sz="3600" b="1" dirty="0">
                <a:solidFill>
                  <a:srgbClr val="F07A4A"/>
                </a:solidFill>
                <a:latin typeface="Arial" pitchFamily="34" charset="0"/>
                <a:ea typeface="Arial" pitchFamily="34" charset="-122"/>
                <a:cs typeface="Arial" pitchFamily="34" charset="-120"/>
              </a:rPr>
              <a:t>₹1,53,525</a:t>
            </a:r>
            <a:endParaRPr lang="en-US" sz="3600" dirty="0"/>
          </a:p>
        </p:txBody>
      </p:sp>
      <p:sp>
        <p:nvSpPr>
          <p:cNvPr id="9" name="Text 7"/>
          <p:cNvSpPr txBox="1"/>
          <p:nvPr/>
        </p:nvSpPr>
        <p:spPr>
          <a:xfrm>
            <a:off x="548640" y="3767328"/>
            <a:ext cx="4023360" cy="320040"/>
          </a:xfrm>
          <a:prstGeom prst="rect">
            <a:avLst/>
          </a:prstGeom>
          <a:noFill/>
          <a:ln/>
        </p:spPr>
        <p:txBody>
          <a:bodyPr wrap="square" lIns="0" tIns="0" rIns="0" bIns="0" rtlCol="0" anchor="t"/>
          <a:lstStyle/>
          <a:p>
            <a:pPr indent="0" marL="0">
              <a:buNone/>
            </a:pPr>
            <a:r>
              <a:rPr lang="en-US" sz="1500" dirty="0">
                <a:solidFill>
                  <a:srgbClr val="C9D6EA"/>
                </a:solidFill>
                <a:latin typeface="Calibri" pitchFamily="34" charset="0"/>
                <a:ea typeface="Calibri" pitchFamily="34" charset="-122"/>
                <a:cs typeface="Calibri" pitchFamily="34" charset="-120"/>
              </a:rPr>
              <a:t>FASTag plaza fees for the same trips</a:t>
            </a:r>
            <a:endParaRPr lang="en-US" sz="1500" dirty="0"/>
          </a:p>
        </p:txBody>
      </p:sp>
      <p:sp>
        <p:nvSpPr>
          <p:cNvPr id="10" name="Text 8"/>
          <p:cNvSpPr txBox="1"/>
          <p:nvPr/>
        </p:nvSpPr>
        <p:spPr>
          <a:xfrm>
            <a:off x="548640" y="4526280"/>
            <a:ext cx="4023360" cy="64008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165 of 200</a:t>
            </a:r>
            <a:endParaRPr lang="en-US" sz="3600" dirty="0"/>
          </a:p>
        </p:txBody>
      </p:sp>
      <p:sp>
        <p:nvSpPr>
          <p:cNvPr id="11" name="Text 9"/>
          <p:cNvSpPr txBox="1"/>
          <p:nvPr/>
        </p:nvSpPr>
        <p:spPr>
          <a:xfrm>
            <a:off x="548640" y="5184648"/>
            <a:ext cx="4023360" cy="320040"/>
          </a:xfrm>
          <a:prstGeom prst="rect">
            <a:avLst/>
          </a:prstGeom>
          <a:noFill/>
          <a:ln/>
        </p:spPr>
        <p:txBody>
          <a:bodyPr wrap="square" lIns="0" tIns="0" rIns="0" bIns="0" rtlCol="0" anchor="t"/>
          <a:lstStyle/>
          <a:p>
            <a:pPr indent="0" marL="0">
              <a:buNone/>
            </a:pPr>
            <a:r>
              <a:rPr lang="en-US" sz="1500" dirty="0">
                <a:solidFill>
                  <a:srgbClr val="C9D6EA"/>
                </a:solidFill>
                <a:latin typeface="Calibri" pitchFamily="34" charset="0"/>
                <a:ea typeface="Calibri" pitchFamily="34" charset="-122"/>
                <a:cs typeface="Calibri" pitchFamily="34" charset="-120"/>
              </a:rPr>
              <a:t>vehicles pay less with GNSS</a:t>
            </a:r>
            <a:endParaRPr lang="en-US" sz="1500" dirty="0"/>
          </a:p>
        </p:txBody>
      </p:sp>
      <p:graphicFrame>
        <p:nvGraphicFramePr>
          <p:cNvPr id="12" name="Chart 0" descr=""/>
          <p:cNvGraphicFramePr/>
          <p:nvPr/>
        </p:nvGraphicFramePr>
        <p:xfrm>
          <a:off x="4846320" y="1508760"/>
          <a:ext cx="6793992" cy="44348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846320" y="5989320"/>
            <a:ext cx="6793992" cy="320040"/>
          </a:xfrm>
          <a:prstGeom prst="rect">
            <a:avLst/>
          </a:prstGeom>
          <a:noFill/>
          <a:ln/>
        </p:spPr>
        <p:txBody>
          <a:bodyPr wrap="square" lIns="0" tIns="0" rIns="0" bIns="0" rtlCol="0" anchor="t"/>
          <a:lstStyle/>
          <a:p>
            <a:pPr indent="0" marL="0">
              <a:buNone/>
            </a:pPr>
            <a:r>
              <a:rPr lang="en-US" sz="1200" dirty="0">
                <a:solidFill>
                  <a:srgbClr val="C9D6EA"/>
                </a:solidFill>
                <a:latin typeface="Calibri" pitchFamily="34" charset="0"/>
                <a:ea typeface="Calibri" pitchFamily="34" charset="-122"/>
                <a:cs typeface="Calibri" pitchFamily="34" charset="-120"/>
              </a:rPr>
              <a:t>Heavy goods vehicles hold National Permits, so they get no free 20 km and save about 15%.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GPS Toll-Based System Simulation</a:t>
            </a:r>
            <a:endParaRPr lang="en-US" sz="1000" dirty="0"/>
          </a:p>
        </p:txBody>
      </p:sp>
      <p:sp>
        <p:nvSpPr>
          <p:cNvPr id="3" name="Text 1"/>
          <p:cNvSpPr txBox="1"/>
          <p:nvPr/>
        </p:nvSpPr>
        <p:spPr>
          <a:xfrm>
            <a:off x="10271455" y="6400800"/>
            <a:ext cx="13716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11 / 17</a:t>
            </a:r>
            <a:endParaRPr lang="en-US" sz="1000" dirty="0"/>
          </a:p>
        </p:txBody>
      </p:sp>
      <p:sp>
        <p:nvSpPr>
          <p:cNvPr id="4" name="Text 2"/>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300" kern="0" dirty="0">
                <a:solidFill>
                  <a:srgbClr val="EB6834"/>
                </a:solidFill>
                <a:latin typeface="Arial" pitchFamily="34" charset="0"/>
                <a:ea typeface="Arial" pitchFamily="34" charset="-122"/>
                <a:cs typeface="Arial" pitchFamily="34" charset="-120"/>
              </a:rPr>
              <a:t>THE APPLICATION</a:t>
            </a:r>
            <a:endParaRPr lang="en-US" sz="1200" dirty="0"/>
          </a:p>
        </p:txBody>
      </p:sp>
      <p:sp>
        <p:nvSpPr>
          <p:cNvPr id="5" name="Text 3"/>
          <p:cNvSpPr txBox="1"/>
          <p:nvPr/>
        </p:nvSpPr>
        <p:spPr>
          <a:xfrm>
            <a:off x="548640" y="676656"/>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A desktop app and a command-line tool</a:t>
            </a:r>
            <a:endParaRPr lang="en-US" sz="3000" dirty="0"/>
          </a:p>
        </p:txBody>
      </p:sp>
      <p:sp>
        <p:nvSpPr>
          <p:cNvPr id="6" name="Shape 4"/>
          <p:cNvSpPr/>
          <p:nvPr/>
        </p:nvSpPr>
        <p:spPr>
          <a:xfrm>
            <a:off x="530352" y="1536192"/>
            <a:ext cx="6163056" cy="4745736"/>
          </a:xfrm>
          <a:prstGeom prst="rect">
            <a:avLst/>
          </a:prstGeom>
          <a:solidFill>
            <a:srgbClr val="FFFFFF"/>
          </a:solidFill>
          <a:ln w="12700">
            <a:solidFill>
              <a:srgbClr val="E2E8F0"/>
            </a:solidFill>
            <a:prstDash val="solid"/>
          </a:ln>
          <a:effectLst>
            <a:outerShdw sx="100000" sy="100000" kx="0" ky="0" algn="bl" rotWithShape="0" blurRad="127000" dist="25400" dir="5400000">
              <a:srgbClr val="000000">
                <a:alpha val="14000"/>
              </a:srgbClr>
            </a:outerShdw>
          </a:effectLst>
        </p:spPr>
      </p:sp>
      <p:pic>
        <p:nvPicPr>
          <p:cNvPr id="7" name="Image 0" descr="/home/user/gps-toll-system/docs/screenshots/gui.png">    </p:cNvPr>
          <p:cNvPicPr>
            <a:picLocks noChangeAspect="1"/>
          </p:cNvPicPr>
          <p:nvPr/>
        </p:nvPicPr>
        <p:blipFill>
          <a:blip r:embed="rId1"/>
          <a:stretch>
            <a:fillRect/>
          </a:stretch>
        </p:blipFill>
        <p:spPr>
          <a:xfrm>
            <a:off x="548640" y="1554480"/>
            <a:ext cx="6126480" cy="4709160"/>
          </a:xfrm>
          <a:prstGeom prst="rect">
            <a:avLst/>
          </a:prstGeom>
        </p:spPr>
      </p:pic>
      <p:sp>
        <p:nvSpPr>
          <p:cNvPr id="8" name="Shape 5"/>
          <p:cNvSpPr/>
          <p:nvPr/>
        </p:nvSpPr>
        <p:spPr>
          <a:xfrm>
            <a:off x="7086600" y="1600200"/>
            <a:ext cx="530352" cy="530352"/>
          </a:xfrm>
          <a:prstGeom prst="ellipse">
            <a:avLst/>
          </a:prstGeom>
          <a:solidFill>
            <a:srgbClr val="0B1B33"/>
          </a:solidFill>
          <a:ln w="12700">
            <a:solidFill>
              <a:srgbClr val="0B1B33"/>
            </a:solidFill>
            <a:prstDash val="solid"/>
          </a:ln>
        </p:spPr>
      </p:sp>
      <p:pic>
        <p:nvPicPr>
          <p:cNvPr id="9" name="Image 1" descr="preencoded.png">    </p:cNvPr>
          <p:cNvPicPr>
            <a:picLocks noChangeAspect="1"/>
          </p:cNvPicPr>
          <p:nvPr/>
        </p:nvPicPr>
        <p:blipFill>
          <a:blip r:embed="rId2"/>
          <a:stretch>
            <a:fillRect/>
          </a:stretch>
        </p:blipFill>
        <p:spPr>
          <a:xfrm>
            <a:off x="7219188" y="1732788"/>
            <a:ext cx="265176" cy="265176"/>
          </a:xfrm>
          <a:prstGeom prst="rect">
            <a:avLst/>
          </a:prstGeom>
        </p:spPr>
      </p:pic>
      <p:sp>
        <p:nvSpPr>
          <p:cNvPr id="10" name="Text 6"/>
          <p:cNvSpPr txBox="1"/>
          <p:nvPr/>
        </p:nvSpPr>
        <p:spPr>
          <a:xfrm>
            <a:off x="7818120" y="1581912"/>
            <a:ext cx="3822192" cy="320040"/>
          </a:xfrm>
          <a:prstGeom prst="rect">
            <a:avLst/>
          </a:prstGeom>
          <a:noFill/>
          <a:ln/>
        </p:spPr>
        <p:txBody>
          <a:bodyPr wrap="square" lIns="0" tIns="0" rIns="0" bIns="0" rtlCol="0" anchor="t"/>
          <a:lstStyle/>
          <a:p>
            <a:pPr indent="0" marL="0">
              <a:buNone/>
            </a:pPr>
            <a:r>
              <a:rPr lang="en-US" sz="1500" b="1" dirty="0">
                <a:solidFill>
                  <a:srgbClr val="0F172A"/>
                </a:solidFill>
                <a:latin typeface="Arial" pitchFamily="34" charset="0"/>
                <a:ea typeface="Arial" pitchFamily="34" charset="-122"/>
                <a:cs typeface="Arial" pitchFamily="34" charset="-120"/>
              </a:rPr>
              <a:t>Tkinter GUI</a:t>
            </a:r>
            <a:endParaRPr lang="en-US" sz="1500" dirty="0"/>
          </a:p>
        </p:txBody>
      </p:sp>
      <p:sp>
        <p:nvSpPr>
          <p:cNvPr id="11" name="Text 7"/>
          <p:cNvSpPr txBox="1"/>
          <p:nvPr/>
        </p:nvSpPr>
        <p:spPr>
          <a:xfrm>
            <a:off x="7818120" y="1901952"/>
            <a:ext cx="3822192" cy="566928"/>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Choose vehicle, towns, traffic and GPS noise; see every vehicle in one table.</a:t>
            </a:r>
            <a:endParaRPr lang="en-US" sz="1300" dirty="0"/>
          </a:p>
        </p:txBody>
      </p:sp>
      <p:sp>
        <p:nvSpPr>
          <p:cNvPr id="12" name="Shape 8"/>
          <p:cNvSpPr/>
          <p:nvPr/>
        </p:nvSpPr>
        <p:spPr>
          <a:xfrm>
            <a:off x="7086600" y="2532888"/>
            <a:ext cx="530352" cy="530352"/>
          </a:xfrm>
          <a:prstGeom prst="ellipse">
            <a:avLst/>
          </a:prstGeom>
          <a:solidFill>
            <a:srgbClr val="0B1B33"/>
          </a:solidFill>
          <a:ln w="12700">
            <a:solidFill>
              <a:srgbClr val="0B1B33"/>
            </a:solidFill>
            <a:prstDash val="solid"/>
          </a:ln>
        </p:spPr>
      </p:sp>
      <p:pic>
        <p:nvPicPr>
          <p:cNvPr id="13" name="Image 2" descr="preencoded.png">    </p:cNvPr>
          <p:cNvPicPr>
            <a:picLocks noChangeAspect="1"/>
          </p:cNvPicPr>
          <p:nvPr/>
        </p:nvPicPr>
        <p:blipFill>
          <a:blip r:embed="rId3"/>
          <a:stretch>
            <a:fillRect/>
          </a:stretch>
        </p:blipFill>
        <p:spPr>
          <a:xfrm>
            <a:off x="7219188" y="2665476"/>
            <a:ext cx="265176" cy="265176"/>
          </a:xfrm>
          <a:prstGeom prst="rect">
            <a:avLst/>
          </a:prstGeom>
        </p:spPr>
      </p:pic>
      <p:sp>
        <p:nvSpPr>
          <p:cNvPr id="14" name="Text 9"/>
          <p:cNvSpPr txBox="1"/>
          <p:nvPr/>
        </p:nvSpPr>
        <p:spPr>
          <a:xfrm>
            <a:off x="7818120" y="2514600"/>
            <a:ext cx="3822192" cy="320040"/>
          </a:xfrm>
          <a:prstGeom prst="rect">
            <a:avLst/>
          </a:prstGeom>
          <a:noFill/>
          <a:ln/>
        </p:spPr>
        <p:txBody>
          <a:bodyPr wrap="square" lIns="0" tIns="0" rIns="0" bIns="0" rtlCol="0" anchor="t"/>
          <a:lstStyle/>
          <a:p>
            <a:pPr indent="0" marL="0">
              <a:buNone/>
            </a:pPr>
            <a:r>
              <a:rPr lang="en-US" sz="1500" b="1" dirty="0">
                <a:solidFill>
                  <a:srgbClr val="0F172A"/>
                </a:solidFill>
                <a:latin typeface="Arial" pitchFamily="34" charset="0"/>
                <a:ea typeface="Arial" pitchFamily="34" charset="-122"/>
                <a:cs typeface="Arial" pitchFamily="34" charset="-120"/>
              </a:rPr>
              <a:t>Command line</a:t>
            </a:r>
            <a:endParaRPr lang="en-US" sz="1500" dirty="0"/>
          </a:p>
        </p:txBody>
      </p:sp>
      <p:sp>
        <p:nvSpPr>
          <p:cNvPr id="15" name="Text 10"/>
          <p:cNvSpPr txBox="1"/>
          <p:nvPr/>
        </p:nvSpPr>
        <p:spPr>
          <a:xfrm>
            <a:off x="7818120" y="2834640"/>
            <a:ext cx="3822192" cy="566928"/>
          </a:xfrm>
          <a:prstGeom prst="rect">
            <a:avLst/>
          </a:prstGeom>
          <a:noFill/>
          <a:ln/>
        </p:spPr>
        <p:txBody>
          <a:bodyPr wrap="square" lIns="0" tIns="0" rIns="0" bIns="0" rtlCol="0" anchor="t"/>
          <a:lstStyle/>
          <a:p>
            <a:pPr indent="0" marL="0">
              <a:buNone/>
            </a:pPr>
            <a:r>
              <a:rPr lang="en-US" sz="1200" dirty="0">
                <a:solidFill>
                  <a:srgbClr val="0F172A"/>
                </a:solidFill>
                <a:latin typeface="Courier New" pitchFamily="34" charset="0"/>
                <a:ea typeface="Courier New" pitchFamily="34" charset="-122"/>
                <a:cs typeface="Courier New" pitchFamily="34" charset="-120"/>
              </a:rPr>
              <a:t>python main.py --cli --traffic 20</a:t>
            </a:r>
            <a:pPr indent="0" marL="0">
              <a:buNone/>
            </a:pPr>
            <a:r>
              <a:rPr lang="en-US" sz="1300" dirty="0">
                <a:solidFill>
                  <a:srgbClr val="475569"/>
                </a:solidFill>
                <a:latin typeface="Calibri" pitchFamily="34" charset="0"/>
                <a:ea typeface="Calibri" pitchFamily="34" charset="-122"/>
                <a:cs typeface="Calibri" pitchFamily="34" charset="-120"/>
              </a:rPr>
              <a:t> for scripted, repeatable runs.</a:t>
            </a:r>
            <a:endParaRPr lang="en-US" sz="1300" dirty="0"/>
          </a:p>
        </p:txBody>
      </p:sp>
      <p:sp>
        <p:nvSpPr>
          <p:cNvPr id="16" name="Shape 11"/>
          <p:cNvSpPr/>
          <p:nvPr/>
        </p:nvSpPr>
        <p:spPr>
          <a:xfrm>
            <a:off x="7086600" y="3465576"/>
            <a:ext cx="530352" cy="530352"/>
          </a:xfrm>
          <a:prstGeom prst="ellipse">
            <a:avLst/>
          </a:prstGeom>
          <a:solidFill>
            <a:srgbClr val="0B1B33"/>
          </a:solidFill>
          <a:ln w="12700">
            <a:solidFill>
              <a:srgbClr val="0B1B33"/>
            </a:solidFill>
            <a:prstDash val="solid"/>
          </a:ln>
        </p:spPr>
      </p:sp>
      <p:pic>
        <p:nvPicPr>
          <p:cNvPr id="17" name="Image 3" descr="preencoded.png">    </p:cNvPr>
          <p:cNvPicPr>
            <a:picLocks noChangeAspect="1"/>
          </p:cNvPicPr>
          <p:nvPr/>
        </p:nvPicPr>
        <p:blipFill>
          <a:blip r:embed="rId4"/>
          <a:stretch>
            <a:fillRect/>
          </a:stretch>
        </p:blipFill>
        <p:spPr>
          <a:xfrm>
            <a:off x="7219188" y="3598164"/>
            <a:ext cx="265176" cy="265176"/>
          </a:xfrm>
          <a:prstGeom prst="rect">
            <a:avLst/>
          </a:prstGeom>
        </p:spPr>
      </p:pic>
      <p:sp>
        <p:nvSpPr>
          <p:cNvPr id="18" name="Text 12"/>
          <p:cNvSpPr txBox="1"/>
          <p:nvPr/>
        </p:nvSpPr>
        <p:spPr>
          <a:xfrm>
            <a:off x="7818120" y="3447288"/>
            <a:ext cx="3822192" cy="320040"/>
          </a:xfrm>
          <a:prstGeom prst="rect">
            <a:avLst/>
          </a:prstGeom>
          <a:noFill/>
          <a:ln/>
        </p:spPr>
        <p:txBody>
          <a:bodyPr wrap="square" lIns="0" tIns="0" rIns="0" bIns="0" rtlCol="0" anchor="t"/>
          <a:lstStyle/>
          <a:p>
            <a:pPr indent="0" marL="0">
              <a:buNone/>
            </a:pPr>
            <a:r>
              <a:rPr lang="en-US" sz="1500" b="1" dirty="0">
                <a:solidFill>
                  <a:srgbClr val="0F172A"/>
                </a:solidFill>
                <a:latin typeface="Arial" pitchFamily="34" charset="0"/>
                <a:ea typeface="Arial" pitchFamily="34" charset="-122"/>
                <a:cs typeface="Arial" pitchFamily="34" charset="-120"/>
              </a:rPr>
              <a:t>Charts</a:t>
            </a:r>
            <a:endParaRPr lang="en-US" sz="1500" dirty="0"/>
          </a:p>
        </p:txBody>
      </p:sp>
      <p:sp>
        <p:nvSpPr>
          <p:cNvPr id="19" name="Text 13"/>
          <p:cNvSpPr txBox="1"/>
          <p:nvPr/>
        </p:nvSpPr>
        <p:spPr>
          <a:xfrm>
            <a:off x="7818120" y="3767328"/>
            <a:ext cx="3822192" cy="566928"/>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Route and toll zones, time-distance traffic, and toll by plaza.</a:t>
            </a:r>
            <a:endParaRPr lang="en-US" sz="1300" dirty="0"/>
          </a:p>
        </p:txBody>
      </p:sp>
      <p:sp>
        <p:nvSpPr>
          <p:cNvPr id="20" name="Shape 14"/>
          <p:cNvSpPr/>
          <p:nvPr/>
        </p:nvSpPr>
        <p:spPr>
          <a:xfrm>
            <a:off x="7086600" y="4398264"/>
            <a:ext cx="530352" cy="530352"/>
          </a:xfrm>
          <a:prstGeom prst="ellipse">
            <a:avLst/>
          </a:prstGeom>
          <a:solidFill>
            <a:srgbClr val="0B1B33"/>
          </a:solidFill>
          <a:ln w="12700">
            <a:solidFill>
              <a:srgbClr val="0B1B33"/>
            </a:solidFill>
            <a:prstDash val="solid"/>
          </a:ln>
        </p:spPr>
      </p:sp>
      <p:pic>
        <p:nvPicPr>
          <p:cNvPr id="21" name="Image 4" descr="preencoded.png">    </p:cNvPr>
          <p:cNvPicPr>
            <a:picLocks noChangeAspect="1"/>
          </p:cNvPicPr>
          <p:nvPr/>
        </p:nvPicPr>
        <p:blipFill>
          <a:blip r:embed="rId5"/>
          <a:stretch>
            <a:fillRect/>
          </a:stretch>
        </p:blipFill>
        <p:spPr>
          <a:xfrm>
            <a:off x="7219188" y="4530852"/>
            <a:ext cx="265176" cy="265176"/>
          </a:xfrm>
          <a:prstGeom prst="rect">
            <a:avLst/>
          </a:prstGeom>
        </p:spPr>
      </p:pic>
      <p:sp>
        <p:nvSpPr>
          <p:cNvPr id="22" name="Text 15"/>
          <p:cNvSpPr txBox="1"/>
          <p:nvPr/>
        </p:nvSpPr>
        <p:spPr>
          <a:xfrm>
            <a:off x="7818120" y="4379976"/>
            <a:ext cx="3822192" cy="320040"/>
          </a:xfrm>
          <a:prstGeom prst="rect">
            <a:avLst/>
          </a:prstGeom>
          <a:noFill/>
          <a:ln/>
        </p:spPr>
        <p:txBody>
          <a:bodyPr wrap="square" lIns="0" tIns="0" rIns="0" bIns="0" rtlCol="0" anchor="t"/>
          <a:lstStyle/>
          <a:p>
            <a:pPr indent="0" marL="0">
              <a:buNone/>
            </a:pPr>
            <a:r>
              <a:rPr lang="en-US" sz="1500" b="1" dirty="0">
                <a:solidFill>
                  <a:srgbClr val="0F172A"/>
                </a:solidFill>
                <a:latin typeface="Arial" pitchFamily="34" charset="0"/>
                <a:ea typeface="Arial" pitchFamily="34" charset="-122"/>
                <a:cs typeface="Arial" pitchFamily="34" charset="-120"/>
              </a:rPr>
              <a:t>Interactive map</a:t>
            </a:r>
            <a:endParaRPr lang="en-US" sz="1500" dirty="0"/>
          </a:p>
        </p:txBody>
      </p:sp>
      <p:sp>
        <p:nvSpPr>
          <p:cNvPr id="23" name="Text 16"/>
          <p:cNvSpPr txBox="1"/>
          <p:nvPr/>
        </p:nvSpPr>
        <p:spPr>
          <a:xfrm>
            <a:off x="7818120" y="4700016"/>
            <a:ext cx="3822192" cy="566928"/>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Every GPS track, zone entries and exits, and each plaza's fee table.</a:t>
            </a:r>
            <a:endParaRPr lang="en-US" sz="1300" dirty="0"/>
          </a:p>
        </p:txBody>
      </p:sp>
      <p:sp>
        <p:nvSpPr>
          <p:cNvPr id="24" name="Shape 17"/>
          <p:cNvSpPr/>
          <p:nvPr/>
        </p:nvSpPr>
        <p:spPr>
          <a:xfrm>
            <a:off x="7086600" y="5330952"/>
            <a:ext cx="530352" cy="530352"/>
          </a:xfrm>
          <a:prstGeom prst="ellipse">
            <a:avLst/>
          </a:prstGeom>
          <a:solidFill>
            <a:srgbClr val="0B1B33"/>
          </a:solidFill>
          <a:ln w="12700">
            <a:solidFill>
              <a:srgbClr val="0B1B33"/>
            </a:solidFill>
            <a:prstDash val="solid"/>
          </a:ln>
        </p:spPr>
      </p:sp>
      <p:pic>
        <p:nvPicPr>
          <p:cNvPr id="25" name="Image 5" descr="preencoded.png">    </p:cNvPr>
          <p:cNvPicPr>
            <a:picLocks noChangeAspect="1"/>
          </p:cNvPicPr>
          <p:nvPr/>
        </p:nvPicPr>
        <p:blipFill>
          <a:blip r:embed="rId6"/>
          <a:stretch>
            <a:fillRect/>
          </a:stretch>
        </p:blipFill>
        <p:spPr>
          <a:xfrm>
            <a:off x="7219188" y="5463540"/>
            <a:ext cx="265176" cy="265176"/>
          </a:xfrm>
          <a:prstGeom prst="rect">
            <a:avLst/>
          </a:prstGeom>
        </p:spPr>
      </p:pic>
      <p:sp>
        <p:nvSpPr>
          <p:cNvPr id="26" name="Text 18"/>
          <p:cNvSpPr txBox="1"/>
          <p:nvPr/>
        </p:nvSpPr>
        <p:spPr>
          <a:xfrm>
            <a:off x="7818120" y="5312664"/>
            <a:ext cx="3822192" cy="320040"/>
          </a:xfrm>
          <a:prstGeom prst="rect">
            <a:avLst/>
          </a:prstGeom>
          <a:noFill/>
          <a:ln/>
        </p:spPr>
        <p:txBody>
          <a:bodyPr wrap="square" lIns="0" tIns="0" rIns="0" bIns="0" rtlCol="0" anchor="t"/>
          <a:lstStyle/>
          <a:p>
            <a:pPr indent="0" marL="0">
              <a:buNone/>
            </a:pPr>
            <a:r>
              <a:rPr lang="en-US" sz="1500" b="1" dirty="0">
                <a:solidFill>
                  <a:srgbClr val="0F172A"/>
                </a:solidFill>
                <a:latin typeface="Arial" pitchFamily="34" charset="0"/>
                <a:ea typeface="Arial" pitchFamily="34" charset="-122"/>
                <a:cs typeface="Arial" pitchFamily="34" charset="-120"/>
              </a:rPr>
              <a:t>Receipts and history</a:t>
            </a:r>
            <a:endParaRPr lang="en-US" sz="1500" dirty="0"/>
          </a:p>
        </p:txBody>
      </p:sp>
      <p:sp>
        <p:nvSpPr>
          <p:cNvPr id="27" name="Text 19"/>
          <p:cNvSpPr txBox="1"/>
          <p:nvPr/>
        </p:nvSpPr>
        <p:spPr>
          <a:xfrm>
            <a:off x="7818120" y="5632704"/>
            <a:ext cx="3822192" cy="566928"/>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Itemised receipts, with every trip stored in SQLite.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GPS Toll-Based System Simulation</a:t>
            </a:r>
            <a:endParaRPr lang="en-US" sz="1000" dirty="0"/>
          </a:p>
        </p:txBody>
      </p:sp>
      <p:sp>
        <p:nvSpPr>
          <p:cNvPr id="3" name="Text 1"/>
          <p:cNvSpPr txBox="1"/>
          <p:nvPr/>
        </p:nvSpPr>
        <p:spPr>
          <a:xfrm>
            <a:off x="10271455" y="6400800"/>
            <a:ext cx="13716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12 / 17</a:t>
            </a:r>
            <a:endParaRPr lang="en-US" sz="1000" dirty="0"/>
          </a:p>
        </p:txBody>
      </p:sp>
      <p:sp>
        <p:nvSpPr>
          <p:cNvPr id="4" name="Text 2"/>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300" kern="0" dirty="0">
                <a:solidFill>
                  <a:srgbClr val="EB6834"/>
                </a:solidFill>
                <a:latin typeface="Arial" pitchFamily="34" charset="0"/>
                <a:ea typeface="Arial" pitchFamily="34" charset="-122"/>
                <a:cs typeface="Arial" pitchFamily="34" charset="-120"/>
              </a:rPr>
              <a:t>ARCHITECTURE</a:t>
            </a:r>
            <a:endParaRPr lang="en-US" sz="1200" dirty="0"/>
          </a:p>
        </p:txBody>
      </p:sp>
      <p:sp>
        <p:nvSpPr>
          <p:cNvPr id="5" name="Text 3"/>
          <p:cNvSpPr txBox="1"/>
          <p:nvPr/>
        </p:nvSpPr>
        <p:spPr>
          <a:xfrm>
            <a:off x="548640" y="676656"/>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Four clear layers, one job per module</a:t>
            </a:r>
            <a:endParaRPr lang="en-US" sz="3000" dirty="0"/>
          </a:p>
        </p:txBody>
      </p:sp>
      <p:sp>
        <p:nvSpPr>
          <p:cNvPr id="6" name="Text 4"/>
          <p:cNvSpPr txBox="1"/>
          <p:nvPr/>
        </p:nvSpPr>
        <p:spPr>
          <a:xfrm>
            <a:off x="548640" y="1737360"/>
            <a:ext cx="2011680" cy="365760"/>
          </a:xfrm>
          <a:prstGeom prst="rect">
            <a:avLst/>
          </a:prstGeom>
          <a:noFill/>
          <a:ln/>
        </p:spPr>
        <p:txBody>
          <a:bodyPr wrap="square" lIns="0" tIns="0" rIns="0" bIns="0" rtlCol="0" anchor="t"/>
          <a:lstStyle/>
          <a:p>
            <a:pPr indent="0" marL="0">
              <a:buNone/>
            </a:pPr>
            <a:r>
              <a:rPr lang="en-US" sz="1800" b="1" dirty="0">
                <a:solidFill>
                  <a:srgbClr val="0F172A"/>
                </a:solidFill>
                <a:latin typeface="Arial" pitchFamily="34" charset="0"/>
                <a:ea typeface="Arial" pitchFamily="34" charset="-122"/>
                <a:cs typeface="Arial" pitchFamily="34" charset="-120"/>
              </a:rPr>
              <a:t>Interfaces</a:t>
            </a:r>
            <a:endParaRPr lang="en-US" sz="1800" dirty="0"/>
          </a:p>
        </p:txBody>
      </p:sp>
      <p:sp>
        <p:nvSpPr>
          <p:cNvPr id="7" name="Text 5"/>
          <p:cNvSpPr txBox="1"/>
          <p:nvPr/>
        </p:nvSpPr>
        <p:spPr>
          <a:xfrm>
            <a:off x="548640" y="2103120"/>
            <a:ext cx="2103120" cy="3200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How users run it</a:t>
            </a:r>
            <a:endParaRPr lang="en-US" sz="1300" dirty="0"/>
          </a:p>
        </p:txBody>
      </p:sp>
      <p:sp>
        <p:nvSpPr>
          <p:cNvPr id="8" name="Shape 6"/>
          <p:cNvSpPr/>
          <p:nvPr/>
        </p:nvSpPr>
        <p:spPr>
          <a:xfrm>
            <a:off x="2743200" y="1572768"/>
            <a:ext cx="4381348" cy="960120"/>
          </a:xfrm>
          <a:prstGeom prst="roundRect">
            <a:avLst>
              <a:gd name="adj" fmla="val 7619"/>
            </a:avLst>
          </a:prstGeom>
          <a:solidFill>
            <a:srgbClr val="0B1B33"/>
          </a:solidFill>
          <a:ln w="12700">
            <a:solidFill>
              <a:srgbClr val="0B1B33"/>
            </a:solidFill>
            <a:prstDash val="solid"/>
          </a:ln>
        </p:spPr>
      </p:sp>
      <p:sp>
        <p:nvSpPr>
          <p:cNvPr id="9" name="Text 7"/>
          <p:cNvSpPr txBox="1"/>
          <p:nvPr/>
        </p:nvSpPr>
        <p:spPr>
          <a:xfrm>
            <a:off x="2926080" y="1572768"/>
            <a:ext cx="4015588" cy="9601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main.py</a:t>
            </a:r>
            <a:endParaRPr lang="en-US" sz="1400" dirty="0"/>
          </a:p>
          <a:p>
            <a:pPr indent="0" marL="0">
              <a:buNone/>
            </a:pPr>
            <a:r>
              <a:rPr lang="en-US" sz="1200" dirty="0">
                <a:solidFill>
                  <a:srgbClr val="C9D6EA"/>
                </a:solidFill>
                <a:latin typeface="Calibri" pitchFamily="34" charset="0"/>
                <a:ea typeface="Calibri" pitchFamily="34" charset="-122"/>
                <a:cs typeface="Calibri" pitchFamily="34" charset="-120"/>
              </a:rPr>
              <a:t>Command line</a:t>
            </a:r>
            <a:endParaRPr lang="en-US" sz="1400" dirty="0"/>
          </a:p>
        </p:txBody>
      </p:sp>
      <p:sp>
        <p:nvSpPr>
          <p:cNvPr id="10" name="Shape 8"/>
          <p:cNvSpPr/>
          <p:nvPr/>
        </p:nvSpPr>
        <p:spPr>
          <a:xfrm>
            <a:off x="7261708" y="1572768"/>
            <a:ext cx="4381348" cy="960120"/>
          </a:xfrm>
          <a:prstGeom prst="roundRect">
            <a:avLst>
              <a:gd name="adj" fmla="val 7619"/>
            </a:avLst>
          </a:prstGeom>
          <a:solidFill>
            <a:srgbClr val="0B1B33"/>
          </a:solidFill>
          <a:ln w="12700">
            <a:solidFill>
              <a:srgbClr val="0B1B33"/>
            </a:solidFill>
            <a:prstDash val="solid"/>
          </a:ln>
        </p:spPr>
      </p:sp>
      <p:sp>
        <p:nvSpPr>
          <p:cNvPr id="11" name="Text 9"/>
          <p:cNvSpPr txBox="1"/>
          <p:nvPr/>
        </p:nvSpPr>
        <p:spPr>
          <a:xfrm>
            <a:off x="7444588" y="1572768"/>
            <a:ext cx="4015588" cy="9601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gui.py</a:t>
            </a:r>
            <a:endParaRPr lang="en-US" sz="1400" dirty="0"/>
          </a:p>
          <a:p>
            <a:pPr indent="0" marL="0">
              <a:buNone/>
            </a:pPr>
            <a:r>
              <a:rPr lang="en-US" sz="1200" dirty="0">
                <a:solidFill>
                  <a:srgbClr val="C9D6EA"/>
                </a:solidFill>
                <a:latin typeface="Calibri" pitchFamily="34" charset="0"/>
                <a:ea typeface="Calibri" pitchFamily="34" charset="-122"/>
                <a:cs typeface="Calibri" pitchFamily="34" charset="-120"/>
              </a:rPr>
              <a:t>Tkinter desktop app</a:t>
            </a:r>
            <a:endParaRPr lang="en-US" sz="1400" dirty="0"/>
          </a:p>
        </p:txBody>
      </p:sp>
      <p:sp>
        <p:nvSpPr>
          <p:cNvPr id="12" name="Text 10"/>
          <p:cNvSpPr txBox="1"/>
          <p:nvPr/>
        </p:nvSpPr>
        <p:spPr>
          <a:xfrm>
            <a:off x="548640" y="2907792"/>
            <a:ext cx="2011680" cy="365760"/>
          </a:xfrm>
          <a:prstGeom prst="rect">
            <a:avLst/>
          </a:prstGeom>
          <a:noFill/>
          <a:ln/>
        </p:spPr>
        <p:txBody>
          <a:bodyPr wrap="square" lIns="0" tIns="0" rIns="0" bIns="0" rtlCol="0" anchor="t"/>
          <a:lstStyle/>
          <a:p>
            <a:pPr indent="0" marL="0">
              <a:buNone/>
            </a:pPr>
            <a:r>
              <a:rPr lang="en-US" sz="1800" b="1" dirty="0">
                <a:solidFill>
                  <a:srgbClr val="0F172A"/>
                </a:solidFill>
                <a:latin typeface="Arial" pitchFamily="34" charset="0"/>
                <a:ea typeface="Arial" pitchFamily="34" charset="-122"/>
                <a:cs typeface="Arial" pitchFamily="34" charset="-120"/>
              </a:rPr>
              <a:t>Output</a:t>
            </a:r>
            <a:endParaRPr lang="en-US" sz="1800" dirty="0"/>
          </a:p>
        </p:txBody>
      </p:sp>
      <p:sp>
        <p:nvSpPr>
          <p:cNvPr id="13" name="Text 11"/>
          <p:cNvSpPr txBox="1"/>
          <p:nvPr/>
        </p:nvSpPr>
        <p:spPr>
          <a:xfrm>
            <a:off x="548640" y="3273552"/>
            <a:ext cx="2103120" cy="3200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What users see</a:t>
            </a:r>
            <a:endParaRPr lang="en-US" sz="1300" dirty="0"/>
          </a:p>
        </p:txBody>
      </p:sp>
      <p:sp>
        <p:nvSpPr>
          <p:cNvPr id="14" name="Shape 12"/>
          <p:cNvSpPr/>
          <p:nvPr/>
        </p:nvSpPr>
        <p:spPr>
          <a:xfrm>
            <a:off x="2743200" y="2743200"/>
            <a:ext cx="2875178" cy="960120"/>
          </a:xfrm>
          <a:prstGeom prst="roundRect">
            <a:avLst>
              <a:gd name="adj" fmla="val 7619"/>
            </a:avLst>
          </a:prstGeom>
          <a:solidFill>
            <a:srgbClr val="E3EEFB"/>
          </a:solidFill>
          <a:ln w="12700">
            <a:solidFill>
              <a:srgbClr val="E3EEFB"/>
            </a:solidFill>
            <a:prstDash val="solid"/>
          </a:ln>
        </p:spPr>
      </p:sp>
      <p:sp>
        <p:nvSpPr>
          <p:cNvPr id="15" name="Text 13"/>
          <p:cNvSpPr txBox="1"/>
          <p:nvPr/>
        </p:nvSpPr>
        <p:spPr>
          <a:xfrm>
            <a:off x="2926080" y="2743200"/>
            <a:ext cx="2509418" cy="9601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visualization.py</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Matplotlib charts, Folium map</a:t>
            </a:r>
            <a:endParaRPr lang="en-US" sz="1400" dirty="0"/>
          </a:p>
        </p:txBody>
      </p:sp>
      <p:sp>
        <p:nvSpPr>
          <p:cNvPr id="16" name="Shape 14"/>
          <p:cNvSpPr/>
          <p:nvPr/>
        </p:nvSpPr>
        <p:spPr>
          <a:xfrm>
            <a:off x="5755538" y="2743200"/>
            <a:ext cx="2875178" cy="960120"/>
          </a:xfrm>
          <a:prstGeom prst="roundRect">
            <a:avLst>
              <a:gd name="adj" fmla="val 7619"/>
            </a:avLst>
          </a:prstGeom>
          <a:solidFill>
            <a:srgbClr val="E3EEFB"/>
          </a:solidFill>
          <a:ln w="12700">
            <a:solidFill>
              <a:srgbClr val="E3EEFB"/>
            </a:solidFill>
            <a:prstDash val="solid"/>
          </a:ln>
        </p:spPr>
      </p:sp>
      <p:sp>
        <p:nvSpPr>
          <p:cNvPr id="17" name="Text 15"/>
          <p:cNvSpPr txBox="1"/>
          <p:nvPr/>
        </p:nvSpPr>
        <p:spPr>
          <a:xfrm>
            <a:off x="5938418" y="2743200"/>
            <a:ext cx="2509418" cy="9601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billing.py</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Itemised receipts</a:t>
            </a:r>
            <a:endParaRPr lang="en-US" sz="1400" dirty="0"/>
          </a:p>
        </p:txBody>
      </p:sp>
      <p:sp>
        <p:nvSpPr>
          <p:cNvPr id="18" name="Shape 16"/>
          <p:cNvSpPr/>
          <p:nvPr/>
        </p:nvSpPr>
        <p:spPr>
          <a:xfrm>
            <a:off x="8767877" y="2743200"/>
            <a:ext cx="2875178" cy="960120"/>
          </a:xfrm>
          <a:prstGeom prst="roundRect">
            <a:avLst>
              <a:gd name="adj" fmla="val 7619"/>
            </a:avLst>
          </a:prstGeom>
          <a:solidFill>
            <a:srgbClr val="E3EEFB"/>
          </a:solidFill>
          <a:ln w="12700">
            <a:solidFill>
              <a:srgbClr val="E3EEFB"/>
            </a:solidFill>
            <a:prstDash val="solid"/>
          </a:ln>
        </p:spPr>
      </p:sp>
      <p:sp>
        <p:nvSpPr>
          <p:cNvPr id="19" name="Text 17"/>
          <p:cNvSpPr txBox="1"/>
          <p:nvPr/>
        </p:nvSpPr>
        <p:spPr>
          <a:xfrm>
            <a:off x="8950757" y="2743200"/>
            <a:ext cx="2509418" cy="9601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storage.py</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SQLite trip history</a:t>
            </a:r>
            <a:endParaRPr lang="en-US" sz="1400" dirty="0"/>
          </a:p>
        </p:txBody>
      </p:sp>
      <p:sp>
        <p:nvSpPr>
          <p:cNvPr id="20" name="Text 18"/>
          <p:cNvSpPr txBox="1"/>
          <p:nvPr/>
        </p:nvSpPr>
        <p:spPr>
          <a:xfrm>
            <a:off x="548640" y="4078224"/>
            <a:ext cx="2011680" cy="365760"/>
          </a:xfrm>
          <a:prstGeom prst="rect">
            <a:avLst/>
          </a:prstGeom>
          <a:noFill/>
          <a:ln/>
        </p:spPr>
        <p:txBody>
          <a:bodyPr wrap="square" lIns="0" tIns="0" rIns="0" bIns="0" rtlCol="0" anchor="t"/>
          <a:lstStyle/>
          <a:p>
            <a:pPr indent="0" marL="0">
              <a:buNone/>
            </a:pPr>
            <a:r>
              <a:rPr lang="en-US" sz="1800" b="1" dirty="0">
                <a:solidFill>
                  <a:srgbClr val="0F172A"/>
                </a:solidFill>
                <a:latin typeface="Arial" pitchFamily="34" charset="0"/>
                <a:ea typeface="Arial" pitchFamily="34" charset="-122"/>
                <a:cs typeface="Arial" pitchFamily="34" charset="-120"/>
              </a:rPr>
              <a:t>Core</a:t>
            </a:r>
            <a:endParaRPr lang="en-US" sz="1800" dirty="0"/>
          </a:p>
        </p:txBody>
      </p:sp>
      <p:sp>
        <p:nvSpPr>
          <p:cNvPr id="21" name="Text 19"/>
          <p:cNvSpPr txBox="1"/>
          <p:nvPr/>
        </p:nvSpPr>
        <p:spPr>
          <a:xfrm>
            <a:off x="548640" y="4443984"/>
            <a:ext cx="2103120" cy="3200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The simulation</a:t>
            </a:r>
            <a:endParaRPr lang="en-US" sz="1300" dirty="0"/>
          </a:p>
        </p:txBody>
      </p:sp>
      <p:sp>
        <p:nvSpPr>
          <p:cNvPr id="22" name="Shape 20"/>
          <p:cNvSpPr/>
          <p:nvPr/>
        </p:nvSpPr>
        <p:spPr>
          <a:xfrm>
            <a:off x="2743200" y="3913632"/>
            <a:ext cx="2122094" cy="960120"/>
          </a:xfrm>
          <a:prstGeom prst="roundRect">
            <a:avLst>
              <a:gd name="adj" fmla="val 7619"/>
            </a:avLst>
          </a:prstGeom>
          <a:solidFill>
            <a:srgbClr val="FCE7DD"/>
          </a:solidFill>
          <a:ln w="12700">
            <a:solidFill>
              <a:srgbClr val="FCE7DD"/>
            </a:solidFill>
            <a:prstDash val="solid"/>
          </a:ln>
        </p:spPr>
      </p:sp>
      <p:sp>
        <p:nvSpPr>
          <p:cNvPr id="23" name="Text 21"/>
          <p:cNvSpPr txBox="1"/>
          <p:nvPr/>
        </p:nvSpPr>
        <p:spPr>
          <a:xfrm>
            <a:off x="2926080" y="3913632"/>
            <a:ext cx="1756334" cy="9601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simulation.py</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SimPy fleet, speed, GPS</a:t>
            </a:r>
            <a:endParaRPr lang="en-US" sz="1400" dirty="0"/>
          </a:p>
        </p:txBody>
      </p:sp>
      <p:sp>
        <p:nvSpPr>
          <p:cNvPr id="24" name="Shape 22"/>
          <p:cNvSpPr/>
          <p:nvPr/>
        </p:nvSpPr>
        <p:spPr>
          <a:xfrm>
            <a:off x="5002454" y="3913632"/>
            <a:ext cx="2122094" cy="960120"/>
          </a:xfrm>
          <a:prstGeom prst="roundRect">
            <a:avLst>
              <a:gd name="adj" fmla="val 7619"/>
            </a:avLst>
          </a:prstGeom>
          <a:solidFill>
            <a:srgbClr val="FCE7DD"/>
          </a:solidFill>
          <a:ln w="12700">
            <a:solidFill>
              <a:srgbClr val="FCE7DD"/>
            </a:solidFill>
            <a:prstDash val="solid"/>
          </a:ln>
        </p:spPr>
      </p:sp>
      <p:sp>
        <p:nvSpPr>
          <p:cNvPr id="25" name="Text 23"/>
          <p:cNvSpPr txBox="1"/>
          <p:nvPr/>
        </p:nvSpPr>
        <p:spPr>
          <a:xfrm>
            <a:off x="5185334" y="3913632"/>
            <a:ext cx="1756334" cy="9601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tolling.py</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Toll zones and bill</a:t>
            </a:r>
            <a:endParaRPr lang="en-US" sz="1400" dirty="0"/>
          </a:p>
        </p:txBody>
      </p:sp>
      <p:sp>
        <p:nvSpPr>
          <p:cNvPr id="26" name="Shape 24"/>
          <p:cNvSpPr/>
          <p:nvPr/>
        </p:nvSpPr>
        <p:spPr>
          <a:xfrm>
            <a:off x="7261708" y="3913632"/>
            <a:ext cx="2122094" cy="960120"/>
          </a:xfrm>
          <a:prstGeom prst="roundRect">
            <a:avLst>
              <a:gd name="adj" fmla="val 7619"/>
            </a:avLst>
          </a:prstGeom>
          <a:solidFill>
            <a:srgbClr val="FCE7DD"/>
          </a:solidFill>
          <a:ln w="12700">
            <a:solidFill>
              <a:srgbClr val="FCE7DD"/>
            </a:solidFill>
            <a:prstDash val="solid"/>
          </a:ln>
        </p:spPr>
      </p:sp>
      <p:sp>
        <p:nvSpPr>
          <p:cNvPr id="27" name="Text 25"/>
          <p:cNvSpPr txBox="1"/>
          <p:nvPr/>
        </p:nvSpPr>
        <p:spPr>
          <a:xfrm>
            <a:off x="7444588" y="3913632"/>
            <a:ext cx="1756334" cy="9601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models.py</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Route, map-matching</a:t>
            </a:r>
            <a:endParaRPr lang="en-US" sz="1400" dirty="0"/>
          </a:p>
        </p:txBody>
      </p:sp>
      <p:sp>
        <p:nvSpPr>
          <p:cNvPr id="28" name="Shape 26"/>
          <p:cNvSpPr/>
          <p:nvPr/>
        </p:nvSpPr>
        <p:spPr>
          <a:xfrm>
            <a:off x="9520961" y="3913632"/>
            <a:ext cx="2122094" cy="960120"/>
          </a:xfrm>
          <a:prstGeom prst="roundRect">
            <a:avLst>
              <a:gd name="adj" fmla="val 7619"/>
            </a:avLst>
          </a:prstGeom>
          <a:solidFill>
            <a:srgbClr val="FCE7DD"/>
          </a:solidFill>
          <a:ln w="12700">
            <a:solidFill>
              <a:srgbClr val="FCE7DD"/>
            </a:solidFill>
            <a:prstDash val="solid"/>
          </a:ln>
        </p:spPr>
      </p:sp>
      <p:sp>
        <p:nvSpPr>
          <p:cNvPr id="29" name="Text 27"/>
          <p:cNvSpPr txBox="1"/>
          <p:nvPr/>
        </p:nvSpPr>
        <p:spPr>
          <a:xfrm>
            <a:off x="9703841" y="3913632"/>
            <a:ext cx="1756334" cy="9601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rates.py</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Vehicle classes</a:t>
            </a:r>
            <a:endParaRPr lang="en-US" sz="1400" dirty="0"/>
          </a:p>
        </p:txBody>
      </p:sp>
      <p:sp>
        <p:nvSpPr>
          <p:cNvPr id="30" name="Text 28"/>
          <p:cNvSpPr txBox="1"/>
          <p:nvPr/>
        </p:nvSpPr>
        <p:spPr>
          <a:xfrm>
            <a:off x="548640" y="5248656"/>
            <a:ext cx="2011680" cy="365760"/>
          </a:xfrm>
          <a:prstGeom prst="rect">
            <a:avLst/>
          </a:prstGeom>
          <a:noFill/>
          <a:ln/>
        </p:spPr>
        <p:txBody>
          <a:bodyPr wrap="square" lIns="0" tIns="0" rIns="0" bIns="0" rtlCol="0" anchor="t"/>
          <a:lstStyle/>
          <a:p>
            <a:pPr indent="0" marL="0">
              <a:buNone/>
            </a:pPr>
            <a:r>
              <a:rPr lang="en-US" sz="1800" b="1" dirty="0">
                <a:solidFill>
                  <a:srgbClr val="0F172A"/>
                </a:solidFill>
                <a:latin typeface="Arial" pitchFamily="34" charset="0"/>
                <a:ea typeface="Arial" pitchFamily="34" charset="-122"/>
                <a:cs typeface="Arial" pitchFamily="34" charset="-120"/>
              </a:rPr>
              <a:t>Data</a:t>
            </a:r>
            <a:endParaRPr lang="en-US" sz="1800" dirty="0"/>
          </a:p>
        </p:txBody>
      </p:sp>
      <p:sp>
        <p:nvSpPr>
          <p:cNvPr id="31" name="Text 29"/>
          <p:cNvSpPr txBox="1"/>
          <p:nvPr/>
        </p:nvSpPr>
        <p:spPr>
          <a:xfrm>
            <a:off x="548640" y="5614416"/>
            <a:ext cx="2103120" cy="3200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Real inputs and records</a:t>
            </a:r>
            <a:endParaRPr lang="en-US" sz="1300" dirty="0"/>
          </a:p>
        </p:txBody>
      </p:sp>
      <p:sp>
        <p:nvSpPr>
          <p:cNvPr id="32" name="Shape 30"/>
          <p:cNvSpPr/>
          <p:nvPr/>
        </p:nvSpPr>
        <p:spPr>
          <a:xfrm>
            <a:off x="2743200" y="5084064"/>
            <a:ext cx="2875178" cy="960120"/>
          </a:xfrm>
          <a:prstGeom prst="roundRect">
            <a:avLst>
              <a:gd name="adj" fmla="val 7619"/>
            </a:avLst>
          </a:prstGeom>
          <a:solidFill>
            <a:srgbClr val="F1F5F9"/>
          </a:solidFill>
          <a:ln w="12700">
            <a:solidFill>
              <a:srgbClr val="F1F5F9"/>
            </a:solidFill>
            <a:prstDash val="solid"/>
          </a:ln>
        </p:spPr>
      </p:sp>
      <p:sp>
        <p:nvSpPr>
          <p:cNvPr id="33" name="Text 31"/>
          <p:cNvSpPr txBox="1"/>
          <p:nvPr/>
        </p:nvSpPr>
        <p:spPr>
          <a:xfrm>
            <a:off x="2926080" y="5084064"/>
            <a:ext cx="2509418" cy="9601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route.json</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OpenStreetMap road</a:t>
            </a:r>
            <a:endParaRPr lang="en-US" sz="1400" dirty="0"/>
          </a:p>
        </p:txBody>
      </p:sp>
      <p:sp>
        <p:nvSpPr>
          <p:cNvPr id="34" name="Shape 32"/>
          <p:cNvSpPr/>
          <p:nvPr/>
        </p:nvSpPr>
        <p:spPr>
          <a:xfrm>
            <a:off x="5755538" y="5084064"/>
            <a:ext cx="2875178" cy="960120"/>
          </a:xfrm>
          <a:prstGeom prst="roundRect">
            <a:avLst>
              <a:gd name="adj" fmla="val 7619"/>
            </a:avLst>
          </a:prstGeom>
          <a:solidFill>
            <a:srgbClr val="F1F5F9"/>
          </a:solidFill>
          <a:ln w="12700">
            <a:solidFill>
              <a:srgbClr val="F1F5F9"/>
            </a:solidFill>
            <a:prstDash val="solid"/>
          </a:ln>
        </p:spPr>
      </p:sp>
      <p:sp>
        <p:nvSpPr>
          <p:cNvPr id="35" name="Text 33"/>
          <p:cNvSpPr txBox="1"/>
          <p:nvPr/>
        </p:nvSpPr>
        <p:spPr>
          <a:xfrm>
            <a:off x="5938418" y="5084064"/>
            <a:ext cx="2509418" cy="9601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toll_plazas.json</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NHAI fees and lengths</a:t>
            </a:r>
            <a:endParaRPr lang="en-US" sz="1400" dirty="0"/>
          </a:p>
        </p:txBody>
      </p:sp>
      <p:sp>
        <p:nvSpPr>
          <p:cNvPr id="36" name="Shape 34"/>
          <p:cNvSpPr/>
          <p:nvPr/>
        </p:nvSpPr>
        <p:spPr>
          <a:xfrm>
            <a:off x="8767877" y="5084064"/>
            <a:ext cx="2875178" cy="960120"/>
          </a:xfrm>
          <a:prstGeom prst="roundRect">
            <a:avLst>
              <a:gd name="adj" fmla="val 7619"/>
            </a:avLst>
          </a:prstGeom>
          <a:solidFill>
            <a:srgbClr val="F1F5F9"/>
          </a:solidFill>
          <a:ln w="12700">
            <a:solidFill>
              <a:srgbClr val="F1F5F9"/>
            </a:solidFill>
            <a:prstDash val="solid"/>
          </a:ln>
        </p:spPr>
      </p:sp>
      <p:sp>
        <p:nvSpPr>
          <p:cNvPr id="37" name="Text 35"/>
          <p:cNvSpPr txBox="1"/>
          <p:nvPr/>
        </p:nvSpPr>
        <p:spPr>
          <a:xfrm>
            <a:off x="8950757" y="5084064"/>
            <a:ext cx="2509418" cy="960120"/>
          </a:xfrm>
          <a:prstGeom prst="rect">
            <a:avLst/>
          </a:prstGeom>
          <a:noFill/>
          <a:ln/>
        </p:spPr>
        <p:txBody>
          <a:bodyPr wrap="square" lIns="0" tIns="0" rIns="0" bIns="0" rtlCol="0" anchor="ctr"/>
          <a:lstStyle/>
          <a:p>
            <a:pPr indent="0" marL="0">
              <a:buNone/>
            </a:pPr>
            <a:r>
              <a:rPr lang="en-US" sz="1400" b="1" dirty="0">
                <a:solidFill>
                  <a:srgbClr val="0F172A"/>
                </a:solidFill>
                <a:latin typeface="Arial" pitchFamily="34" charset="0"/>
                <a:ea typeface="Arial" pitchFamily="34" charset="-122"/>
                <a:cs typeface="Arial" pitchFamily="34" charset="-120"/>
              </a:rPr>
              <a:t>trips.db</a:t>
            </a:r>
            <a:endParaRPr lang="en-US" sz="1400" dirty="0"/>
          </a:p>
          <a:p>
            <a:pPr indent="0" marL="0">
              <a:buNone/>
            </a:pPr>
            <a:r>
              <a:rPr lang="en-US" sz="1200" dirty="0">
                <a:solidFill>
                  <a:srgbClr val="475569"/>
                </a:solidFill>
                <a:latin typeface="Calibri" pitchFamily="34" charset="0"/>
                <a:ea typeface="Calibri" pitchFamily="34" charset="-122"/>
                <a:cs typeface="Calibri" pitchFamily="34" charset="-120"/>
              </a:rPr>
              <a:t>Saved trips and charges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GPS Toll-Based System Simulation</a:t>
            </a:r>
            <a:endParaRPr lang="en-US" sz="1000" dirty="0"/>
          </a:p>
        </p:txBody>
      </p:sp>
      <p:sp>
        <p:nvSpPr>
          <p:cNvPr id="3" name="Text 1"/>
          <p:cNvSpPr txBox="1"/>
          <p:nvPr/>
        </p:nvSpPr>
        <p:spPr>
          <a:xfrm>
            <a:off x="10271455" y="6400800"/>
            <a:ext cx="13716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13 / 17</a:t>
            </a:r>
            <a:endParaRPr lang="en-US" sz="1000" dirty="0"/>
          </a:p>
        </p:txBody>
      </p:sp>
      <p:sp>
        <p:nvSpPr>
          <p:cNvPr id="4" name="Text 2"/>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300" kern="0" dirty="0">
                <a:solidFill>
                  <a:srgbClr val="EB6834"/>
                </a:solidFill>
                <a:latin typeface="Arial" pitchFamily="34" charset="0"/>
                <a:ea typeface="Arial" pitchFamily="34" charset="-122"/>
                <a:cs typeface="Arial" pitchFamily="34" charset="-120"/>
              </a:rPr>
              <a:t>TECHNOLOGY</a:t>
            </a:r>
            <a:endParaRPr lang="en-US" sz="1200" dirty="0"/>
          </a:p>
        </p:txBody>
      </p:sp>
      <p:sp>
        <p:nvSpPr>
          <p:cNvPr id="5" name="Text 3"/>
          <p:cNvSpPr txBox="1"/>
          <p:nvPr/>
        </p:nvSpPr>
        <p:spPr>
          <a:xfrm>
            <a:off x="548640" y="676656"/>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Built with proven open-source tools</a:t>
            </a:r>
            <a:endParaRPr lang="en-US" sz="3000" dirty="0"/>
          </a:p>
        </p:txBody>
      </p:sp>
      <p:sp>
        <p:nvSpPr>
          <p:cNvPr id="6" name="Shape 4"/>
          <p:cNvSpPr/>
          <p:nvPr/>
        </p:nvSpPr>
        <p:spPr>
          <a:xfrm>
            <a:off x="548640" y="1572768"/>
            <a:ext cx="3557016" cy="1371600"/>
          </a:xfrm>
          <a:prstGeom prst="roundRect">
            <a:avLst>
              <a:gd name="adj" fmla="val 5333"/>
            </a:avLst>
          </a:prstGeom>
          <a:solidFill>
            <a:srgbClr val="F1F5F9"/>
          </a:solidFill>
          <a:ln w="12700">
            <a:solidFill>
              <a:srgbClr val="F1F5F9"/>
            </a:solidFill>
            <a:prstDash val="solid"/>
          </a:ln>
        </p:spPr>
      </p:sp>
      <p:sp>
        <p:nvSpPr>
          <p:cNvPr id="7" name="Shape 5"/>
          <p:cNvSpPr/>
          <p:nvPr/>
        </p:nvSpPr>
        <p:spPr>
          <a:xfrm>
            <a:off x="804672" y="1920240"/>
            <a:ext cx="676656" cy="676656"/>
          </a:xfrm>
          <a:prstGeom prst="ellipse">
            <a:avLst/>
          </a:prstGeom>
          <a:solidFill>
            <a:srgbClr val="0B1B33"/>
          </a:solidFill>
          <a:ln w="12700">
            <a:solidFill>
              <a:srgbClr val="0B1B33"/>
            </a:solidFill>
            <a:prstDash val="solid"/>
          </a:ln>
        </p:spPr>
      </p:sp>
      <p:pic>
        <p:nvPicPr>
          <p:cNvPr id="8" name="Image 0" descr="preencoded.png">    </p:cNvPr>
          <p:cNvPicPr>
            <a:picLocks noChangeAspect="1"/>
          </p:cNvPicPr>
          <p:nvPr/>
        </p:nvPicPr>
        <p:blipFill>
          <a:blip r:embed="rId1"/>
          <a:stretch>
            <a:fillRect/>
          </a:stretch>
        </p:blipFill>
        <p:spPr>
          <a:xfrm>
            <a:off x="973836" y="2089404"/>
            <a:ext cx="338328" cy="338328"/>
          </a:xfrm>
          <a:prstGeom prst="rect">
            <a:avLst/>
          </a:prstGeom>
        </p:spPr>
      </p:pic>
      <p:sp>
        <p:nvSpPr>
          <p:cNvPr id="9" name="Text 6"/>
          <p:cNvSpPr txBox="1"/>
          <p:nvPr/>
        </p:nvSpPr>
        <p:spPr>
          <a:xfrm>
            <a:off x="1664208" y="1847088"/>
            <a:ext cx="2276856" cy="365760"/>
          </a:xfrm>
          <a:prstGeom prst="rect">
            <a:avLst/>
          </a:prstGeom>
          <a:noFill/>
          <a:ln/>
        </p:spPr>
        <p:txBody>
          <a:bodyPr wrap="square" lIns="0" tIns="0" rIns="0" bIns="0" rtlCol="0" anchor="t"/>
          <a:lstStyle/>
          <a:p>
            <a:pPr indent="0" marL="0">
              <a:buNone/>
            </a:pPr>
            <a:r>
              <a:rPr lang="en-US" sz="1600" b="1" dirty="0">
                <a:solidFill>
                  <a:srgbClr val="0F172A"/>
                </a:solidFill>
                <a:latin typeface="Arial" pitchFamily="34" charset="0"/>
                <a:ea typeface="Arial" pitchFamily="34" charset="-122"/>
                <a:cs typeface="Arial" pitchFamily="34" charset="-120"/>
              </a:rPr>
              <a:t>Python 3.9+</a:t>
            </a:r>
            <a:endParaRPr lang="en-US" sz="1600" dirty="0"/>
          </a:p>
        </p:txBody>
      </p:sp>
      <p:sp>
        <p:nvSpPr>
          <p:cNvPr id="10" name="Text 7"/>
          <p:cNvSpPr txBox="1"/>
          <p:nvPr/>
        </p:nvSpPr>
        <p:spPr>
          <a:xfrm>
            <a:off x="1664208" y="2231136"/>
            <a:ext cx="2276856" cy="54864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Language; tested on 3.11 and 3.12</a:t>
            </a:r>
            <a:endParaRPr lang="en-US" sz="1300" dirty="0"/>
          </a:p>
        </p:txBody>
      </p:sp>
      <p:sp>
        <p:nvSpPr>
          <p:cNvPr id="11" name="Shape 8"/>
          <p:cNvSpPr/>
          <p:nvPr/>
        </p:nvSpPr>
        <p:spPr>
          <a:xfrm>
            <a:off x="4315968" y="1572768"/>
            <a:ext cx="3557016" cy="1371600"/>
          </a:xfrm>
          <a:prstGeom prst="roundRect">
            <a:avLst>
              <a:gd name="adj" fmla="val 5333"/>
            </a:avLst>
          </a:prstGeom>
          <a:solidFill>
            <a:srgbClr val="F1F5F9"/>
          </a:solidFill>
          <a:ln w="12700">
            <a:solidFill>
              <a:srgbClr val="F1F5F9"/>
            </a:solidFill>
            <a:prstDash val="solid"/>
          </a:ln>
        </p:spPr>
      </p:sp>
      <p:sp>
        <p:nvSpPr>
          <p:cNvPr id="12" name="Shape 9"/>
          <p:cNvSpPr/>
          <p:nvPr/>
        </p:nvSpPr>
        <p:spPr>
          <a:xfrm>
            <a:off x="4572000" y="1920240"/>
            <a:ext cx="676656" cy="676656"/>
          </a:xfrm>
          <a:prstGeom prst="ellipse">
            <a:avLst/>
          </a:prstGeom>
          <a:solidFill>
            <a:srgbClr val="0B1B33"/>
          </a:solidFill>
          <a:ln w="12700">
            <a:solidFill>
              <a:srgbClr val="0B1B33"/>
            </a:solidFill>
            <a:prstDash val="solid"/>
          </a:ln>
        </p:spPr>
      </p:sp>
      <p:pic>
        <p:nvPicPr>
          <p:cNvPr id="13" name="Image 1" descr="preencoded.png">    </p:cNvPr>
          <p:cNvPicPr>
            <a:picLocks noChangeAspect="1"/>
          </p:cNvPicPr>
          <p:nvPr/>
        </p:nvPicPr>
        <p:blipFill>
          <a:blip r:embed="rId2"/>
          <a:stretch>
            <a:fillRect/>
          </a:stretch>
        </p:blipFill>
        <p:spPr>
          <a:xfrm>
            <a:off x="4741164" y="2089404"/>
            <a:ext cx="338328" cy="338328"/>
          </a:xfrm>
          <a:prstGeom prst="rect">
            <a:avLst/>
          </a:prstGeom>
        </p:spPr>
      </p:pic>
      <p:sp>
        <p:nvSpPr>
          <p:cNvPr id="14" name="Text 10"/>
          <p:cNvSpPr txBox="1"/>
          <p:nvPr/>
        </p:nvSpPr>
        <p:spPr>
          <a:xfrm>
            <a:off x="5431536" y="1847088"/>
            <a:ext cx="2276856" cy="365760"/>
          </a:xfrm>
          <a:prstGeom prst="rect">
            <a:avLst/>
          </a:prstGeom>
          <a:noFill/>
          <a:ln/>
        </p:spPr>
        <p:txBody>
          <a:bodyPr wrap="square" lIns="0" tIns="0" rIns="0" bIns="0" rtlCol="0" anchor="t"/>
          <a:lstStyle/>
          <a:p>
            <a:pPr indent="0" marL="0">
              <a:buNone/>
            </a:pPr>
            <a:r>
              <a:rPr lang="en-US" sz="1600" b="1" dirty="0">
                <a:solidFill>
                  <a:srgbClr val="0F172A"/>
                </a:solidFill>
                <a:latin typeface="Arial" pitchFamily="34" charset="0"/>
                <a:ea typeface="Arial" pitchFamily="34" charset="-122"/>
                <a:cs typeface="Arial" pitchFamily="34" charset="-120"/>
              </a:rPr>
              <a:t>SimPy</a:t>
            </a:r>
            <a:endParaRPr lang="en-US" sz="1600" dirty="0"/>
          </a:p>
        </p:txBody>
      </p:sp>
      <p:sp>
        <p:nvSpPr>
          <p:cNvPr id="15" name="Text 11"/>
          <p:cNvSpPr txBox="1"/>
          <p:nvPr/>
        </p:nvSpPr>
        <p:spPr>
          <a:xfrm>
            <a:off x="5431536" y="2231136"/>
            <a:ext cx="2276856" cy="54864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Discrete-event simulation of every vehicle</a:t>
            </a:r>
            <a:endParaRPr lang="en-US" sz="1300" dirty="0"/>
          </a:p>
        </p:txBody>
      </p:sp>
      <p:sp>
        <p:nvSpPr>
          <p:cNvPr id="16" name="Shape 12"/>
          <p:cNvSpPr/>
          <p:nvPr/>
        </p:nvSpPr>
        <p:spPr>
          <a:xfrm>
            <a:off x="8083296" y="1572768"/>
            <a:ext cx="3557016" cy="1371600"/>
          </a:xfrm>
          <a:prstGeom prst="roundRect">
            <a:avLst>
              <a:gd name="adj" fmla="val 5333"/>
            </a:avLst>
          </a:prstGeom>
          <a:solidFill>
            <a:srgbClr val="F1F5F9"/>
          </a:solidFill>
          <a:ln w="12700">
            <a:solidFill>
              <a:srgbClr val="F1F5F9"/>
            </a:solidFill>
            <a:prstDash val="solid"/>
          </a:ln>
        </p:spPr>
      </p:sp>
      <p:sp>
        <p:nvSpPr>
          <p:cNvPr id="17" name="Shape 13"/>
          <p:cNvSpPr/>
          <p:nvPr/>
        </p:nvSpPr>
        <p:spPr>
          <a:xfrm>
            <a:off x="8339328" y="1920240"/>
            <a:ext cx="676656" cy="676656"/>
          </a:xfrm>
          <a:prstGeom prst="ellipse">
            <a:avLst/>
          </a:prstGeom>
          <a:solidFill>
            <a:srgbClr val="0B1B33"/>
          </a:solidFill>
          <a:ln w="12700">
            <a:solidFill>
              <a:srgbClr val="0B1B33"/>
            </a:solidFill>
            <a:prstDash val="solid"/>
          </a:ln>
        </p:spPr>
      </p:sp>
      <p:pic>
        <p:nvPicPr>
          <p:cNvPr id="18" name="Image 2" descr="preencoded.png">    </p:cNvPr>
          <p:cNvPicPr>
            <a:picLocks noChangeAspect="1"/>
          </p:cNvPicPr>
          <p:nvPr/>
        </p:nvPicPr>
        <p:blipFill>
          <a:blip r:embed="rId3"/>
          <a:stretch>
            <a:fillRect/>
          </a:stretch>
        </p:blipFill>
        <p:spPr>
          <a:xfrm>
            <a:off x="8508492" y="2089404"/>
            <a:ext cx="338328" cy="338328"/>
          </a:xfrm>
          <a:prstGeom prst="rect">
            <a:avLst/>
          </a:prstGeom>
        </p:spPr>
      </p:pic>
      <p:sp>
        <p:nvSpPr>
          <p:cNvPr id="19" name="Text 14"/>
          <p:cNvSpPr txBox="1"/>
          <p:nvPr/>
        </p:nvSpPr>
        <p:spPr>
          <a:xfrm>
            <a:off x="9198864" y="1847088"/>
            <a:ext cx="2276856" cy="365760"/>
          </a:xfrm>
          <a:prstGeom prst="rect">
            <a:avLst/>
          </a:prstGeom>
          <a:noFill/>
          <a:ln/>
        </p:spPr>
        <p:txBody>
          <a:bodyPr wrap="square" lIns="0" tIns="0" rIns="0" bIns="0" rtlCol="0" anchor="t"/>
          <a:lstStyle/>
          <a:p>
            <a:pPr indent="0" marL="0">
              <a:buNone/>
            </a:pPr>
            <a:r>
              <a:rPr lang="en-US" sz="1600" b="1" dirty="0">
                <a:solidFill>
                  <a:srgbClr val="0F172A"/>
                </a:solidFill>
                <a:latin typeface="Arial" pitchFamily="34" charset="0"/>
                <a:ea typeface="Arial" pitchFamily="34" charset="-122"/>
                <a:cs typeface="Arial" pitchFamily="34" charset="-120"/>
              </a:rPr>
              <a:t>Geopy</a:t>
            </a:r>
            <a:endParaRPr lang="en-US" sz="1600" dirty="0"/>
          </a:p>
        </p:txBody>
      </p:sp>
      <p:sp>
        <p:nvSpPr>
          <p:cNvPr id="20" name="Text 15"/>
          <p:cNvSpPr txBox="1"/>
          <p:nvPr/>
        </p:nvSpPr>
        <p:spPr>
          <a:xfrm>
            <a:off x="9198864" y="2231136"/>
            <a:ext cx="2276856" cy="54864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Geodesic distances along the road</a:t>
            </a:r>
            <a:endParaRPr lang="en-US" sz="1300" dirty="0"/>
          </a:p>
        </p:txBody>
      </p:sp>
      <p:sp>
        <p:nvSpPr>
          <p:cNvPr id="21" name="Shape 16"/>
          <p:cNvSpPr/>
          <p:nvPr/>
        </p:nvSpPr>
        <p:spPr>
          <a:xfrm>
            <a:off x="548640" y="3127248"/>
            <a:ext cx="3557016" cy="1371600"/>
          </a:xfrm>
          <a:prstGeom prst="roundRect">
            <a:avLst>
              <a:gd name="adj" fmla="val 5333"/>
            </a:avLst>
          </a:prstGeom>
          <a:solidFill>
            <a:srgbClr val="F1F5F9"/>
          </a:solidFill>
          <a:ln w="12700">
            <a:solidFill>
              <a:srgbClr val="F1F5F9"/>
            </a:solidFill>
            <a:prstDash val="solid"/>
          </a:ln>
        </p:spPr>
      </p:sp>
      <p:sp>
        <p:nvSpPr>
          <p:cNvPr id="22" name="Shape 17"/>
          <p:cNvSpPr/>
          <p:nvPr/>
        </p:nvSpPr>
        <p:spPr>
          <a:xfrm>
            <a:off x="804672" y="3474720"/>
            <a:ext cx="676656" cy="676656"/>
          </a:xfrm>
          <a:prstGeom prst="ellipse">
            <a:avLst/>
          </a:prstGeom>
          <a:solidFill>
            <a:srgbClr val="0B1B33"/>
          </a:solidFill>
          <a:ln w="12700">
            <a:solidFill>
              <a:srgbClr val="0B1B33"/>
            </a:solidFill>
            <a:prstDash val="solid"/>
          </a:ln>
        </p:spPr>
      </p:sp>
      <p:pic>
        <p:nvPicPr>
          <p:cNvPr id="23" name="Image 3" descr="preencoded.png">    </p:cNvPr>
          <p:cNvPicPr>
            <a:picLocks noChangeAspect="1"/>
          </p:cNvPicPr>
          <p:nvPr/>
        </p:nvPicPr>
        <p:blipFill>
          <a:blip r:embed="rId4"/>
          <a:stretch>
            <a:fillRect/>
          </a:stretch>
        </p:blipFill>
        <p:spPr>
          <a:xfrm>
            <a:off x="973836" y="3643884"/>
            <a:ext cx="338328" cy="338328"/>
          </a:xfrm>
          <a:prstGeom prst="rect">
            <a:avLst/>
          </a:prstGeom>
        </p:spPr>
      </p:pic>
      <p:sp>
        <p:nvSpPr>
          <p:cNvPr id="24" name="Text 18"/>
          <p:cNvSpPr txBox="1"/>
          <p:nvPr/>
        </p:nvSpPr>
        <p:spPr>
          <a:xfrm>
            <a:off x="1664208" y="3401568"/>
            <a:ext cx="2276856" cy="365760"/>
          </a:xfrm>
          <a:prstGeom prst="rect">
            <a:avLst/>
          </a:prstGeom>
          <a:noFill/>
          <a:ln/>
        </p:spPr>
        <p:txBody>
          <a:bodyPr wrap="square" lIns="0" tIns="0" rIns="0" bIns="0" rtlCol="0" anchor="t"/>
          <a:lstStyle/>
          <a:p>
            <a:pPr indent="0" marL="0">
              <a:buNone/>
            </a:pPr>
            <a:r>
              <a:rPr lang="en-US" sz="1600" b="1" dirty="0">
                <a:solidFill>
                  <a:srgbClr val="0F172A"/>
                </a:solidFill>
                <a:latin typeface="Arial" pitchFamily="34" charset="0"/>
                <a:ea typeface="Arial" pitchFamily="34" charset="-122"/>
                <a:cs typeface="Arial" pitchFamily="34" charset="-120"/>
              </a:rPr>
              <a:t>Matplotlib</a:t>
            </a:r>
            <a:endParaRPr lang="en-US" sz="1600" dirty="0"/>
          </a:p>
        </p:txBody>
      </p:sp>
      <p:sp>
        <p:nvSpPr>
          <p:cNvPr id="25" name="Text 19"/>
          <p:cNvSpPr txBox="1"/>
          <p:nvPr/>
        </p:nvSpPr>
        <p:spPr>
          <a:xfrm>
            <a:off x="1664208" y="3785616"/>
            <a:ext cx="2276856" cy="54864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Route, traffic and toll charts</a:t>
            </a:r>
            <a:endParaRPr lang="en-US" sz="1300" dirty="0"/>
          </a:p>
        </p:txBody>
      </p:sp>
      <p:sp>
        <p:nvSpPr>
          <p:cNvPr id="26" name="Shape 20"/>
          <p:cNvSpPr/>
          <p:nvPr/>
        </p:nvSpPr>
        <p:spPr>
          <a:xfrm>
            <a:off x="4315968" y="3127248"/>
            <a:ext cx="3557016" cy="1371600"/>
          </a:xfrm>
          <a:prstGeom prst="roundRect">
            <a:avLst>
              <a:gd name="adj" fmla="val 5333"/>
            </a:avLst>
          </a:prstGeom>
          <a:solidFill>
            <a:srgbClr val="F1F5F9"/>
          </a:solidFill>
          <a:ln w="12700">
            <a:solidFill>
              <a:srgbClr val="F1F5F9"/>
            </a:solidFill>
            <a:prstDash val="solid"/>
          </a:ln>
        </p:spPr>
      </p:sp>
      <p:sp>
        <p:nvSpPr>
          <p:cNvPr id="27" name="Shape 21"/>
          <p:cNvSpPr/>
          <p:nvPr/>
        </p:nvSpPr>
        <p:spPr>
          <a:xfrm>
            <a:off x="4572000" y="3474720"/>
            <a:ext cx="676656" cy="676656"/>
          </a:xfrm>
          <a:prstGeom prst="ellipse">
            <a:avLst/>
          </a:prstGeom>
          <a:solidFill>
            <a:srgbClr val="0B1B33"/>
          </a:solidFill>
          <a:ln w="12700">
            <a:solidFill>
              <a:srgbClr val="0B1B33"/>
            </a:solidFill>
            <a:prstDash val="solid"/>
          </a:ln>
        </p:spPr>
      </p:sp>
      <p:pic>
        <p:nvPicPr>
          <p:cNvPr id="28" name="Image 4" descr="preencoded.png">    </p:cNvPr>
          <p:cNvPicPr>
            <a:picLocks noChangeAspect="1"/>
          </p:cNvPicPr>
          <p:nvPr/>
        </p:nvPicPr>
        <p:blipFill>
          <a:blip r:embed="rId5"/>
          <a:stretch>
            <a:fillRect/>
          </a:stretch>
        </p:blipFill>
        <p:spPr>
          <a:xfrm>
            <a:off x="4741164" y="3643884"/>
            <a:ext cx="338328" cy="338328"/>
          </a:xfrm>
          <a:prstGeom prst="rect">
            <a:avLst/>
          </a:prstGeom>
        </p:spPr>
      </p:pic>
      <p:sp>
        <p:nvSpPr>
          <p:cNvPr id="29" name="Text 22"/>
          <p:cNvSpPr txBox="1"/>
          <p:nvPr/>
        </p:nvSpPr>
        <p:spPr>
          <a:xfrm>
            <a:off x="5431536" y="3401568"/>
            <a:ext cx="2276856" cy="365760"/>
          </a:xfrm>
          <a:prstGeom prst="rect">
            <a:avLst/>
          </a:prstGeom>
          <a:noFill/>
          <a:ln/>
        </p:spPr>
        <p:txBody>
          <a:bodyPr wrap="square" lIns="0" tIns="0" rIns="0" bIns="0" rtlCol="0" anchor="t"/>
          <a:lstStyle/>
          <a:p>
            <a:pPr indent="0" marL="0">
              <a:buNone/>
            </a:pPr>
            <a:r>
              <a:rPr lang="en-US" sz="1600" b="1" dirty="0">
                <a:solidFill>
                  <a:srgbClr val="0F172A"/>
                </a:solidFill>
                <a:latin typeface="Arial" pitchFamily="34" charset="0"/>
                <a:ea typeface="Arial" pitchFamily="34" charset="-122"/>
                <a:cs typeface="Arial" pitchFamily="34" charset="-120"/>
              </a:rPr>
              <a:t>Folium</a:t>
            </a:r>
            <a:endParaRPr lang="en-US" sz="1600" dirty="0"/>
          </a:p>
        </p:txBody>
      </p:sp>
      <p:sp>
        <p:nvSpPr>
          <p:cNvPr id="30" name="Text 23"/>
          <p:cNvSpPr txBox="1"/>
          <p:nvPr/>
        </p:nvSpPr>
        <p:spPr>
          <a:xfrm>
            <a:off x="5431536" y="3785616"/>
            <a:ext cx="2276856" cy="54864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Interactive Leaflet map in the browser</a:t>
            </a:r>
            <a:endParaRPr lang="en-US" sz="1300" dirty="0"/>
          </a:p>
        </p:txBody>
      </p:sp>
      <p:sp>
        <p:nvSpPr>
          <p:cNvPr id="31" name="Shape 24"/>
          <p:cNvSpPr/>
          <p:nvPr/>
        </p:nvSpPr>
        <p:spPr>
          <a:xfrm>
            <a:off x="8083296" y="3127248"/>
            <a:ext cx="3557016" cy="1371600"/>
          </a:xfrm>
          <a:prstGeom prst="roundRect">
            <a:avLst>
              <a:gd name="adj" fmla="val 5333"/>
            </a:avLst>
          </a:prstGeom>
          <a:solidFill>
            <a:srgbClr val="F1F5F9"/>
          </a:solidFill>
          <a:ln w="12700">
            <a:solidFill>
              <a:srgbClr val="F1F5F9"/>
            </a:solidFill>
            <a:prstDash val="solid"/>
          </a:ln>
        </p:spPr>
      </p:sp>
      <p:sp>
        <p:nvSpPr>
          <p:cNvPr id="32" name="Shape 25"/>
          <p:cNvSpPr/>
          <p:nvPr/>
        </p:nvSpPr>
        <p:spPr>
          <a:xfrm>
            <a:off x="8339328" y="3474720"/>
            <a:ext cx="676656" cy="676656"/>
          </a:xfrm>
          <a:prstGeom prst="ellipse">
            <a:avLst/>
          </a:prstGeom>
          <a:solidFill>
            <a:srgbClr val="0B1B33"/>
          </a:solidFill>
          <a:ln w="12700">
            <a:solidFill>
              <a:srgbClr val="0B1B33"/>
            </a:solidFill>
            <a:prstDash val="solid"/>
          </a:ln>
        </p:spPr>
      </p:sp>
      <p:pic>
        <p:nvPicPr>
          <p:cNvPr id="33" name="Image 5" descr="preencoded.png">    </p:cNvPr>
          <p:cNvPicPr>
            <a:picLocks noChangeAspect="1"/>
          </p:cNvPicPr>
          <p:nvPr/>
        </p:nvPicPr>
        <p:blipFill>
          <a:blip r:embed="rId6"/>
          <a:stretch>
            <a:fillRect/>
          </a:stretch>
        </p:blipFill>
        <p:spPr>
          <a:xfrm>
            <a:off x="8508492" y="3643884"/>
            <a:ext cx="338328" cy="338328"/>
          </a:xfrm>
          <a:prstGeom prst="rect">
            <a:avLst/>
          </a:prstGeom>
        </p:spPr>
      </p:pic>
      <p:sp>
        <p:nvSpPr>
          <p:cNvPr id="34" name="Text 26"/>
          <p:cNvSpPr txBox="1"/>
          <p:nvPr/>
        </p:nvSpPr>
        <p:spPr>
          <a:xfrm>
            <a:off x="9198864" y="3401568"/>
            <a:ext cx="2276856" cy="365760"/>
          </a:xfrm>
          <a:prstGeom prst="rect">
            <a:avLst/>
          </a:prstGeom>
          <a:noFill/>
          <a:ln/>
        </p:spPr>
        <p:txBody>
          <a:bodyPr wrap="square" lIns="0" tIns="0" rIns="0" bIns="0" rtlCol="0" anchor="t"/>
          <a:lstStyle/>
          <a:p>
            <a:pPr indent="0" marL="0">
              <a:buNone/>
            </a:pPr>
            <a:r>
              <a:rPr lang="en-US" sz="1600" b="1" dirty="0">
                <a:solidFill>
                  <a:srgbClr val="0F172A"/>
                </a:solidFill>
                <a:latin typeface="Arial" pitchFamily="34" charset="0"/>
                <a:ea typeface="Arial" pitchFamily="34" charset="-122"/>
                <a:cs typeface="Arial" pitchFamily="34" charset="-120"/>
              </a:rPr>
              <a:t>SQLite</a:t>
            </a:r>
            <a:endParaRPr lang="en-US" sz="1600" dirty="0"/>
          </a:p>
        </p:txBody>
      </p:sp>
      <p:sp>
        <p:nvSpPr>
          <p:cNvPr id="35" name="Text 27"/>
          <p:cNvSpPr txBox="1"/>
          <p:nvPr/>
        </p:nvSpPr>
        <p:spPr>
          <a:xfrm>
            <a:off x="9198864" y="3785616"/>
            <a:ext cx="2276856" cy="54864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Trip and toll charge history</a:t>
            </a:r>
            <a:endParaRPr lang="en-US" sz="1300" dirty="0"/>
          </a:p>
        </p:txBody>
      </p:sp>
      <p:sp>
        <p:nvSpPr>
          <p:cNvPr id="36" name="Shape 28"/>
          <p:cNvSpPr/>
          <p:nvPr/>
        </p:nvSpPr>
        <p:spPr>
          <a:xfrm>
            <a:off x="548640" y="4681728"/>
            <a:ext cx="3557016" cy="1371600"/>
          </a:xfrm>
          <a:prstGeom prst="roundRect">
            <a:avLst>
              <a:gd name="adj" fmla="val 5333"/>
            </a:avLst>
          </a:prstGeom>
          <a:solidFill>
            <a:srgbClr val="F1F5F9"/>
          </a:solidFill>
          <a:ln w="12700">
            <a:solidFill>
              <a:srgbClr val="F1F5F9"/>
            </a:solidFill>
            <a:prstDash val="solid"/>
          </a:ln>
        </p:spPr>
      </p:sp>
      <p:sp>
        <p:nvSpPr>
          <p:cNvPr id="37" name="Shape 29"/>
          <p:cNvSpPr/>
          <p:nvPr/>
        </p:nvSpPr>
        <p:spPr>
          <a:xfrm>
            <a:off x="804672" y="5029200"/>
            <a:ext cx="676656" cy="676656"/>
          </a:xfrm>
          <a:prstGeom prst="ellipse">
            <a:avLst/>
          </a:prstGeom>
          <a:solidFill>
            <a:srgbClr val="0B1B33"/>
          </a:solidFill>
          <a:ln w="12700">
            <a:solidFill>
              <a:srgbClr val="0B1B33"/>
            </a:solidFill>
            <a:prstDash val="solid"/>
          </a:ln>
        </p:spPr>
      </p:sp>
      <p:pic>
        <p:nvPicPr>
          <p:cNvPr id="38" name="Image 6" descr="preencoded.png">    </p:cNvPr>
          <p:cNvPicPr>
            <a:picLocks noChangeAspect="1"/>
          </p:cNvPicPr>
          <p:nvPr/>
        </p:nvPicPr>
        <p:blipFill>
          <a:blip r:embed="rId7"/>
          <a:stretch>
            <a:fillRect/>
          </a:stretch>
        </p:blipFill>
        <p:spPr>
          <a:xfrm>
            <a:off x="973836" y="5198364"/>
            <a:ext cx="338328" cy="338328"/>
          </a:xfrm>
          <a:prstGeom prst="rect">
            <a:avLst/>
          </a:prstGeom>
        </p:spPr>
      </p:pic>
      <p:sp>
        <p:nvSpPr>
          <p:cNvPr id="39" name="Text 30"/>
          <p:cNvSpPr txBox="1"/>
          <p:nvPr/>
        </p:nvSpPr>
        <p:spPr>
          <a:xfrm>
            <a:off x="1664208" y="4956048"/>
            <a:ext cx="2276856" cy="365760"/>
          </a:xfrm>
          <a:prstGeom prst="rect">
            <a:avLst/>
          </a:prstGeom>
          <a:noFill/>
          <a:ln/>
        </p:spPr>
        <p:txBody>
          <a:bodyPr wrap="square" lIns="0" tIns="0" rIns="0" bIns="0" rtlCol="0" anchor="t"/>
          <a:lstStyle/>
          <a:p>
            <a:pPr indent="0" marL="0">
              <a:buNone/>
            </a:pPr>
            <a:r>
              <a:rPr lang="en-US" sz="1600" b="1" dirty="0">
                <a:solidFill>
                  <a:srgbClr val="0F172A"/>
                </a:solidFill>
                <a:latin typeface="Arial" pitchFamily="34" charset="0"/>
                <a:ea typeface="Arial" pitchFamily="34" charset="-122"/>
                <a:cs typeface="Arial" pitchFamily="34" charset="-120"/>
              </a:rPr>
              <a:t>Tkinter</a:t>
            </a:r>
            <a:endParaRPr lang="en-US" sz="1600" dirty="0"/>
          </a:p>
        </p:txBody>
      </p:sp>
      <p:sp>
        <p:nvSpPr>
          <p:cNvPr id="40" name="Text 31"/>
          <p:cNvSpPr txBox="1"/>
          <p:nvPr/>
        </p:nvSpPr>
        <p:spPr>
          <a:xfrm>
            <a:off x="1664208" y="5340096"/>
            <a:ext cx="2276856" cy="54864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Desktop user interface</a:t>
            </a:r>
            <a:endParaRPr lang="en-US" sz="1300" dirty="0"/>
          </a:p>
        </p:txBody>
      </p:sp>
      <p:sp>
        <p:nvSpPr>
          <p:cNvPr id="41" name="Shape 32"/>
          <p:cNvSpPr/>
          <p:nvPr/>
        </p:nvSpPr>
        <p:spPr>
          <a:xfrm>
            <a:off x="4315968" y="4681728"/>
            <a:ext cx="3557016" cy="1371600"/>
          </a:xfrm>
          <a:prstGeom prst="roundRect">
            <a:avLst>
              <a:gd name="adj" fmla="val 5333"/>
            </a:avLst>
          </a:prstGeom>
          <a:solidFill>
            <a:srgbClr val="F1F5F9"/>
          </a:solidFill>
          <a:ln w="12700">
            <a:solidFill>
              <a:srgbClr val="F1F5F9"/>
            </a:solidFill>
            <a:prstDash val="solid"/>
          </a:ln>
        </p:spPr>
      </p:sp>
      <p:sp>
        <p:nvSpPr>
          <p:cNvPr id="42" name="Shape 33"/>
          <p:cNvSpPr/>
          <p:nvPr/>
        </p:nvSpPr>
        <p:spPr>
          <a:xfrm>
            <a:off x="4572000" y="5029200"/>
            <a:ext cx="676656" cy="676656"/>
          </a:xfrm>
          <a:prstGeom prst="ellipse">
            <a:avLst/>
          </a:prstGeom>
          <a:solidFill>
            <a:srgbClr val="0B1B33"/>
          </a:solidFill>
          <a:ln w="12700">
            <a:solidFill>
              <a:srgbClr val="0B1B33"/>
            </a:solidFill>
            <a:prstDash val="solid"/>
          </a:ln>
        </p:spPr>
      </p:sp>
      <p:pic>
        <p:nvPicPr>
          <p:cNvPr id="43" name="Image 7" descr="preencoded.png">    </p:cNvPr>
          <p:cNvPicPr>
            <a:picLocks noChangeAspect="1"/>
          </p:cNvPicPr>
          <p:nvPr/>
        </p:nvPicPr>
        <p:blipFill>
          <a:blip r:embed="rId8"/>
          <a:stretch>
            <a:fillRect/>
          </a:stretch>
        </p:blipFill>
        <p:spPr>
          <a:xfrm>
            <a:off x="4741164" y="5198364"/>
            <a:ext cx="338328" cy="338328"/>
          </a:xfrm>
          <a:prstGeom prst="rect">
            <a:avLst/>
          </a:prstGeom>
        </p:spPr>
      </p:pic>
      <p:sp>
        <p:nvSpPr>
          <p:cNvPr id="44" name="Text 34"/>
          <p:cNvSpPr txBox="1"/>
          <p:nvPr/>
        </p:nvSpPr>
        <p:spPr>
          <a:xfrm>
            <a:off x="5431536" y="4956048"/>
            <a:ext cx="2276856" cy="365760"/>
          </a:xfrm>
          <a:prstGeom prst="rect">
            <a:avLst/>
          </a:prstGeom>
          <a:noFill/>
          <a:ln/>
        </p:spPr>
        <p:txBody>
          <a:bodyPr wrap="square" lIns="0" tIns="0" rIns="0" bIns="0" rtlCol="0" anchor="t"/>
          <a:lstStyle/>
          <a:p>
            <a:pPr indent="0" marL="0">
              <a:buNone/>
            </a:pPr>
            <a:r>
              <a:rPr lang="en-US" sz="1600" b="1" dirty="0">
                <a:solidFill>
                  <a:srgbClr val="0F172A"/>
                </a:solidFill>
                <a:latin typeface="Arial" pitchFamily="34" charset="0"/>
                <a:ea typeface="Arial" pitchFamily="34" charset="-122"/>
                <a:cs typeface="Arial" pitchFamily="34" charset="-120"/>
              </a:rPr>
              <a:t>pytest</a:t>
            </a:r>
            <a:endParaRPr lang="en-US" sz="1600" dirty="0"/>
          </a:p>
        </p:txBody>
      </p:sp>
      <p:sp>
        <p:nvSpPr>
          <p:cNvPr id="45" name="Text 35"/>
          <p:cNvSpPr txBox="1"/>
          <p:nvPr/>
        </p:nvSpPr>
        <p:spPr>
          <a:xfrm>
            <a:off x="5431536" y="5340096"/>
            <a:ext cx="2276856" cy="54864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66 automated tests</a:t>
            </a:r>
            <a:endParaRPr lang="en-US" sz="1300" dirty="0"/>
          </a:p>
        </p:txBody>
      </p:sp>
      <p:sp>
        <p:nvSpPr>
          <p:cNvPr id="46" name="Shape 36"/>
          <p:cNvSpPr/>
          <p:nvPr/>
        </p:nvSpPr>
        <p:spPr>
          <a:xfrm>
            <a:off x="8083296" y="4681728"/>
            <a:ext cx="3557016" cy="1371600"/>
          </a:xfrm>
          <a:prstGeom prst="roundRect">
            <a:avLst>
              <a:gd name="adj" fmla="val 5333"/>
            </a:avLst>
          </a:prstGeom>
          <a:solidFill>
            <a:srgbClr val="F1F5F9"/>
          </a:solidFill>
          <a:ln w="12700">
            <a:solidFill>
              <a:srgbClr val="F1F5F9"/>
            </a:solidFill>
            <a:prstDash val="solid"/>
          </a:ln>
        </p:spPr>
      </p:sp>
      <p:sp>
        <p:nvSpPr>
          <p:cNvPr id="47" name="Shape 37"/>
          <p:cNvSpPr/>
          <p:nvPr/>
        </p:nvSpPr>
        <p:spPr>
          <a:xfrm>
            <a:off x="8339328" y="5029200"/>
            <a:ext cx="676656" cy="676656"/>
          </a:xfrm>
          <a:prstGeom prst="ellipse">
            <a:avLst/>
          </a:prstGeom>
          <a:solidFill>
            <a:srgbClr val="EB6834"/>
          </a:solidFill>
          <a:ln w="12700">
            <a:solidFill>
              <a:srgbClr val="EB6834"/>
            </a:solidFill>
            <a:prstDash val="solid"/>
          </a:ln>
        </p:spPr>
      </p:sp>
      <p:pic>
        <p:nvPicPr>
          <p:cNvPr id="48" name="Image 8" descr="preencoded.png">    </p:cNvPr>
          <p:cNvPicPr>
            <a:picLocks noChangeAspect="1"/>
          </p:cNvPicPr>
          <p:nvPr/>
        </p:nvPicPr>
        <p:blipFill>
          <a:blip r:embed="rId9"/>
          <a:stretch>
            <a:fillRect/>
          </a:stretch>
        </p:blipFill>
        <p:spPr>
          <a:xfrm>
            <a:off x="8508492" y="5198364"/>
            <a:ext cx="338328" cy="338328"/>
          </a:xfrm>
          <a:prstGeom prst="rect">
            <a:avLst/>
          </a:prstGeom>
        </p:spPr>
      </p:pic>
      <p:sp>
        <p:nvSpPr>
          <p:cNvPr id="49" name="Text 38"/>
          <p:cNvSpPr txBox="1"/>
          <p:nvPr/>
        </p:nvSpPr>
        <p:spPr>
          <a:xfrm>
            <a:off x="9198864" y="4956048"/>
            <a:ext cx="2276856" cy="365760"/>
          </a:xfrm>
          <a:prstGeom prst="rect">
            <a:avLst/>
          </a:prstGeom>
          <a:noFill/>
          <a:ln/>
        </p:spPr>
        <p:txBody>
          <a:bodyPr wrap="square" lIns="0" tIns="0" rIns="0" bIns="0" rtlCol="0" anchor="t"/>
          <a:lstStyle/>
          <a:p>
            <a:pPr indent="0" marL="0">
              <a:buNone/>
            </a:pPr>
            <a:r>
              <a:rPr lang="en-US" sz="1600" b="1" dirty="0">
                <a:solidFill>
                  <a:srgbClr val="0F172A"/>
                </a:solidFill>
                <a:latin typeface="Arial" pitchFamily="34" charset="0"/>
                <a:ea typeface="Arial" pitchFamily="34" charset="-122"/>
                <a:cs typeface="Arial" pitchFamily="34" charset="-120"/>
              </a:rPr>
              <a:t>OpenStreetMap</a:t>
            </a:r>
            <a:endParaRPr lang="en-US" sz="1600" dirty="0"/>
          </a:p>
        </p:txBody>
      </p:sp>
      <p:sp>
        <p:nvSpPr>
          <p:cNvPr id="50" name="Text 39"/>
          <p:cNvSpPr txBox="1"/>
          <p:nvPr/>
        </p:nvSpPr>
        <p:spPr>
          <a:xfrm>
            <a:off x="9198864" y="5340096"/>
            <a:ext cx="2276856" cy="54864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Real road (via OSRM) and plaza positions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GPS Toll-Based System Simulation</a:t>
            </a:r>
            <a:endParaRPr lang="en-US" sz="1000" dirty="0"/>
          </a:p>
        </p:txBody>
      </p:sp>
      <p:sp>
        <p:nvSpPr>
          <p:cNvPr id="3" name="Text 1"/>
          <p:cNvSpPr txBox="1"/>
          <p:nvPr/>
        </p:nvSpPr>
        <p:spPr>
          <a:xfrm>
            <a:off x="10271455" y="6400800"/>
            <a:ext cx="13716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14 / 17</a:t>
            </a:r>
            <a:endParaRPr lang="en-US" sz="1000" dirty="0"/>
          </a:p>
        </p:txBody>
      </p:sp>
      <p:sp>
        <p:nvSpPr>
          <p:cNvPr id="4" name="Text 2"/>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300" kern="0" dirty="0">
                <a:solidFill>
                  <a:srgbClr val="EB6834"/>
                </a:solidFill>
                <a:latin typeface="Arial" pitchFamily="34" charset="0"/>
                <a:ea typeface="Arial" pitchFamily="34" charset="-122"/>
                <a:cs typeface="Arial" pitchFamily="34" charset="-120"/>
              </a:rPr>
              <a:t>CREDIBILITY</a:t>
            </a:r>
            <a:endParaRPr lang="en-US" sz="1200" dirty="0"/>
          </a:p>
        </p:txBody>
      </p:sp>
      <p:sp>
        <p:nvSpPr>
          <p:cNvPr id="5" name="Text 3"/>
          <p:cNvSpPr txBox="1"/>
          <p:nvPr/>
        </p:nvSpPr>
        <p:spPr>
          <a:xfrm>
            <a:off x="548640" y="676656"/>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Real data, verified by tests</a:t>
            </a:r>
            <a:endParaRPr lang="en-US" sz="3000" dirty="0"/>
          </a:p>
        </p:txBody>
      </p:sp>
      <p:sp>
        <p:nvSpPr>
          <p:cNvPr id="6" name="Shape 4"/>
          <p:cNvSpPr/>
          <p:nvPr/>
        </p:nvSpPr>
        <p:spPr>
          <a:xfrm>
            <a:off x="548640" y="1600200"/>
            <a:ext cx="5120640" cy="4480560"/>
          </a:xfrm>
          <a:prstGeom prst="roundRect">
            <a:avLst>
              <a:gd name="adj" fmla="val 1633"/>
            </a:avLst>
          </a:prstGeom>
          <a:solidFill>
            <a:srgbClr val="0B1B33"/>
          </a:solidFill>
          <a:ln w="12700">
            <a:solidFill>
              <a:srgbClr val="0B1B33"/>
            </a:solidFill>
            <a:prstDash val="solid"/>
          </a:ln>
          <a:effectLst>
            <a:outerShdw sx="100000" sy="100000" kx="0" ky="0" algn="bl" rotWithShape="0" blurRad="127000" dist="25400" dir="5400000">
              <a:srgbClr val="000000">
                <a:alpha val="14000"/>
              </a:srgbClr>
            </a:outerShdw>
          </a:effectLst>
        </p:spPr>
      </p:sp>
      <p:sp>
        <p:nvSpPr>
          <p:cNvPr id="7" name="Text 5"/>
          <p:cNvSpPr txBox="1"/>
          <p:nvPr/>
        </p:nvSpPr>
        <p:spPr>
          <a:xfrm>
            <a:off x="914400" y="1783080"/>
            <a:ext cx="2194560" cy="1051560"/>
          </a:xfrm>
          <a:prstGeom prst="rect">
            <a:avLst/>
          </a:prstGeom>
          <a:noFill/>
          <a:ln/>
        </p:spPr>
        <p:txBody>
          <a:bodyPr wrap="square" lIns="0" tIns="0" rIns="0" bIns="0" rtlCol="0" anchor="t"/>
          <a:lstStyle/>
          <a:p>
            <a:pPr indent="0" marL="0">
              <a:buNone/>
            </a:pPr>
            <a:r>
              <a:rPr lang="en-US" sz="7200" b="1" dirty="0">
                <a:solidFill>
                  <a:srgbClr val="FFFFFF"/>
                </a:solidFill>
                <a:latin typeface="Arial" pitchFamily="34" charset="0"/>
                <a:ea typeface="Arial" pitchFamily="34" charset="-122"/>
                <a:cs typeface="Arial" pitchFamily="34" charset="-120"/>
              </a:rPr>
              <a:t>66</a:t>
            </a:r>
            <a:endParaRPr lang="en-US" sz="7200" dirty="0"/>
          </a:p>
        </p:txBody>
      </p:sp>
      <p:sp>
        <p:nvSpPr>
          <p:cNvPr id="8" name="Text 6"/>
          <p:cNvSpPr txBox="1"/>
          <p:nvPr/>
        </p:nvSpPr>
        <p:spPr>
          <a:xfrm>
            <a:off x="914400" y="2834640"/>
            <a:ext cx="4389120" cy="365760"/>
          </a:xfrm>
          <a:prstGeom prst="rect">
            <a:avLst/>
          </a:prstGeom>
          <a:noFill/>
          <a:ln/>
        </p:spPr>
        <p:txBody>
          <a:bodyPr wrap="square" lIns="0" tIns="0" rIns="0" bIns="0" rtlCol="0" anchor="t"/>
          <a:lstStyle/>
          <a:p>
            <a:pPr indent="0" marL="0">
              <a:buNone/>
            </a:pPr>
            <a:r>
              <a:rPr lang="en-US" sz="1800" dirty="0">
                <a:solidFill>
                  <a:srgbClr val="C9D6EA"/>
                </a:solidFill>
                <a:latin typeface="Calibri" pitchFamily="34" charset="0"/>
                <a:ea typeface="Calibri" pitchFamily="34" charset="-122"/>
                <a:cs typeface="Calibri" pitchFamily="34" charset="-120"/>
              </a:rPr>
              <a:t>automated tests, all passing</a:t>
            </a:r>
            <a:endParaRPr lang="en-US" sz="1800" dirty="0"/>
          </a:p>
        </p:txBody>
      </p:sp>
      <p:pic>
        <p:nvPicPr>
          <p:cNvPr id="9" name="Image 0" descr="preencoded.png">    </p:cNvPr>
          <p:cNvPicPr>
            <a:picLocks noChangeAspect="1"/>
          </p:cNvPicPr>
          <p:nvPr/>
        </p:nvPicPr>
        <p:blipFill>
          <a:blip r:embed="rId1"/>
          <a:stretch>
            <a:fillRect/>
          </a:stretch>
        </p:blipFill>
        <p:spPr>
          <a:xfrm>
            <a:off x="914400" y="3474720"/>
            <a:ext cx="237744" cy="237744"/>
          </a:xfrm>
          <a:prstGeom prst="rect">
            <a:avLst/>
          </a:prstGeom>
        </p:spPr>
      </p:pic>
      <p:sp>
        <p:nvSpPr>
          <p:cNvPr id="10" name="Text 7"/>
          <p:cNvSpPr txBox="1"/>
          <p:nvPr/>
        </p:nvSpPr>
        <p:spPr>
          <a:xfrm>
            <a:off x="1280160" y="3429000"/>
            <a:ext cx="4206240" cy="329184"/>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Map-matching and the real route data</a:t>
            </a:r>
            <a:endParaRPr lang="en-US" sz="1400" dirty="0"/>
          </a:p>
        </p:txBody>
      </p:sp>
      <p:pic>
        <p:nvPicPr>
          <p:cNvPr id="11" name="Image 1" descr="preencoded.png">    </p:cNvPr>
          <p:cNvPicPr>
            <a:picLocks noChangeAspect="1"/>
          </p:cNvPicPr>
          <p:nvPr/>
        </p:nvPicPr>
        <p:blipFill>
          <a:blip r:embed="rId2"/>
          <a:stretch>
            <a:fillRect/>
          </a:stretch>
        </p:blipFill>
        <p:spPr>
          <a:xfrm>
            <a:off x="914400" y="3950208"/>
            <a:ext cx="237744" cy="237744"/>
          </a:xfrm>
          <a:prstGeom prst="rect">
            <a:avLst/>
          </a:prstGeom>
        </p:spPr>
      </p:pic>
      <p:sp>
        <p:nvSpPr>
          <p:cNvPr id="12" name="Text 8"/>
          <p:cNvSpPr txBox="1"/>
          <p:nvPr/>
        </p:nvSpPr>
        <p:spPr>
          <a:xfrm>
            <a:off x="1280160" y="3904488"/>
            <a:ext cx="4206240" cy="329184"/>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Toll zones, 20 km rule and National Permits</a:t>
            </a:r>
            <a:endParaRPr lang="en-US" sz="1400" dirty="0"/>
          </a:p>
        </p:txBody>
      </p:sp>
      <p:pic>
        <p:nvPicPr>
          <p:cNvPr id="13" name="Image 2" descr="preencoded.png">    </p:cNvPr>
          <p:cNvPicPr>
            <a:picLocks noChangeAspect="1"/>
          </p:cNvPicPr>
          <p:nvPr/>
        </p:nvPicPr>
        <p:blipFill>
          <a:blip r:embed="rId3"/>
          <a:stretch>
            <a:fillRect/>
          </a:stretch>
        </p:blipFill>
        <p:spPr>
          <a:xfrm>
            <a:off x="914400" y="4425696"/>
            <a:ext cx="237744" cy="237744"/>
          </a:xfrm>
          <a:prstGeom prst="rect">
            <a:avLst/>
          </a:prstGeom>
        </p:spPr>
      </p:pic>
      <p:sp>
        <p:nvSpPr>
          <p:cNvPr id="14" name="Text 9"/>
          <p:cNvSpPr txBox="1"/>
          <p:nvPr/>
        </p:nvSpPr>
        <p:spPr>
          <a:xfrm>
            <a:off x="1280160" y="4379976"/>
            <a:ext cx="4206240" cy="329184"/>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Noisy and noise-free GPS bill the same</a:t>
            </a:r>
            <a:endParaRPr lang="en-US" sz="1400" dirty="0"/>
          </a:p>
        </p:txBody>
      </p:sp>
      <p:pic>
        <p:nvPicPr>
          <p:cNvPr id="15" name="Image 3" descr="preencoded.png">    </p:cNvPr>
          <p:cNvPicPr>
            <a:picLocks noChangeAspect="1"/>
          </p:cNvPicPr>
          <p:nvPr/>
        </p:nvPicPr>
        <p:blipFill>
          <a:blip r:embed="rId4"/>
          <a:stretch>
            <a:fillRect/>
          </a:stretch>
        </p:blipFill>
        <p:spPr>
          <a:xfrm>
            <a:off x="914400" y="4901184"/>
            <a:ext cx="237744" cy="237744"/>
          </a:xfrm>
          <a:prstGeom prst="rect">
            <a:avLst/>
          </a:prstGeom>
        </p:spPr>
      </p:pic>
      <p:sp>
        <p:nvSpPr>
          <p:cNvPr id="16" name="Text 10"/>
          <p:cNvSpPr txBox="1"/>
          <p:nvPr/>
        </p:nvSpPr>
        <p:spPr>
          <a:xfrm>
            <a:off x="1280160" y="4855464"/>
            <a:ext cx="4206240" cy="329184"/>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Fleets, partial trips, receipts and SQLite</a:t>
            </a:r>
            <a:endParaRPr lang="en-US" sz="1400" dirty="0"/>
          </a:p>
        </p:txBody>
      </p:sp>
      <p:pic>
        <p:nvPicPr>
          <p:cNvPr id="17" name="Image 4" descr="preencoded.png">    </p:cNvPr>
          <p:cNvPicPr>
            <a:picLocks noChangeAspect="1"/>
          </p:cNvPicPr>
          <p:nvPr/>
        </p:nvPicPr>
        <p:blipFill>
          <a:blip r:embed="rId5"/>
          <a:stretch>
            <a:fillRect/>
          </a:stretch>
        </p:blipFill>
        <p:spPr>
          <a:xfrm>
            <a:off x="914400" y="5376672"/>
            <a:ext cx="237744" cy="237744"/>
          </a:xfrm>
          <a:prstGeom prst="rect">
            <a:avLst/>
          </a:prstGeom>
        </p:spPr>
      </p:pic>
      <p:sp>
        <p:nvSpPr>
          <p:cNvPr id="18" name="Text 11"/>
          <p:cNvSpPr txBox="1"/>
          <p:nvPr/>
        </p:nvSpPr>
        <p:spPr>
          <a:xfrm>
            <a:off x="1280160" y="5330952"/>
            <a:ext cx="4206240" cy="329184"/>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Charts, map and command line</a:t>
            </a:r>
            <a:endParaRPr lang="en-US" sz="1400" dirty="0"/>
          </a:p>
        </p:txBody>
      </p:sp>
      <p:sp>
        <p:nvSpPr>
          <p:cNvPr id="19" name="Text 12"/>
          <p:cNvSpPr txBox="1"/>
          <p:nvPr/>
        </p:nvSpPr>
        <p:spPr>
          <a:xfrm>
            <a:off x="6172200" y="1600200"/>
            <a:ext cx="5394960" cy="274320"/>
          </a:xfrm>
          <a:prstGeom prst="rect">
            <a:avLst/>
          </a:prstGeom>
          <a:noFill/>
          <a:ln/>
        </p:spPr>
        <p:txBody>
          <a:bodyPr wrap="square" lIns="0" tIns="0" rIns="0" bIns="0" rtlCol="0" anchor="t"/>
          <a:lstStyle/>
          <a:p>
            <a:pPr indent="0" marL="0">
              <a:buNone/>
            </a:pPr>
            <a:r>
              <a:rPr lang="en-US" sz="1100" b="1" spc="200" kern="0" dirty="0">
                <a:solidFill>
                  <a:srgbClr val="64748B"/>
                </a:solidFill>
                <a:latin typeface="Arial" pitchFamily="34" charset="0"/>
                <a:ea typeface="Arial" pitchFamily="34" charset="-122"/>
                <a:cs typeface="Arial" pitchFamily="34" charset="-120"/>
              </a:rPr>
              <a:t>DATA SOURCES</a:t>
            </a:r>
            <a:endParaRPr lang="en-US" sz="1100" dirty="0"/>
          </a:p>
        </p:txBody>
      </p:sp>
      <p:sp>
        <p:nvSpPr>
          <p:cNvPr id="20" name="Shape 13"/>
          <p:cNvSpPr/>
          <p:nvPr/>
        </p:nvSpPr>
        <p:spPr>
          <a:xfrm>
            <a:off x="6172200" y="2011680"/>
            <a:ext cx="566928" cy="566928"/>
          </a:xfrm>
          <a:prstGeom prst="ellipse">
            <a:avLst/>
          </a:prstGeom>
          <a:solidFill>
            <a:srgbClr val="EB6834"/>
          </a:solidFill>
          <a:ln w="12700">
            <a:solidFill>
              <a:srgbClr val="EB6834"/>
            </a:solidFill>
            <a:prstDash val="solid"/>
          </a:ln>
        </p:spPr>
      </p:sp>
      <p:pic>
        <p:nvPicPr>
          <p:cNvPr id="21" name="Image 5" descr="preencoded.png">    </p:cNvPr>
          <p:cNvPicPr>
            <a:picLocks noChangeAspect="1"/>
          </p:cNvPicPr>
          <p:nvPr/>
        </p:nvPicPr>
        <p:blipFill>
          <a:blip r:embed="rId6"/>
          <a:stretch>
            <a:fillRect/>
          </a:stretch>
        </p:blipFill>
        <p:spPr>
          <a:xfrm>
            <a:off x="6313932" y="2153412"/>
            <a:ext cx="283464" cy="283464"/>
          </a:xfrm>
          <a:prstGeom prst="rect">
            <a:avLst/>
          </a:prstGeom>
        </p:spPr>
      </p:pic>
      <p:sp>
        <p:nvSpPr>
          <p:cNvPr id="22" name="Text 14"/>
          <p:cNvSpPr txBox="1"/>
          <p:nvPr/>
        </p:nvSpPr>
        <p:spPr>
          <a:xfrm>
            <a:off x="6949440" y="1993392"/>
            <a:ext cx="4690872" cy="320040"/>
          </a:xfrm>
          <a:prstGeom prst="rect">
            <a:avLst/>
          </a:prstGeom>
          <a:noFill/>
          <a:ln/>
        </p:spPr>
        <p:txBody>
          <a:bodyPr wrap="square" lIns="0" tIns="0" rIns="0" bIns="0" rtlCol="0" anchor="t"/>
          <a:lstStyle/>
          <a:p>
            <a:pPr indent="0" marL="0">
              <a:buNone/>
            </a:pPr>
            <a:r>
              <a:rPr lang="en-US" sz="1500" b="1" dirty="0">
                <a:solidFill>
                  <a:srgbClr val="0F172A"/>
                </a:solidFill>
                <a:latin typeface="Arial" pitchFamily="34" charset="0"/>
                <a:ea typeface="Arial" pitchFamily="34" charset="-122"/>
                <a:cs typeface="Arial" pitchFamily="34" charset="-120"/>
              </a:rPr>
              <a:t>OpenStreetMap + OSRM</a:t>
            </a:r>
            <a:endParaRPr lang="en-US" sz="1500" dirty="0"/>
          </a:p>
        </p:txBody>
      </p:sp>
      <p:sp>
        <p:nvSpPr>
          <p:cNvPr id="23" name="Text 15"/>
          <p:cNvSpPr txBox="1"/>
          <p:nvPr/>
        </p:nvSpPr>
        <p:spPr>
          <a:xfrm>
            <a:off x="6949440" y="2322576"/>
            <a:ext cx="4690872" cy="54864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Road geometry, towns and toll booth positions (ODbL licence).</a:t>
            </a:r>
            <a:endParaRPr lang="en-US" sz="1300" dirty="0"/>
          </a:p>
        </p:txBody>
      </p:sp>
      <p:sp>
        <p:nvSpPr>
          <p:cNvPr id="24" name="Shape 16"/>
          <p:cNvSpPr/>
          <p:nvPr/>
        </p:nvSpPr>
        <p:spPr>
          <a:xfrm>
            <a:off x="6172200" y="3035808"/>
            <a:ext cx="566928" cy="566928"/>
          </a:xfrm>
          <a:prstGeom prst="ellipse">
            <a:avLst/>
          </a:prstGeom>
          <a:solidFill>
            <a:srgbClr val="EB6834"/>
          </a:solidFill>
          <a:ln w="12700">
            <a:solidFill>
              <a:srgbClr val="EB6834"/>
            </a:solidFill>
            <a:prstDash val="solid"/>
          </a:ln>
        </p:spPr>
      </p:sp>
      <p:pic>
        <p:nvPicPr>
          <p:cNvPr id="25" name="Image 6" descr="preencoded.png">    </p:cNvPr>
          <p:cNvPicPr>
            <a:picLocks noChangeAspect="1"/>
          </p:cNvPicPr>
          <p:nvPr/>
        </p:nvPicPr>
        <p:blipFill>
          <a:blip r:embed="rId7"/>
          <a:stretch>
            <a:fillRect/>
          </a:stretch>
        </p:blipFill>
        <p:spPr>
          <a:xfrm>
            <a:off x="6313932" y="3177540"/>
            <a:ext cx="283464" cy="283464"/>
          </a:xfrm>
          <a:prstGeom prst="rect">
            <a:avLst/>
          </a:prstGeom>
        </p:spPr>
      </p:pic>
      <p:sp>
        <p:nvSpPr>
          <p:cNvPr id="26" name="Text 17"/>
          <p:cNvSpPr txBox="1"/>
          <p:nvPr/>
        </p:nvSpPr>
        <p:spPr>
          <a:xfrm>
            <a:off x="6949440" y="3017520"/>
            <a:ext cx="4690872" cy="320040"/>
          </a:xfrm>
          <a:prstGeom prst="rect">
            <a:avLst/>
          </a:prstGeom>
          <a:noFill/>
          <a:ln/>
        </p:spPr>
        <p:txBody>
          <a:bodyPr wrap="square" lIns="0" tIns="0" rIns="0" bIns="0" rtlCol="0" anchor="t"/>
          <a:lstStyle/>
          <a:p>
            <a:pPr indent="0" marL="0">
              <a:buNone/>
            </a:pPr>
            <a:r>
              <a:rPr lang="en-US" sz="1500" b="1" dirty="0">
                <a:solidFill>
                  <a:srgbClr val="0F172A"/>
                </a:solidFill>
                <a:latin typeface="Arial" pitchFamily="34" charset="0"/>
                <a:ea typeface="Arial" pitchFamily="34" charset="-122"/>
                <a:cs typeface="Arial" pitchFamily="34" charset="-120"/>
              </a:rPr>
              <a:t>NHAI Toll Information System</a:t>
            </a:r>
            <a:endParaRPr lang="en-US" sz="1500" dirty="0"/>
          </a:p>
        </p:txBody>
      </p:sp>
      <p:sp>
        <p:nvSpPr>
          <p:cNvPr id="27" name="Text 18"/>
          <p:cNvSpPr txBox="1"/>
          <p:nvPr/>
        </p:nvSpPr>
        <p:spPr>
          <a:xfrm>
            <a:off x="6949440" y="3346704"/>
            <a:ext cx="4690872" cy="54864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Fees for 6 vehicle classes and the tollable length of all 8 plazas.</a:t>
            </a:r>
            <a:endParaRPr lang="en-US" sz="1300" dirty="0"/>
          </a:p>
        </p:txBody>
      </p:sp>
      <p:sp>
        <p:nvSpPr>
          <p:cNvPr id="28" name="Shape 19"/>
          <p:cNvSpPr/>
          <p:nvPr/>
        </p:nvSpPr>
        <p:spPr>
          <a:xfrm>
            <a:off x="6172200" y="4059936"/>
            <a:ext cx="566928" cy="566928"/>
          </a:xfrm>
          <a:prstGeom prst="ellipse">
            <a:avLst/>
          </a:prstGeom>
          <a:solidFill>
            <a:srgbClr val="EB6834"/>
          </a:solidFill>
          <a:ln w="12700">
            <a:solidFill>
              <a:srgbClr val="EB6834"/>
            </a:solidFill>
            <a:prstDash val="solid"/>
          </a:ln>
        </p:spPr>
      </p:sp>
      <p:pic>
        <p:nvPicPr>
          <p:cNvPr id="29" name="Image 7" descr="preencoded.png">    </p:cNvPr>
          <p:cNvPicPr>
            <a:picLocks noChangeAspect="1"/>
          </p:cNvPicPr>
          <p:nvPr/>
        </p:nvPicPr>
        <p:blipFill>
          <a:blip r:embed="rId8"/>
          <a:stretch>
            <a:fillRect/>
          </a:stretch>
        </p:blipFill>
        <p:spPr>
          <a:xfrm>
            <a:off x="6313932" y="4201668"/>
            <a:ext cx="283464" cy="283464"/>
          </a:xfrm>
          <a:prstGeom prst="rect">
            <a:avLst/>
          </a:prstGeom>
        </p:spPr>
      </p:pic>
      <p:sp>
        <p:nvSpPr>
          <p:cNvPr id="30" name="Text 20"/>
          <p:cNvSpPr txBox="1"/>
          <p:nvPr/>
        </p:nvSpPr>
        <p:spPr>
          <a:xfrm>
            <a:off x="6949440" y="4041648"/>
            <a:ext cx="4690872" cy="320040"/>
          </a:xfrm>
          <a:prstGeom prst="rect">
            <a:avLst/>
          </a:prstGeom>
          <a:noFill/>
          <a:ln/>
        </p:spPr>
        <p:txBody>
          <a:bodyPr wrap="square" lIns="0" tIns="0" rIns="0" bIns="0" rtlCol="0" anchor="t"/>
          <a:lstStyle/>
          <a:p>
            <a:pPr indent="0" marL="0">
              <a:buNone/>
            </a:pPr>
            <a:r>
              <a:rPr lang="en-US" sz="1500" b="1" dirty="0">
                <a:solidFill>
                  <a:srgbClr val="0F172A"/>
                </a:solidFill>
                <a:latin typeface="Arial" pitchFamily="34" charset="0"/>
                <a:ea typeface="Arial" pitchFamily="34" charset="-122"/>
                <a:cs typeface="Arial" pitchFamily="34" charset="-120"/>
              </a:rPr>
              <a:t>NH Fee Rules, 2008</a:t>
            </a:r>
            <a:endParaRPr lang="en-US" sz="1500" dirty="0"/>
          </a:p>
        </p:txBody>
      </p:sp>
      <p:sp>
        <p:nvSpPr>
          <p:cNvPr id="31" name="Text 21"/>
          <p:cNvSpPr txBox="1"/>
          <p:nvPr/>
        </p:nvSpPr>
        <p:spPr>
          <a:xfrm>
            <a:off x="6949440" y="4370832"/>
            <a:ext cx="4690872" cy="54864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Vehicle classes and base per-km rates.</a:t>
            </a:r>
            <a:endParaRPr lang="en-US" sz="1300" dirty="0"/>
          </a:p>
        </p:txBody>
      </p:sp>
      <p:sp>
        <p:nvSpPr>
          <p:cNvPr id="32" name="Shape 22"/>
          <p:cNvSpPr/>
          <p:nvPr/>
        </p:nvSpPr>
        <p:spPr>
          <a:xfrm>
            <a:off x="6172200" y="5084064"/>
            <a:ext cx="566928" cy="566928"/>
          </a:xfrm>
          <a:prstGeom prst="ellipse">
            <a:avLst/>
          </a:prstGeom>
          <a:solidFill>
            <a:srgbClr val="EB6834"/>
          </a:solidFill>
          <a:ln w="12700">
            <a:solidFill>
              <a:srgbClr val="EB6834"/>
            </a:solidFill>
            <a:prstDash val="solid"/>
          </a:ln>
        </p:spPr>
      </p:sp>
      <p:pic>
        <p:nvPicPr>
          <p:cNvPr id="33" name="Image 8" descr="preencoded.png">    </p:cNvPr>
          <p:cNvPicPr>
            <a:picLocks noChangeAspect="1"/>
          </p:cNvPicPr>
          <p:nvPr/>
        </p:nvPicPr>
        <p:blipFill>
          <a:blip r:embed="rId9"/>
          <a:stretch>
            <a:fillRect/>
          </a:stretch>
        </p:blipFill>
        <p:spPr>
          <a:xfrm>
            <a:off x="6313932" y="5225796"/>
            <a:ext cx="283464" cy="283464"/>
          </a:xfrm>
          <a:prstGeom prst="rect">
            <a:avLst/>
          </a:prstGeom>
        </p:spPr>
      </p:pic>
      <p:sp>
        <p:nvSpPr>
          <p:cNvPr id="34" name="Text 23"/>
          <p:cNvSpPr txBox="1"/>
          <p:nvPr/>
        </p:nvSpPr>
        <p:spPr>
          <a:xfrm>
            <a:off x="6949440" y="5065776"/>
            <a:ext cx="4690872" cy="320040"/>
          </a:xfrm>
          <a:prstGeom prst="rect">
            <a:avLst/>
          </a:prstGeom>
          <a:noFill/>
          <a:ln/>
        </p:spPr>
        <p:txBody>
          <a:bodyPr wrap="square" lIns="0" tIns="0" rIns="0" bIns="0" rtlCol="0" anchor="t"/>
          <a:lstStyle/>
          <a:p>
            <a:pPr indent="0" marL="0">
              <a:buNone/>
            </a:pPr>
            <a:r>
              <a:rPr lang="en-US" sz="1500" b="1" dirty="0">
                <a:solidFill>
                  <a:srgbClr val="0F172A"/>
                </a:solidFill>
                <a:latin typeface="Arial" pitchFamily="34" charset="0"/>
                <a:ea typeface="Arial" pitchFamily="34" charset="-122"/>
                <a:cs typeface="Arial" pitchFamily="34" charset="-120"/>
              </a:rPr>
              <a:t>NH Fee Amendment Rules, 2024</a:t>
            </a:r>
            <a:endParaRPr lang="en-US" sz="1500" dirty="0"/>
          </a:p>
        </p:txBody>
      </p:sp>
      <p:sp>
        <p:nvSpPr>
          <p:cNvPr id="35" name="Text 24"/>
          <p:cNvSpPr txBox="1"/>
          <p:nvPr/>
        </p:nvSpPr>
        <p:spPr>
          <a:xfrm>
            <a:off x="6949440" y="5394960"/>
            <a:ext cx="4690872" cy="54864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GNSS tolling with the first 20 km a day free.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GPS Toll-Based System Simulation</a:t>
            </a:r>
            <a:endParaRPr lang="en-US" sz="1000" dirty="0"/>
          </a:p>
        </p:txBody>
      </p:sp>
      <p:sp>
        <p:nvSpPr>
          <p:cNvPr id="3" name="Text 1"/>
          <p:cNvSpPr txBox="1"/>
          <p:nvPr/>
        </p:nvSpPr>
        <p:spPr>
          <a:xfrm>
            <a:off x="10271455" y="6400800"/>
            <a:ext cx="13716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15 / 17</a:t>
            </a:r>
            <a:endParaRPr lang="en-US" sz="1000" dirty="0"/>
          </a:p>
        </p:txBody>
      </p:sp>
      <p:sp>
        <p:nvSpPr>
          <p:cNvPr id="4" name="Text 2"/>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300" kern="0" dirty="0">
                <a:solidFill>
                  <a:srgbClr val="EB6834"/>
                </a:solidFill>
                <a:latin typeface="Arial" pitchFamily="34" charset="0"/>
                <a:ea typeface="Arial" pitchFamily="34" charset="-122"/>
                <a:cs typeface="Arial" pitchFamily="34" charset="-120"/>
              </a:rPr>
              <a:t>TEAM</a:t>
            </a:r>
            <a:endParaRPr lang="en-US" sz="1200" dirty="0"/>
          </a:p>
        </p:txBody>
      </p:sp>
      <p:sp>
        <p:nvSpPr>
          <p:cNvPr id="5" name="Text 3"/>
          <p:cNvSpPr txBox="1"/>
          <p:nvPr/>
        </p:nvSpPr>
        <p:spPr>
          <a:xfrm>
            <a:off x="548640" y="676656"/>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Team members and contributions</a:t>
            </a:r>
            <a:endParaRPr lang="en-US" sz="3000" dirty="0"/>
          </a:p>
        </p:txBody>
      </p:sp>
      <p:sp>
        <p:nvSpPr>
          <p:cNvPr id="6" name="Shape 4"/>
          <p:cNvSpPr/>
          <p:nvPr/>
        </p:nvSpPr>
        <p:spPr>
          <a:xfrm>
            <a:off x="548640" y="1828800"/>
            <a:ext cx="2633472" cy="3657600"/>
          </a:xfrm>
          <a:prstGeom prst="roundRect">
            <a:avLst>
              <a:gd name="adj" fmla="val 2778"/>
            </a:avLst>
          </a:prstGeom>
          <a:solidFill>
            <a:srgbClr val="F1F5F9"/>
          </a:solidFill>
          <a:ln w="12700">
            <a:solidFill>
              <a:srgbClr val="F1F5F9"/>
            </a:solidFill>
            <a:prstDash val="solid"/>
          </a:ln>
        </p:spPr>
      </p:sp>
      <p:sp>
        <p:nvSpPr>
          <p:cNvPr id="7" name="Shape 5"/>
          <p:cNvSpPr/>
          <p:nvPr/>
        </p:nvSpPr>
        <p:spPr>
          <a:xfrm>
            <a:off x="1362456" y="2148840"/>
            <a:ext cx="1005840" cy="1005840"/>
          </a:xfrm>
          <a:prstGeom prst="ellipse">
            <a:avLst/>
          </a:prstGeom>
          <a:solidFill>
            <a:srgbClr val="0B1B33"/>
          </a:solidFill>
          <a:ln w="12700">
            <a:solidFill>
              <a:srgbClr val="0B1B33"/>
            </a:solidFill>
            <a:prstDash val="solid"/>
          </a:ln>
        </p:spPr>
      </p:sp>
      <p:pic>
        <p:nvPicPr>
          <p:cNvPr id="8" name="Image 0" descr="preencoded.png">    </p:cNvPr>
          <p:cNvPicPr>
            <a:picLocks noChangeAspect="1"/>
          </p:cNvPicPr>
          <p:nvPr/>
        </p:nvPicPr>
        <p:blipFill>
          <a:blip r:embed="rId1"/>
          <a:stretch>
            <a:fillRect/>
          </a:stretch>
        </p:blipFill>
        <p:spPr>
          <a:xfrm>
            <a:off x="1613916" y="2400300"/>
            <a:ext cx="502920" cy="502920"/>
          </a:xfrm>
          <a:prstGeom prst="rect">
            <a:avLst/>
          </a:prstGeom>
        </p:spPr>
      </p:pic>
      <p:sp>
        <p:nvSpPr>
          <p:cNvPr id="9" name="Text 6"/>
          <p:cNvSpPr txBox="1"/>
          <p:nvPr/>
        </p:nvSpPr>
        <p:spPr>
          <a:xfrm>
            <a:off x="731520" y="3383280"/>
            <a:ext cx="2267712" cy="411480"/>
          </a:xfrm>
          <a:prstGeom prst="rect">
            <a:avLst/>
          </a:prstGeom>
          <a:noFill/>
          <a:ln/>
        </p:spPr>
        <p:txBody>
          <a:bodyPr wrap="square" lIns="0" tIns="0" rIns="0" bIns="0" rtlCol="0" anchor="t"/>
          <a:lstStyle/>
          <a:p>
            <a:pPr algn="ctr" indent="0" marL="0">
              <a:buNone/>
            </a:pPr>
            <a:r>
              <a:rPr lang="en-US" sz="1800" b="1" dirty="0">
                <a:solidFill>
                  <a:srgbClr val="0F172A"/>
                </a:solidFill>
                <a:latin typeface="Arial" pitchFamily="34" charset="0"/>
                <a:ea typeface="Arial" pitchFamily="34" charset="-122"/>
                <a:cs typeface="Arial" pitchFamily="34" charset="-120"/>
              </a:rPr>
              <a:t>Team Member 1</a:t>
            </a:r>
            <a:endParaRPr lang="en-US" sz="1800" dirty="0"/>
          </a:p>
        </p:txBody>
      </p:sp>
      <p:sp>
        <p:nvSpPr>
          <p:cNvPr id="10" name="Text 7"/>
          <p:cNvSpPr txBox="1"/>
          <p:nvPr/>
        </p:nvSpPr>
        <p:spPr>
          <a:xfrm>
            <a:off x="731520" y="3794760"/>
            <a:ext cx="2267712" cy="365760"/>
          </a:xfrm>
          <a:prstGeom prst="rect">
            <a:avLst/>
          </a:prstGeom>
          <a:noFill/>
          <a:ln/>
        </p:spPr>
        <p:txBody>
          <a:bodyPr wrap="square" lIns="0" tIns="0" rIns="0" bIns="0" rtlCol="0" anchor="t"/>
          <a:lstStyle/>
          <a:p>
            <a:pPr algn="ctr" indent="0" marL="0">
              <a:buNone/>
            </a:pPr>
            <a:r>
              <a:rPr lang="en-US" sz="1400" b="1" dirty="0">
                <a:solidFill>
                  <a:srgbClr val="EB6834"/>
                </a:solidFill>
                <a:latin typeface="Calibri" pitchFamily="34" charset="0"/>
                <a:ea typeface="Calibri" pitchFamily="34" charset="-122"/>
                <a:cs typeface="Calibri" pitchFamily="34" charset="-120"/>
              </a:rPr>
              <a:t>Project lead · Simulation</a:t>
            </a:r>
            <a:endParaRPr lang="en-US" sz="1400" dirty="0"/>
          </a:p>
        </p:txBody>
      </p:sp>
      <p:sp>
        <p:nvSpPr>
          <p:cNvPr id="11" name="Text 8"/>
          <p:cNvSpPr txBox="1"/>
          <p:nvPr/>
        </p:nvSpPr>
        <p:spPr>
          <a:xfrm>
            <a:off x="822960" y="4251960"/>
            <a:ext cx="2084832" cy="1005840"/>
          </a:xfrm>
          <a:prstGeom prst="rect">
            <a:avLst/>
          </a:prstGeom>
          <a:noFill/>
          <a:ln/>
        </p:spPr>
        <p:txBody>
          <a:bodyPr wrap="square" lIns="0" tIns="0" rIns="0" bIns="0" rtlCol="0" anchor="t"/>
          <a:lstStyle/>
          <a:p>
            <a:pPr algn="ctr" indent="0" marL="0">
              <a:buNone/>
            </a:pPr>
            <a:r>
              <a:rPr lang="en-US" sz="1300" dirty="0">
                <a:solidFill>
                  <a:srgbClr val="475569"/>
                </a:solidFill>
                <a:latin typeface="Calibri" pitchFamily="34" charset="0"/>
                <a:ea typeface="Calibri" pitchFamily="34" charset="-122"/>
                <a:cs typeface="Calibri" pitchFamily="34" charset="-120"/>
              </a:rPr>
              <a:t>SimPy fleet simulation, toll zone logic and integration.</a:t>
            </a:r>
            <a:endParaRPr lang="en-US" sz="1300" dirty="0"/>
          </a:p>
        </p:txBody>
      </p:sp>
      <p:sp>
        <p:nvSpPr>
          <p:cNvPr id="12" name="Shape 9"/>
          <p:cNvSpPr/>
          <p:nvPr/>
        </p:nvSpPr>
        <p:spPr>
          <a:xfrm>
            <a:off x="3364992" y="1828800"/>
            <a:ext cx="2633472" cy="3657600"/>
          </a:xfrm>
          <a:prstGeom prst="roundRect">
            <a:avLst>
              <a:gd name="adj" fmla="val 2778"/>
            </a:avLst>
          </a:prstGeom>
          <a:solidFill>
            <a:srgbClr val="F1F5F9"/>
          </a:solidFill>
          <a:ln w="12700">
            <a:solidFill>
              <a:srgbClr val="F1F5F9"/>
            </a:solidFill>
            <a:prstDash val="solid"/>
          </a:ln>
        </p:spPr>
      </p:sp>
      <p:sp>
        <p:nvSpPr>
          <p:cNvPr id="13" name="Shape 10"/>
          <p:cNvSpPr/>
          <p:nvPr/>
        </p:nvSpPr>
        <p:spPr>
          <a:xfrm>
            <a:off x="4178808" y="2148840"/>
            <a:ext cx="1005840" cy="1005840"/>
          </a:xfrm>
          <a:prstGeom prst="ellipse">
            <a:avLst/>
          </a:prstGeom>
          <a:solidFill>
            <a:srgbClr val="EB6834"/>
          </a:solidFill>
          <a:ln w="12700">
            <a:solidFill>
              <a:srgbClr val="EB6834"/>
            </a:solidFill>
            <a:prstDash val="solid"/>
          </a:ln>
        </p:spPr>
      </p:sp>
      <p:pic>
        <p:nvPicPr>
          <p:cNvPr id="14" name="Image 1" descr="preencoded.png">    </p:cNvPr>
          <p:cNvPicPr>
            <a:picLocks noChangeAspect="1"/>
          </p:cNvPicPr>
          <p:nvPr/>
        </p:nvPicPr>
        <p:blipFill>
          <a:blip r:embed="rId2"/>
          <a:stretch>
            <a:fillRect/>
          </a:stretch>
        </p:blipFill>
        <p:spPr>
          <a:xfrm>
            <a:off x="4430268" y="2400300"/>
            <a:ext cx="502920" cy="502920"/>
          </a:xfrm>
          <a:prstGeom prst="rect">
            <a:avLst/>
          </a:prstGeom>
        </p:spPr>
      </p:pic>
      <p:sp>
        <p:nvSpPr>
          <p:cNvPr id="15" name="Text 11"/>
          <p:cNvSpPr txBox="1"/>
          <p:nvPr/>
        </p:nvSpPr>
        <p:spPr>
          <a:xfrm>
            <a:off x="3547872" y="3383280"/>
            <a:ext cx="2267712" cy="411480"/>
          </a:xfrm>
          <a:prstGeom prst="rect">
            <a:avLst/>
          </a:prstGeom>
          <a:noFill/>
          <a:ln/>
        </p:spPr>
        <p:txBody>
          <a:bodyPr wrap="square" lIns="0" tIns="0" rIns="0" bIns="0" rtlCol="0" anchor="t"/>
          <a:lstStyle/>
          <a:p>
            <a:pPr algn="ctr" indent="0" marL="0">
              <a:buNone/>
            </a:pPr>
            <a:r>
              <a:rPr lang="en-US" sz="1800" b="1" dirty="0">
                <a:solidFill>
                  <a:srgbClr val="0F172A"/>
                </a:solidFill>
                <a:latin typeface="Arial" pitchFamily="34" charset="0"/>
                <a:ea typeface="Arial" pitchFamily="34" charset="-122"/>
                <a:cs typeface="Arial" pitchFamily="34" charset="-120"/>
              </a:rPr>
              <a:t>Team Member 2</a:t>
            </a:r>
            <a:endParaRPr lang="en-US" sz="1800" dirty="0"/>
          </a:p>
        </p:txBody>
      </p:sp>
      <p:sp>
        <p:nvSpPr>
          <p:cNvPr id="16" name="Text 12"/>
          <p:cNvSpPr txBox="1"/>
          <p:nvPr/>
        </p:nvSpPr>
        <p:spPr>
          <a:xfrm>
            <a:off x="3547872" y="3794760"/>
            <a:ext cx="2267712" cy="365760"/>
          </a:xfrm>
          <a:prstGeom prst="rect">
            <a:avLst/>
          </a:prstGeom>
          <a:noFill/>
          <a:ln/>
        </p:spPr>
        <p:txBody>
          <a:bodyPr wrap="square" lIns="0" tIns="0" rIns="0" bIns="0" rtlCol="0" anchor="t"/>
          <a:lstStyle/>
          <a:p>
            <a:pPr algn="ctr" indent="0" marL="0">
              <a:buNone/>
            </a:pPr>
            <a:r>
              <a:rPr lang="en-US" sz="1400" b="1" dirty="0">
                <a:solidFill>
                  <a:srgbClr val="EB6834"/>
                </a:solidFill>
                <a:latin typeface="Calibri" pitchFamily="34" charset="0"/>
                <a:ea typeface="Calibri" pitchFamily="34" charset="-122"/>
                <a:cs typeface="Calibri" pitchFamily="34" charset="-120"/>
              </a:rPr>
              <a:t>GPS · Route data</a:t>
            </a:r>
            <a:endParaRPr lang="en-US" sz="1400" dirty="0"/>
          </a:p>
        </p:txBody>
      </p:sp>
      <p:sp>
        <p:nvSpPr>
          <p:cNvPr id="17" name="Text 13"/>
          <p:cNvSpPr txBox="1"/>
          <p:nvPr/>
        </p:nvSpPr>
        <p:spPr>
          <a:xfrm>
            <a:off x="3639312" y="4251960"/>
            <a:ext cx="2084832" cy="1005840"/>
          </a:xfrm>
          <a:prstGeom prst="rect">
            <a:avLst/>
          </a:prstGeom>
          <a:noFill/>
          <a:ln/>
        </p:spPr>
        <p:txBody>
          <a:bodyPr wrap="square" lIns="0" tIns="0" rIns="0" bIns="0" rtlCol="0" anchor="t"/>
          <a:lstStyle/>
          <a:p>
            <a:pPr algn="ctr" indent="0" marL="0">
              <a:buNone/>
            </a:pPr>
            <a:r>
              <a:rPr lang="en-US" sz="1300" dirty="0">
                <a:solidFill>
                  <a:srgbClr val="475569"/>
                </a:solidFill>
                <a:latin typeface="Calibri" pitchFamily="34" charset="0"/>
                <a:ea typeface="Calibri" pitchFamily="34" charset="-122"/>
                <a:cs typeface="Calibri" pitchFamily="34" charset="-120"/>
              </a:rPr>
              <a:t>OpenStreetMap route, map-matching and distance calculation.</a:t>
            </a:r>
            <a:endParaRPr lang="en-US" sz="1300" dirty="0"/>
          </a:p>
        </p:txBody>
      </p:sp>
      <p:sp>
        <p:nvSpPr>
          <p:cNvPr id="18" name="Shape 14"/>
          <p:cNvSpPr/>
          <p:nvPr/>
        </p:nvSpPr>
        <p:spPr>
          <a:xfrm>
            <a:off x="6181344" y="1828800"/>
            <a:ext cx="2633472" cy="3657600"/>
          </a:xfrm>
          <a:prstGeom prst="roundRect">
            <a:avLst>
              <a:gd name="adj" fmla="val 2778"/>
            </a:avLst>
          </a:prstGeom>
          <a:solidFill>
            <a:srgbClr val="F1F5F9"/>
          </a:solidFill>
          <a:ln w="12700">
            <a:solidFill>
              <a:srgbClr val="F1F5F9"/>
            </a:solidFill>
            <a:prstDash val="solid"/>
          </a:ln>
        </p:spPr>
      </p:sp>
      <p:sp>
        <p:nvSpPr>
          <p:cNvPr id="19" name="Shape 15"/>
          <p:cNvSpPr/>
          <p:nvPr/>
        </p:nvSpPr>
        <p:spPr>
          <a:xfrm>
            <a:off x="6995160" y="2148840"/>
            <a:ext cx="1005840" cy="1005840"/>
          </a:xfrm>
          <a:prstGeom prst="ellipse">
            <a:avLst/>
          </a:prstGeom>
          <a:solidFill>
            <a:srgbClr val="0B1B33"/>
          </a:solidFill>
          <a:ln w="12700">
            <a:solidFill>
              <a:srgbClr val="0B1B33"/>
            </a:solidFill>
            <a:prstDash val="solid"/>
          </a:ln>
        </p:spPr>
      </p:sp>
      <p:pic>
        <p:nvPicPr>
          <p:cNvPr id="20" name="Image 2" descr="preencoded.png">    </p:cNvPr>
          <p:cNvPicPr>
            <a:picLocks noChangeAspect="1"/>
          </p:cNvPicPr>
          <p:nvPr/>
        </p:nvPicPr>
        <p:blipFill>
          <a:blip r:embed="rId3"/>
          <a:stretch>
            <a:fillRect/>
          </a:stretch>
        </p:blipFill>
        <p:spPr>
          <a:xfrm>
            <a:off x="7246620" y="2400300"/>
            <a:ext cx="502920" cy="502920"/>
          </a:xfrm>
          <a:prstGeom prst="rect">
            <a:avLst/>
          </a:prstGeom>
        </p:spPr>
      </p:pic>
      <p:sp>
        <p:nvSpPr>
          <p:cNvPr id="21" name="Text 16"/>
          <p:cNvSpPr txBox="1"/>
          <p:nvPr/>
        </p:nvSpPr>
        <p:spPr>
          <a:xfrm>
            <a:off x="6364224" y="3383280"/>
            <a:ext cx="2267712" cy="411480"/>
          </a:xfrm>
          <a:prstGeom prst="rect">
            <a:avLst/>
          </a:prstGeom>
          <a:noFill/>
          <a:ln/>
        </p:spPr>
        <p:txBody>
          <a:bodyPr wrap="square" lIns="0" tIns="0" rIns="0" bIns="0" rtlCol="0" anchor="t"/>
          <a:lstStyle/>
          <a:p>
            <a:pPr algn="ctr" indent="0" marL="0">
              <a:buNone/>
            </a:pPr>
            <a:r>
              <a:rPr lang="en-US" sz="1800" b="1" dirty="0">
                <a:solidFill>
                  <a:srgbClr val="0F172A"/>
                </a:solidFill>
                <a:latin typeface="Arial" pitchFamily="34" charset="0"/>
                <a:ea typeface="Arial" pitchFamily="34" charset="-122"/>
                <a:cs typeface="Arial" pitchFamily="34" charset="-120"/>
              </a:rPr>
              <a:t>Team Member 3</a:t>
            </a:r>
            <a:endParaRPr lang="en-US" sz="1800" dirty="0"/>
          </a:p>
        </p:txBody>
      </p:sp>
      <p:sp>
        <p:nvSpPr>
          <p:cNvPr id="22" name="Text 17"/>
          <p:cNvSpPr txBox="1"/>
          <p:nvPr/>
        </p:nvSpPr>
        <p:spPr>
          <a:xfrm>
            <a:off x="6364224" y="3794760"/>
            <a:ext cx="2267712" cy="365760"/>
          </a:xfrm>
          <a:prstGeom prst="rect">
            <a:avLst/>
          </a:prstGeom>
          <a:noFill/>
          <a:ln/>
        </p:spPr>
        <p:txBody>
          <a:bodyPr wrap="square" lIns="0" tIns="0" rIns="0" bIns="0" rtlCol="0" anchor="t"/>
          <a:lstStyle/>
          <a:p>
            <a:pPr algn="ctr" indent="0" marL="0">
              <a:buNone/>
            </a:pPr>
            <a:r>
              <a:rPr lang="en-US" sz="1400" b="1" dirty="0">
                <a:solidFill>
                  <a:srgbClr val="EB6834"/>
                </a:solidFill>
                <a:latin typeface="Calibri" pitchFamily="34" charset="0"/>
                <a:ea typeface="Calibri" pitchFamily="34" charset="-122"/>
                <a:cs typeface="Calibri" pitchFamily="34" charset="-120"/>
              </a:rPr>
              <a:t>Database · Billing</a:t>
            </a:r>
            <a:endParaRPr lang="en-US" sz="1400" dirty="0"/>
          </a:p>
        </p:txBody>
      </p:sp>
      <p:sp>
        <p:nvSpPr>
          <p:cNvPr id="23" name="Text 18"/>
          <p:cNvSpPr txBox="1"/>
          <p:nvPr/>
        </p:nvSpPr>
        <p:spPr>
          <a:xfrm>
            <a:off x="6455664" y="4251960"/>
            <a:ext cx="2084832" cy="1005840"/>
          </a:xfrm>
          <a:prstGeom prst="rect">
            <a:avLst/>
          </a:prstGeom>
          <a:noFill/>
          <a:ln/>
        </p:spPr>
        <p:txBody>
          <a:bodyPr wrap="square" lIns="0" tIns="0" rIns="0" bIns="0" rtlCol="0" anchor="t"/>
          <a:lstStyle/>
          <a:p>
            <a:pPr algn="ctr" indent="0" marL="0">
              <a:buNone/>
            </a:pPr>
            <a:r>
              <a:rPr lang="en-US" sz="1300" dirty="0">
                <a:solidFill>
                  <a:srgbClr val="475569"/>
                </a:solidFill>
                <a:latin typeface="Calibri" pitchFamily="34" charset="0"/>
                <a:ea typeface="Calibri" pitchFamily="34" charset="-122"/>
                <a:cs typeface="Calibri" pitchFamily="34" charset="-120"/>
              </a:rPr>
              <a:t>SQLite trip history, receipts and NHAI fee data.</a:t>
            </a:r>
            <a:endParaRPr lang="en-US" sz="1300" dirty="0"/>
          </a:p>
        </p:txBody>
      </p:sp>
      <p:sp>
        <p:nvSpPr>
          <p:cNvPr id="24" name="Shape 19"/>
          <p:cNvSpPr/>
          <p:nvPr/>
        </p:nvSpPr>
        <p:spPr>
          <a:xfrm>
            <a:off x="8997696" y="1828800"/>
            <a:ext cx="2633472" cy="3657600"/>
          </a:xfrm>
          <a:prstGeom prst="roundRect">
            <a:avLst>
              <a:gd name="adj" fmla="val 2778"/>
            </a:avLst>
          </a:prstGeom>
          <a:solidFill>
            <a:srgbClr val="F1F5F9"/>
          </a:solidFill>
          <a:ln w="12700">
            <a:solidFill>
              <a:srgbClr val="F1F5F9"/>
            </a:solidFill>
            <a:prstDash val="solid"/>
          </a:ln>
        </p:spPr>
      </p:sp>
      <p:sp>
        <p:nvSpPr>
          <p:cNvPr id="25" name="Shape 20"/>
          <p:cNvSpPr/>
          <p:nvPr/>
        </p:nvSpPr>
        <p:spPr>
          <a:xfrm>
            <a:off x="9811512" y="2148840"/>
            <a:ext cx="1005840" cy="1005840"/>
          </a:xfrm>
          <a:prstGeom prst="ellipse">
            <a:avLst/>
          </a:prstGeom>
          <a:solidFill>
            <a:srgbClr val="EB6834"/>
          </a:solidFill>
          <a:ln w="12700">
            <a:solidFill>
              <a:srgbClr val="EB6834"/>
            </a:solidFill>
            <a:prstDash val="solid"/>
          </a:ln>
        </p:spPr>
      </p:sp>
      <p:pic>
        <p:nvPicPr>
          <p:cNvPr id="26" name="Image 3" descr="preencoded.png">    </p:cNvPr>
          <p:cNvPicPr>
            <a:picLocks noChangeAspect="1"/>
          </p:cNvPicPr>
          <p:nvPr/>
        </p:nvPicPr>
        <p:blipFill>
          <a:blip r:embed="rId4"/>
          <a:stretch>
            <a:fillRect/>
          </a:stretch>
        </p:blipFill>
        <p:spPr>
          <a:xfrm>
            <a:off x="10062972" y="2400300"/>
            <a:ext cx="502920" cy="502920"/>
          </a:xfrm>
          <a:prstGeom prst="rect">
            <a:avLst/>
          </a:prstGeom>
        </p:spPr>
      </p:pic>
      <p:sp>
        <p:nvSpPr>
          <p:cNvPr id="27" name="Text 21"/>
          <p:cNvSpPr txBox="1"/>
          <p:nvPr/>
        </p:nvSpPr>
        <p:spPr>
          <a:xfrm>
            <a:off x="9180576" y="3383280"/>
            <a:ext cx="2267712" cy="411480"/>
          </a:xfrm>
          <a:prstGeom prst="rect">
            <a:avLst/>
          </a:prstGeom>
          <a:noFill/>
          <a:ln/>
        </p:spPr>
        <p:txBody>
          <a:bodyPr wrap="square" lIns="0" tIns="0" rIns="0" bIns="0" rtlCol="0" anchor="t"/>
          <a:lstStyle/>
          <a:p>
            <a:pPr algn="ctr" indent="0" marL="0">
              <a:buNone/>
            </a:pPr>
            <a:r>
              <a:rPr lang="en-US" sz="1800" b="1" dirty="0">
                <a:solidFill>
                  <a:srgbClr val="0F172A"/>
                </a:solidFill>
                <a:latin typeface="Arial" pitchFamily="34" charset="0"/>
                <a:ea typeface="Arial" pitchFamily="34" charset="-122"/>
                <a:cs typeface="Arial" pitchFamily="34" charset="-120"/>
              </a:rPr>
              <a:t>Team Member 4</a:t>
            </a:r>
            <a:endParaRPr lang="en-US" sz="1800" dirty="0"/>
          </a:p>
        </p:txBody>
      </p:sp>
      <p:sp>
        <p:nvSpPr>
          <p:cNvPr id="28" name="Text 22"/>
          <p:cNvSpPr txBox="1"/>
          <p:nvPr/>
        </p:nvSpPr>
        <p:spPr>
          <a:xfrm>
            <a:off x="9180576" y="3794760"/>
            <a:ext cx="2267712" cy="365760"/>
          </a:xfrm>
          <a:prstGeom prst="rect">
            <a:avLst/>
          </a:prstGeom>
          <a:noFill/>
          <a:ln/>
        </p:spPr>
        <p:txBody>
          <a:bodyPr wrap="square" lIns="0" tIns="0" rIns="0" bIns="0" rtlCol="0" anchor="t"/>
          <a:lstStyle/>
          <a:p>
            <a:pPr algn="ctr" indent="0" marL="0">
              <a:buNone/>
            </a:pPr>
            <a:r>
              <a:rPr lang="en-US" sz="1400" b="1" dirty="0">
                <a:solidFill>
                  <a:srgbClr val="EB6834"/>
                </a:solidFill>
                <a:latin typeface="Calibri" pitchFamily="34" charset="0"/>
                <a:ea typeface="Calibri" pitchFamily="34" charset="-122"/>
                <a:cs typeface="Calibri" pitchFamily="34" charset="-120"/>
              </a:rPr>
              <a:t>Frontend · GUI</a:t>
            </a:r>
            <a:endParaRPr lang="en-US" sz="1400" dirty="0"/>
          </a:p>
        </p:txBody>
      </p:sp>
      <p:sp>
        <p:nvSpPr>
          <p:cNvPr id="29" name="Text 23"/>
          <p:cNvSpPr txBox="1"/>
          <p:nvPr/>
        </p:nvSpPr>
        <p:spPr>
          <a:xfrm>
            <a:off x="9272016" y="4251960"/>
            <a:ext cx="2084832" cy="1005840"/>
          </a:xfrm>
          <a:prstGeom prst="rect">
            <a:avLst/>
          </a:prstGeom>
          <a:noFill/>
          <a:ln/>
        </p:spPr>
        <p:txBody>
          <a:bodyPr wrap="square" lIns="0" tIns="0" rIns="0" bIns="0" rtlCol="0" anchor="t"/>
          <a:lstStyle/>
          <a:p>
            <a:pPr algn="ctr" indent="0" marL="0">
              <a:buNone/>
            </a:pPr>
            <a:r>
              <a:rPr lang="en-US" sz="1300" dirty="0">
                <a:solidFill>
                  <a:srgbClr val="475569"/>
                </a:solidFill>
                <a:latin typeface="Calibri" pitchFamily="34" charset="0"/>
                <a:ea typeface="Calibri" pitchFamily="34" charset="-122"/>
                <a:cs typeface="Calibri" pitchFamily="34" charset="-120"/>
              </a:rPr>
              <a:t>Tkinter app, charts and the interactive map.</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GPS Toll-Based System Simulation</a:t>
            </a:r>
            <a:endParaRPr lang="en-US" sz="1000" dirty="0"/>
          </a:p>
        </p:txBody>
      </p:sp>
      <p:sp>
        <p:nvSpPr>
          <p:cNvPr id="3" name="Text 1"/>
          <p:cNvSpPr txBox="1"/>
          <p:nvPr/>
        </p:nvSpPr>
        <p:spPr>
          <a:xfrm>
            <a:off x="10271455" y="6400800"/>
            <a:ext cx="13716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16 / 17</a:t>
            </a:r>
            <a:endParaRPr lang="en-US" sz="1000" dirty="0"/>
          </a:p>
        </p:txBody>
      </p:sp>
      <p:sp>
        <p:nvSpPr>
          <p:cNvPr id="4" name="Text 2"/>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300" kern="0" dirty="0">
                <a:solidFill>
                  <a:srgbClr val="EB6834"/>
                </a:solidFill>
                <a:latin typeface="Arial" pitchFamily="34" charset="0"/>
                <a:ea typeface="Arial" pitchFamily="34" charset="-122"/>
                <a:cs typeface="Arial" pitchFamily="34" charset="-120"/>
              </a:rPr>
              <a:t>WHAT'S NEXT</a:t>
            </a:r>
            <a:endParaRPr lang="en-US" sz="1200" dirty="0"/>
          </a:p>
        </p:txBody>
      </p:sp>
      <p:sp>
        <p:nvSpPr>
          <p:cNvPr id="5" name="Text 3"/>
          <p:cNvSpPr txBox="1"/>
          <p:nvPr/>
        </p:nvSpPr>
        <p:spPr>
          <a:xfrm>
            <a:off x="548640" y="676656"/>
            <a:ext cx="11094415" cy="685800"/>
          </a:xfrm>
          <a:prstGeom prst="rect">
            <a:avLst/>
          </a:prstGeom>
          <a:noFill/>
          <a:ln/>
        </p:spPr>
        <p:txBody>
          <a:bodyPr wrap="square" lIns="0" tIns="0" rIns="0" bIns="0" rtlCol="0" anchor="ctr"/>
          <a:lstStyle/>
          <a:p>
            <a:pPr indent="0" marL="0">
              <a:buNone/>
            </a:pPr>
            <a:r>
              <a:rPr lang="en-US" sz="3000" b="1" dirty="0">
                <a:solidFill>
                  <a:srgbClr val="0F172A"/>
                </a:solidFill>
                <a:latin typeface="Arial" pitchFamily="34" charset="0"/>
                <a:ea typeface="Arial" pitchFamily="34" charset="-122"/>
                <a:cs typeface="Arial" pitchFamily="34" charset="-120"/>
              </a:rPr>
              <a:t>Limitations and roadmap</a:t>
            </a:r>
            <a:endParaRPr lang="en-US" sz="3000" dirty="0"/>
          </a:p>
        </p:txBody>
      </p:sp>
      <p:sp>
        <p:nvSpPr>
          <p:cNvPr id="6" name="Text 4"/>
          <p:cNvSpPr txBox="1"/>
          <p:nvPr/>
        </p:nvSpPr>
        <p:spPr>
          <a:xfrm>
            <a:off x="822960" y="1554480"/>
            <a:ext cx="4572000" cy="274320"/>
          </a:xfrm>
          <a:prstGeom prst="rect">
            <a:avLst/>
          </a:prstGeom>
          <a:noFill/>
          <a:ln/>
        </p:spPr>
        <p:txBody>
          <a:bodyPr wrap="square" lIns="0" tIns="0" rIns="0" bIns="0" rtlCol="0" anchor="t"/>
          <a:lstStyle/>
          <a:p>
            <a:pPr indent="0" marL="0">
              <a:buNone/>
            </a:pPr>
            <a:r>
              <a:rPr lang="en-US" sz="1100" b="1" spc="200" kern="0" dirty="0">
                <a:solidFill>
                  <a:srgbClr val="64748B"/>
                </a:solidFill>
                <a:latin typeface="Arial" pitchFamily="34" charset="0"/>
                <a:ea typeface="Arial" pitchFamily="34" charset="-122"/>
                <a:cs typeface="Arial" pitchFamily="34" charset="-120"/>
              </a:rPr>
              <a:t>TODAY</a:t>
            </a:r>
            <a:endParaRPr lang="en-US" sz="1100" dirty="0"/>
          </a:p>
        </p:txBody>
      </p:sp>
      <p:sp>
        <p:nvSpPr>
          <p:cNvPr id="7" name="Text 5"/>
          <p:cNvSpPr txBox="1"/>
          <p:nvPr/>
        </p:nvSpPr>
        <p:spPr>
          <a:xfrm>
            <a:off x="6583680" y="1554480"/>
            <a:ext cx="4572000" cy="274320"/>
          </a:xfrm>
          <a:prstGeom prst="rect">
            <a:avLst/>
          </a:prstGeom>
          <a:noFill/>
          <a:ln/>
        </p:spPr>
        <p:txBody>
          <a:bodyPr wrap="square" lIns="0" tIns="0" rIns="0" bIns="0" rtlCol="0" anchor="t"/>
          <a:lstStyle/>
          <a:p>
            <a:pPr indent="0" marL="0">
              <a:buNone/>
            </a:pPr>
            <a:r>
              <a:rPr lang="en-US" sz="1100" b="1" spc="200" kern="0" dirty="0">
                <a:solidFill>
                  <a:srgbClr val="64748B"/>
                </a:solidFill>
                <a:latin typeface="Arial" pitchFamily="34" charset="0"/>
                <a:ea typeface="Arial" pitchFamily="34" charset="-122"/>
                <a:cs typeface="Arial" pitchFamily="34" charset="-120"/>
              </a:rPr>
              <a:t>NEXT STEP</a:t>
            </a:r>
            <a:endParaRPr lang="en-US" sz="1100" dirty="0"/>
          </a:p>
        </p:txBody>
      </p:sp>
      <p:sp>
        <p:nvSpPr>
          <p:cNvPr id="8" name="Shape 6"/>
          <p:cNvSpPr/>
          <p:nvPr/>
        </p:nvSpPr>
        <p:spPr>
          <a:xfrm>
            <a:off x="548640" y="1920240"/>
            <a:ext cx="11094415" cy="713232"/>
          </a:xfrm>
          <a:prstGeom prst="roundRect">
            <a:avLst>
              <a:gd name="adj" fmla="val 10256"/>
            </a:avLst>
          </a:prstGeom>
          <a:solidFill>
            <a:srgbClr val="F1F5F9"/>
          </a:solidFill>
          <a:ln w="12700">
            <a:solidFill>
              <a:srgbClr val="F1F5F9"/>
            </a:solidFill>
            <a:prstDash val="solid"/>
          </a:ln>
        </p:spPr>
      </p:sp>
      <p:sp>
        <p:nvSpPr>
          <p:cNvPr id="9" name="Text 7"/>
          <p:cNvSpPr txBox="1"/>
          <p:nvPr/>
        </p:nvSpPr>
        <p:spPr>
          <a:xfrm>
            <a:off x="822960" y="1920240"/>
            <a:ext cx="5120640" cy="713232"/>
          </a:xfrm>
          <a:prstGeom prst="rect">
            <a:avLst/>
          </a:prstGeom>
          <a:noFill/>
          <a:ln/>
        </p:spPr>
        <p:txBody>
          <a:bodyPr wrap="square" lIns="0" tIns="0" rIns="0" bIns="0" rtlCol="0" anchor="ctr"/>
          <a:lstStyle/>
          <a:p>
            <a:pPr indent="0" marL="0">
              <a:buNone/>
            </a:pPr>
            <a:r>
              <a:rPr lang="en-US" sz="1500" dirty="0">
                <a:solidFill>
                  <a:srgbClr val="475569"/>
                </a:solidFill>
                <a:latin typeface="Calibri" pitchFamily="34" charset="0"/>
                <a:ea typeface="Calibri" pitchFamily="34" charset="-122"/>
                <a:cs typeface="Calibri" pitchFamily="34" charset="-120"/>
              </a:rPr>
              <a:t>One direction: Coimbatore → Bangalore</a:t>
            </a:r>
            <a:endParaRPr lang="en-US" sz="1500" dirty="0"/>
          </a:p>
        </p:txBody>
      </p:sp>
      <p:pic>
        <p:nvPicPr>
          <p:cNvPr id="10" name="Image 0" descr="preencoded.png">    </p:cNvPr>
          <p:cNvPicPr>
            <a:picLocks noChangeAspect="1"/>
          </p:cNvPicPr>
          <p:nvPr/>
        </p:nvPicPr>
        <p:blipFill>
          <a:blip r:embed="rId1"/>
          <a:stretch>
            <a:fillRect/>
          </a:stretch>
        </p:blipFill>
        <p:spPr>
          <a:xfrm>
            <a:off x="5989320" y="2139696"/>
            <a:ext cx="274320" cy="274320"/>
          </a:xfrm>
          <a:prstGeom prst="rect">
            <a:avLst/>
          </a:prstGeom>
        </p:spPr>
      </p:pic>
      <p:sp>
        <p:nvSpPr>
          <p:cNvPr id="11" name="Text 8"/>
          <p:cNvSpPr txBox="1"/>
          <p:nvPr/>
        </p:nvSpPr>
        <p:spPr>
          <a:xfrm>
            <a:off x="6583680" y="1920240"/>
            <a:ext cx="4846320" cy="713232"/>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Reverse the route for return trips</a:t>
            </a:r>
            <a:endParaRPr lang="en-US" sz="1500" dirty="0"/>
          </a:p>
        </p:txBody>
      </p:sp>
      <p:sp>
        <p:nvSpPr>
          <p:cNvPr id="12" name="Shape 9"/>
          <p:cNvSpPr/>
          <p:nvPr/>
        </p:nvSpPr>
        <p:spPr>
          <a:xfrm>
            <a:off x="548640" y="2770632"/>
            <a:ext cx="11094415" cy="713232"/>
          </a:xfrm>
          <a:prstGeom prst="roundRect">
            <a:avLst>
              <a:gd name="adj" fmla="val 10256"/>
            </a:avLst>
          </a:prstGeom>
          <a:solidFill>
            <a:srgbClr val="FFFFFF"/>
          </a:solidFill>
          <a:ln w="12700">
            <a:solidFill>
              <a:srgbClr val="FFFFFF"/>
            </a:solidFill>
            <a:prstDash val="solid"/>
          </a:ln>
        </p:spPr>
      </p:sp>
      <p:sp>
        <p:nvSpPr>
          <p:cNvPr id="13" name="Text 10"/>
          <p:cNvSpPr txBox="1"/>
          <p:nvPr/>
        </p:nvSpPr>
        <p:spPr>
          <a:xfrm>
            <a:off x="822960" y="2770632"/>
            <a:ext cx="5120640" cy="713232"/>
          </a:xfrm>
          <a:prstGeom prst="rect">
            <a:avLst/>
          </a:prstGeom>
          <a:noFill/>
          <a:ln/>
        </p:spPr>
        <p:txBody>
          <a:bodyPr wrap="square" lIns="0" tIns="0" rIns="0" bIns="0" rtlCol="0" anchor="ctr"/>
          <a:lstStyle/>
          <a:p>
            <a:pPr indent="0" marL="0">
              <a:buNone/>
            </a:pPr>
            <a:r>
              <a:rPr lang="en-US" sz="1500" dirty="0">
                <a:solidFill>
                  <a:srgbClr val="475569"/>
                </a:solidFill>
                <a:latin typeface="Calibri" pitchFamily="34" charset="0"/>
                <a:ea typeface="Calibri" pitchFamily="34" charset="-122"/>
                <a:cs typeface="Calibri" pitchFamily="34" charset="-120"/>
              </a:rPr>
              <a:t>Toll zones centred on each plaza</a:t>
            </a:r>
            <a:endParaRPr lang="en-US" sz="1500" dirty="0"/>
          </a:p>
        </p:txBody>
      </p:sp>
      <p:pic>
        <p:nvPicPr>
          <p:cNvPr id="14" name="Image 1" descr="preencoded.png">    </p:cNvPr>
          <p:cNvPicPr>
            <a:picLocks noChangeAspect="1"/>
          </p:cNvPicPr>
          <p:nvPr/>
        </p:nvPicPr>
        <p:blipFill>
          <a:blip r:embed="rId2"/>
          <a:stretch>
            <a:fillRect/>
          </a:stretch>
        </p:blipFill>
        <p:spPr>
          <a:xfrm>
            <a:off x="5989320" y="2990088"/>
            <a:ext cx="274320" cy="274320"/>
          </a:xfrm>
          <a:prstGeom prst="rect">
            <a:avLst/>
          </a:prstGeom>
        </p:spPr>
      </p:pic>
      <p:sp>
        <p:nvSpPr>
          <p:cNvPr id="15" name="Text 11"/>
          <p:cNvSpPr txBox="1"/>
          <p:nvPr/>
        </p:nvSpPr>
        <p:spPr>
          <a:xfrm>
            <a:off x="6583680" y="2770632"/>
            <a:ext cx="4846320" cy="713232"/>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Use official section start and end chainages</a:t>
            </a:r>
            <a:endParaRPr lang="en-US" sz="1500" dirty="0"/>
          </a:p>
        </p:txBody>
      </p:sp>
      <p:sp>
        <p:nvSpPr>
          <p:cNvPr id="16" name="Shape 12"/>
          <p:cNvSpPr/>
          <p:nvPr/>
        </p:nvSpPr>
        <p:spPr>
          <a:xfrm>
            <a:off x="548640" y="3621024"/>
            <a:ext cx="11094415" cy="713232"/>
          </a:xfrm>
          <a:prstGeom prst="roundRect">
            <a:avLst>
              <a:gd name="adj" fmla="val 10256"/>
            </a:avLst>
          </a:prstGeom>
          <a:solidFill>
            <a:srgbClr val="F1F5F9"/>
          </a:solidFill>
          <a:ln w="12700">
            <a:solidFill>
              <a:srgbClr val="F1F5F9"/>
            </a:solidFill>
            <a:prstDash val="solid"/>
          </a:ln>
        </p:spPr>
      </p:sp>
      <p:sp>
        <p:nvSpPr>
          <p:cNvPr id="17" name="Text 13"/>
          <p:cNvSpPr txBox="1"/>
          <p:nvPr/>
        </p:nvSpPr>
        <p:spPr>
          <a:xfrm>
            <a:off x="822960" y="3621024"/>
            <a:ext cx="5120640" cy="713232"/>
          </a:xfrm>
          <a:prstGeom prst="rect">
            <a:avLst/>
          </a:prstGeom>
          <a:noFill/>
          <a:ln/>
        </p:spPr>
        <p:txBody>
          <a:bodyPr wrap="square" lIns="0" tIns="0" rIns="0" bIns="0" rtlCol="0" anchor="ctr"/>
          <a:lstStyle/>
          <a:p>
            <a:pPr indent="0" marL="0">
              <a:buNone/>
            </a:pPr>
            <a:r>
              <a:rPr lang="en-US" sz="1500" dirty="0">
                <a:solidFill>
                  <a:srgbClr val="475569"/>
                </a:solidFill>
                <a:latin typeface="Calibri" pitchFamily="34" charset="0"/>
                <a:ea typeface="Calibri" pitchFamily="34" charset="-122"/>
                <a:cs typeface="Calibri" pitchFamily="34" charset="-120"/>
              </a:rPr>
              <a:t>20 km free applied per trip</a:t>
            </a:r>
            <a:endParaRPr lang="en-US" sz="1500" dirty="0"/>
          </a:p>
        </p:txBody>
      </p:sp>
      <p:pic>
        <p:nvPicPr>
          <p:cNvPr id="18" name="Image 2" descr="preencoded.png">    </p:cNvPr>
          <p:cNvPicPr>
            <a:picLocks noChangeAspect="1"/>
          </p:cNvPicPr>
          <p:nvPr/>
        </p:nvPicPr>
        <p:blipFill>
          <a:blip r:embed="rId3"/>
          <a:stretch>
            <a:fillRect/>
          </a:stretch>
        </p:blipFill>
        <p:spPr>
          <a:xfrm>
            <a:off x="5989320" y="3840480"/>
            <a:ext cx="274320" cy="274320"/>
          </a:xfrm>
          <a:prstGeom prst="rect">
            <a:avLst/>
          </a:prstGeom>
        </p:spPr>
      </p:pic>
      <p:sp>
        <p:nvSpPr>
          <p:cNvPr id="19" name="Text 14"/>
          <p:cNvSpPr txBox="1"/>
          <p:nvPr/>
        </p:nvSpPr>
        <p:spPr>
          <a:xfrm>
            <a:off x="6583680" y="3621024"/>
            <a:ext cx="4846320" cy="713232"/>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Track the free allowance per vehicle per day</a:t>
            </a:r>
            <a:endParaRPr lang="en-US" sz="1500" dirty="0"/>
          </a:p>
        </p:txBody>
      </p:sp>
      <p:sp>
        <p:nvSpPr>
          <p:cNvPr id="20" name="Shape 15"/>
          <p:cNvSpPr/>
          <p:nvPr/>
        </p:nvSpPr>
        <p:spPr>
          <a:xfrm>
            <a:off x="548640" y="4471416"/>
            <a:ext cx="11094415" cy="713232"/>
          </a:xfrm>
          <a:prstGeom prst="roundRect">
            <a:avLst>
              <a:gd name="adj" fmla="val 10256"/>
            </a:avLst>
          </a:prstGeom>
          <a:solidFill>
            <a:srgbClr val="FFFFFF"/>
          </a:solidFill>
          <a:ln w="12700">
            <a:solidFill>
              <a:srgbClr val="FFFFFF"/>
            </a:solidFill>
            <a:prstDash val="solid"/>
          </a:ln>
        </p:spPr>
      </p:sp>
      <p:sp>
        <p:nvSpPr>
          <p:cNvPr id="21" name="Text 16"/>
          <p:cNvSpPr txBox="1"/>
          <p:nvPr/>
        </p:nvSpPr>
        <p:spPr>
          <a:xfrm>
            <a:off x="822960" y="4471416"/>
            <a:ext cx="5120640" cy="713232"/>
          </a:xfrm>
          <a:prstGeom prst="rect">
            <a:avLst/>
          </a:prstGeom>
          <a:noFill/>
          <a:ln/>
        </p:spPr>
        <p:txBody>
          <a:bodyPr wrap="square" lIns="0" tIns="0" rIns="0" bIns="0" rtlCol="0" anchor="ctr"/>
          <a:lstStyle/>
          <a:p>
            <a:pPr indent="0" marL="0">
              <a:buNone/>
            </a:pPr>
            <a:r>
              <a:rPr lang="en-US" sz="1500" dirty="0">
                <a:solidFill>
                  <a:srgbClr val="475569"/>
                </a:solidFill>
                <a:latin typeface="Calibri" pitchFamily="34" charset="0"/>
                <a:ea typeface="Calibri" pitchFamily="34" charset="-122"/>
                <a:cs typeface="Calibri" pitchFamily="34" charset="-120"/>
              </a:rPr>
              <a:t>Fees are a 2025–26 snapshot</a:t>
            </a:r>
            <a:endParaRPr lang="en-US" sz="1500" dirty="0"/>
          </a:p>
        </p:txBody>
      </p:sp>
      <p:pic>
        <p:nvPicPr>
          <p:cNvPr id="22" name="Image 3" descr="preencoded.png">    </p:cNvPr>
          <p:cNvPicPr>
            <a:picLocks noChangeAspect="1"/>
          </p:cNvPicPr>
          <p:nvPr/>
        </p:nvPicPr>
        <p:blipFill>
          <a:blip r:embed="rId4"/>
          <a:stretch>
            <a:fillRect/>
          </a:stretch>
        </p:blipFill>
        <p:spPr>
          <a:xfrm>
            <a:off x="5989320" y="4690872"/>
            <a:ext cx="274320" cy="274320"/>
          </a:xfrm>
          <a:prstGeom prst="rect">
            <a:avLst/>
          </a:prstGeom>
        </p:spPr>
      </p:pic>
      <p:sp>
        <p:nvSpPr>
          <p:cNvPr id="23" name="Text 17"/>
          <p:cNvSpPr txBox="1"/>
          <p:nvPr/>
        </p:nvSpPr>
        <p:spPr>
          <a:xfrm>
            <a:off x="6583680" y="4471416"/>
            <a:ext cx="4846320" cy="713232"/>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Refresh fees from NHAI every year</a:t>
            </a:r>
            <a:endParaRPr lang="en-US" sz="1500" dirty="0"/>
          </a:p>
        </p:txBody>
      </p:sp>
      <p:sp>
        <p:nvSpPr>
          <p:cNvPr id="24" name="Shape 18"/>
          <p:cNvSpPr/>
          <p:nvPr/>
        </p:nvSpPr>
        <p:spPr>
          <a:xfrm>
            <a:off x="548640" y="5321808"/>
            <a:ext cx="11094415" cy="713232"/>
          </a:xfrm>
          <a:prstGeom prst="roundRect">
            <a:avLst>
              <a:gd name="adj" fmla="val 10256"/>
            </a:avLst>
          </a:prstGeom>
          <a:solidFill>
            <a:srgbClr val="F1F5F9"/>
          </a:solidFill>
          <a:ln w="12700">
            <a:solidFill>
              <a:srgbClr val="F1F5F9"/>
            </a:solidFill>
            <a:prstDash val="solid"/>
          </a:ln>
        </p:spPr>
      </p:sp>
      <p:sp>
        <p:nvSpPr>
          <p:cNvPr id="25" name="Text 19"/>
          <p:cNvSpPr txBox="1"/>
          <p:nvPr/>
        </p:nvSpPr>
        <p:spPr>
          <a:xfrm>
            <a:off x="822960" y="5321808"/>
            <a:ext cx="5120640" cy="713232"/>
          </a:xfrm>
          <a:prstGeom prst="rect">
            <a:avLst/>
          </a:prstGeom>
          <a:noFill/>
          <a:ln/>
        </p:spPr>
        <p:txBody>
          <a:bodyPr wrap="square" lIns="0" tIns="0" rIns="0" bIns="0" rtlCol="0" anchor="ctr"/>
          <a:lstStyle/>
          <a:p>
            <a:pPr indent="0" marL="0">
              <a:buNone/>
            </a:pPr>
            <a:r>
              <a:rPr lang="en-US" sz="1500" dirty="0">
                <a:solidFill>
                  <a:srgbClr val="475569"/>
                </a:solidFill>
                <a:latin typeface="Calibri" pitchFamily="34" charset="0"/>
                <a:ea typeface="Calibri" pitchFamily="34" charset="-122"/>
                <a:cs typeface="Calibri" pitchFamily="34" charset="-120"/>
              </a:rPr>
              <a:t>No congestion or GPS signal loss</a:t>
            </a:r>
            <a:endParaRPr lang="en-US" sz="1500" dirty="0"/>
          </a:p>
        </p:txBody>
      </p:sp>
      <p:pic>
        <p:nvPicPr>
          <p:cNvPr id="26" name="Image 4" descr="preencoded.png">    </p:cNvPr>
          <p:cNvPicPr>
            <a:picLocks noChangeAspect="1"/>
          </p:cNvPicPr>
          <p:nvPr/>
        </p:nvPicPr>
        <p:blipFill>
          <a:blip r:embed="rId5"/>
          <a:stretch>
            <a:fillRect/>
          </a:stretch>
        </p:blipFill>
        <p:spPr>
          <a:xfrm>
            <a:off x="5989320" y="5541264"/>
            <a:ext cx="274320" cy="274320"/>
          </a:xfrm>
          <a:prstGeom prst="rect">
            <a:avLst/>
          </a:prstGeom>
        </p:spPr>
      </p:pic>
      <p:sp>
        <p:nvSpPr>
          <p:cNvPr id="27" name="Text 20"/>
          <p:cNvSpPr txBox="1"/>
          <p:nvPr/>
        </p:nvSpPr>
        <p:spPr>
          <a:xfrm>
            <a:off x="6583680" y="5321808"/>
            <a:ext cx="4846320" cy="713232"/>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Add traffic density and GPS outages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B33"/>
        </a:solidFill>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t"/>
          <a:lstStyle/>
          <a:p>
            <a:pPr indent="0" marL="0">
              <a:buNone/>
            </a:pPr>
            <a:r>
              <a:rPr lang="en-US" sz="1000" dirty="0">
                <a:solidFill>
                  <a:srgbClr val="8FA3C2"/>
                </a:solidFill>
                <a:latin typeface="Calibri" pitchFamily="34" charset="0"/>
                <a:ea typeface="Calibri" pitchFamily="34" charset="-122"/>
                <a:cs typeface="Calibri" pitchFamily="34" charset="-120"/>
              </a:rPr>
              <a:t>GPS Toll-Based System Simulation</a:t>
            </a:r>
            <a:endParaRPr lang="en-US" sz="1000" dirty="0"/>
          </a:p>
        </p:txBody>
      </p:sp>
      <p:sp>
        <p:nvSpPr>
          <p:cNvPr id="3" name="Text 1"/>
          <p:cNvSpPr txBox="1"/>
          <p:nvPr/>
        </p:nvSpPr>
        <p:spPr>
          <a:xfrm>
            <a:off x="10271455" y="6400800"/>
            <a:ext cx="1371600" cy="274320"/>
          </a:xfrm>
          <a:prstGeom prst="rect">
            <a:avLst/>
          </a:prstGeom>
          <a:noFill/>
          <a:ln/>
        </p:spPr>
        <p:txBody>
          <a:bodyPr wrap="square" lIns="0" tIns="0" rIns="0" bIns="0" rtlCol="0" anchor="t"/>
          <a:lstStyle/>
          <a:p>
            <a:pPr algn="r" indent="0" marL="0">
              <a:buNone/>
            </a:pPr>
            <a:r>
              <a:rPr lang="en-US" sz="1000" dirty="0">
                <a:solidFill>
                  <a:srgbClr val="8FA3C2"/>
                </a:solidFill>
                <a:latin typeface="Calibri" pitchFamily="34" charset="0"/>
                <a:ea typeface="Calibri" pitchFamily="34" charset="-122"/>
                <a:cs typeface="Calibri" pitchFamily="34" charset="-120"/>
              </a:rPr>
              <a:t>17 / 17</a:t>
            </a:r>
            <a:endParaRPr lang="en-US" sz="1000" dirty="0"/>
          </a:p>
        </p:txBody>
      </p:sp>
      <p:sp>
        <p:nvSpPr>
          <p:cNvPr id="4" name="Text 2"/>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spc="300" kern="0" dirty="0">
                <a:solidFill>
                  <a:srgbClr val="EB6834"/>
                </a:solidFill>
                <a:latin typeface="Arial" pitchFamily="34" charset="0"/>
                <a:ea typeface="Arial" pitchFamily="34" charset="-122"/>
                <a:cs typeface="Arial" pitchFamily="34" charset="-120"/>
              </a:rPr>
              <a:t>CONCLUSION</a:t>
            </a:r>
            <a:endParaRPr lang="en-US" sz="1200" dirty="0"/>
          </a:p>
        </p:txBody>
      </p:sp>
      <p:sp>
        <p:nvSpPr>
          <p:cNvPr id="5" name="Text 3"/>
          <p:cNvSpPr txBox="1"/>
          <p:nvPr/>
        </p:nvSpPr>
        <p:spPr>
          <a:xfrm>
            <a:off x="548640" y="676656"/>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Pay for the road you actually use</a:t>
            </a:r>
            <a:endParaRPr lang="en-US" sz="3000" dirty="0"/>
          </a:p>
        </p:txBody>
      </p:sp>
      <p:sp>
        <p:nvSpPr>
          <p:cNvPr id="6" name="Shape 4"/>
          <p:cNvSpPr/>
          <p:nvPr/>
        </p:nvSpPr>
        <p:spPr>
          <a:xfrm>
            <a:off x="548640" y="1691640"/>
            <a:ext cx="3575304" cy="2331720"/>
          </a:xfrm>
          <a:prstGeom prst="roundRect">
            <a:avLst>
              <a:gd name="adj" fmla="val 3137"/>
            </a:avLst>
          </a:prstGeom>
          <a:solidFill>
            <a:srgbClr val="142A4D"/>
          </a:solidFill>
          <a:ln w="12700">
            <a:solidFill>
              <a:srgbClr val="142A4D"/>
            </a:solidFill>
            <a:prstDash val="solid"/>
          </a:ln>
        </p:spPr>
      </p:sp>
      <p:sp>
        <p:nvSpPr>
          <p:cNvPr id="7" name="Text 5"/>
          <p:cNvSpPr txBox="1"/>
          <p:nvPr/>
        </p:nvSpPr>
        <p:spPr>
          <a:xfrm>
            <a:off x="868680" y="1920240"/>
            <a:ext cx="2935224" cy="914400"/>
          </a:xfrm>
          <a:prstGeom prst="rect">
            <a:avLst/>
          </a:prstGeom>
          <a:noFill/>
          <a:ln/>
        </p:spPr>
        <p:txBody>
          <a:bodyPr wrap="square" lIns="0" tIns="0" rIns="0" bIns="0" rtlCol="0" anchor="t"/>
          <a:lstStyle/>
          <a:p>
            <a:pPr indent="0" marL="0">
              <a:buNone/>
            </a:pPr>
            <a:r>
              <a:rPr lang="en-US" sz="5400" b="1" dirty="0">
                <a:solidFill>
                  <a:srgbClr val="F07A4A"/>
                </a:solidFill>
                <a:latin typeface="Arial" pitchFamily="34" charset="0"/>
                <a:ea typeface="Arial" pitchFamily="34" charset="-122"/>
                <a:cs typeface="Arial" pitchFamily="34" charset="-120"/>
              </a:rPr>
              <a:t>24%</a:t>
            </a:r>
            <a:endParaRPr lang="en-US" sz="5400" dirty="0"/>
          </a:p>
        </p:txBody>
      </p:sp>
      <p:sp>
        <p:nvSpPr>
          <p:cNvPr id="8" name="Text 6"/>
          <p:cNvSpPr txBox="1"/>
          <p:nvPr/>
        </p:nvSpPr>
        <p:spPr>
          <a:xfrm>
            <a:off x="868680" y="2926080"/>
            <a:ext cx="2935224" cy="822960"/>
          </a:xfrm>
          <a:prstGeom prst="rect">
            <a:avLst/>
          </a:prstGeom>
          <a:noFill/>
          <a:ln/>
        </p:spPr>
        <p:txBody>
          <a:bodyPr wrap="square" lIns="0" tIns="0" rIns="0" bIns="0" rtlCol="0" anchor="t"/>
          <a:lstStyle/>
          <a:p>
            <a:pPr indent="0" marL="0">
              <a:buNone/>
            </a:pPr>
            <a:r>
              <a:rPr lang="en-US" sz="1600" dirty="0">
                <a:solidFill>
                  <a:srgbClr val="C9D6EA"/>
                </a:solidFill>
                <a:latin typeface="Calibri" pitchFamily="34" charset="0"/>
                <a:ea typeface="Calibri" pitchFamily="34" charset="-122"/>
                <a:cs typeface="Calibri" pitchFamily="34" charset="-120"/>
              </a:rPr>
              <a:t>less toll for a car driving the full 362 km route</a:t>
            </a:r>
            <a:endParaRPr lang="en-US" sz="1600" dirty="0"/>
          </a:p>
        </p:txBody>
      </p:sp>
      <p:sp>
        <p:nvSpPr>
          <p:cNvPr id="9" name="Shape 7"/>
          <p:cNvSpPr/>
          <p:nvPr/>
        </p:nvSpPr>
        <p:spPr>
          <a:xfrm>
            <a:off x="4306824" y="1691640"/>
            <a:ext cx="3575304" cy="2331720"/>
          </a:xfrm>
          <a:prstGeom prst="roundRect">
            <a:avLst>
              <a:gd name="adj" fmla="val 3137"/>
            </a:avLst>
          </a:prstGeom>
          <a:solidFill>
            <a:srgbClr val="142A4D"/>
          </a:solidFill>
          <a:ln w="12700">
            <a:solidFill>
              <a:srgbClr val="142A4D"/>
            </a:solidFill>
            <a:prstDash val="solid"/>
          </a:ln>
        </p:spPr>
      </p:sp>
      <p:sp>
        <p:nvSpPr>
          <p:cNvPr id="10" name="Text 8"/>
          <p:cNvSpPr txBox="1"/>
          <p:nvPr/>
        </p:nvSpPr>
        <p:spPr>
          <a:xfrm>
            <a:off x="4626864" y="1920240"/>
            <a:ext cx="2935224" cy="914400"/>
          </a:xfrm>
          <a:prstGeom prst="rect">
            <a:avLst/>
          </a:prstGeom>
          <a:noFill/>
          <a:ln/>
        </p:spPr>
        <p:txBody>
          <a:bodyPr wrap="square" lIns="0" tIns="0" rIns="0" bIns="0" rtlCol="0" anchor="t"/>
          <a:lstStyle/>
          <a:p>
            <a:pPr indent="0" marL="0">
              <a:buNone/>
            </a:pPr>
            <a:r>
              <a:rPr lang="en-US" sz="5400" b="1" dirty="0">
                <a:solidFill>
                  <a:srgbClr val="F07A4A"/>
                </a:solidFill>
                <a:latin typeface="Arial" pitchFamily="34" charset="0"/>
                <a:ea typeface="Arial" pitchFamily="34" charset="-122"/>
                <a:cs typeface="Arial" pitchFamily="34" charset="-120"/>
              </a:rPr>
              <a:t>77%</a:t>
            </a:r>
            <a:endParaRPr lang="en-US" sz="5400" dirty="0"/>
          </a:p>
        </p:txBody>
      </p:sp>
      <p:sp>
        <p:nvSpPr>
          <p:cNvPr id="11" name="Text 9"/>
          <p:cNvSpPr txBox="1"/>
          <p:nvPr/>
        </p:nvSpPr>
        <p:spPr>
          <a:xfrm>
            <a:off x="4626864" y="2926080"/>
            <a:ext cx="2935224" cy="822960"/>
          </a:xfrm>
          <a:prstGeom prst="rect">
            <a:avLst/>
          </a:prstGeom>
          <a:noFill/>
          <a:ln/>
        </p:spPr>
        <p:txBody>
          <a:bodyPr wrap="square" lIns="0" tIns="0" rIns="0" bIns="0" rtlCol="0" anchor="t"/>
          <a:lstStyle/>
          <a:p>
            <a:pPr indent="0" marL="0">
              <a:buNone/>
            </a:pPr>
            <a:r>
              <a:rPr lang="en-US" sz="1600" dirty="0">
                <a:solidFill>
                  <a:srgbClr val="C9D6EA"/>
                </a:solidFill>
                <a:latin typeface="Calibri" pitchFamily="34" charset="0"/>
                <a:ea typeface="Calibri" pitchFamily="34" charset="-122"/>
                <a:cs typeface="Calibri" pitchFamily="34" charset="-120"/>
              </a:rPr>
              <a:t>less on short trips such as Krishnagiri → Hosur</a:t>
            </a:r>
            <a:endParaRPr lang="en-US" sz="1600" dirty="0"/>
          </a:p>
        </p:txBody>
      </p:sp>
      <p:sp>
        <p:nvSpPr>
          <p:cNvPr id="12" name="Shape 10"/>
          <p:cNvSpPr/>
          <p:nvPr/>
        </p:nvSpPr>
        <p:spPr>
          <a:xfrm>
            <a:off x="8065008" y="1691640"/>
            <a:ext cx="3575304" cy="2331720"/>
          </a:xfrm>
          <a:prstGeom prst="roundRect">
            <a:avLst>
              <a:gd name="adj" fmla="val 3137"/>
            </a:avLst>
          </a:prstGeom>
          <a:solidFill>
            <a:srgbClr val="142A4D"/>
          </a:solidFill>
          <a:ln w="12700">
            <a:solidFill>
              <a:srgbClr val="142A4D"/>
            </a:solidFill>
            <a:prstDash val="solid"/>
          </a:ln>
        </p:spPr>
      </p:sp>
      <p:sp>
        <p:nvSpPr>
          <p:cNvPr id="13" name="Text 11"/>
          <p:cNvSpPr txBox="1"/>
          <p:nvPr/>
        </p:nvSpPr>
        <p:spPr>
          <a:xfrm>
            <a:off x="8385048" y="1920240"/>
            <a:ext cx="2935224" cy="914400"/>
          </a:xfrm>
          <a:prstGeom prst="rect">
            <a:avLst/>
          </a:prstGeom>
          <a:noFill/>
          <a:ln/>
        </p:spPr>
        <p:txBody>
          <a:bodyPr wrap="square" lIns="0" tIns="0" rIns="0" bIns="0" rtlCol="0" anchor="t"/>
          <a:lstStyle/>
          <a:p>
            <a:pPr indent="0" marL="0">
              <a:buNone/>
            </a:pPr>
            <a:r>
              <a:rPr lang="en-US" sz="5400" b="1" dirty="0">
                <a:solidFill>
                  <a:srgbClr val="F07A4A"/>
                </a:solidFill>
                <a:latin typeface="Arial" pitchFamily="34" charset="0"/>
                <a:ea typeface="Arial" pitchFamily="34" charset="-122"/>
                <a:cs typeface="Arial" pitchFamily="34" charset="-120"/>
              </a:rPr>
              <a:t>8</a:t>
            </a:r>
            <a:endParaRPr lang="en-US" sz="5400" dirty="0"/>
          </a:p>
        </p:txBody>
      </p:sp>
      <p:sp>
        <p:nvSpPr>
          <p:cNvPr id="14" name="Text 12"/>
          <p:cNvSpPr txBox="1"/>
          <p:nvPr/>
        </p:nvSpPr>
        <p:spPr>
          <a:xfrm>
            <a:off x="8385048" y="2926080"/>
            <a:ext cx="2935224" cy="822960"/>
          </a:xfrm>
          <a:prstGeom prst="rect">
            <a:avLst/>
          </a:prstGeom>
          <a:noFill/>
          <a:ln/>
        </p:spPr>
        <p:txBody>
          <a:bodyPr wrap="square" lIns="0" tIns="0" rIns="0" bIns="0" rtlCol="0" anchor="t"/>
          <a:lstStyle/>
          <a:p>
            <a:pPr indent="0" marL="0">
              <a:buNone/>
            </a:pPr>
            <a:r>
              <a:rPr lang="en-US" sz="1600" dirty="0">
                <a:solidFill>
                  <a:srgbClr val="C9D6EA"/>
                </a:solidFill>
                <a:latin typeface="Calibri" pitchFamily="34" charset="0"/>
                <a:ea typeface="Calibri" pitchFamily="34" charset="-122"/>
                <a:cs typeface="Calibri" pitchFamily="34" charset="-120"/>
              </a:rPr>
              <a:t>real plazas with real fees, on a real road</a:t>
            </a:r>
            <a:endParaRPr lang="en-US" sz="1600" dirty="0"/>
          </a:p>
        </p:txBody>
      </p:sp>
      <p:sp>
        <p:nvSpPr>
          <p:cNvPr id="15" name="Text 13"/>
          <p:cNvSpPr txBox="1"/>
          <p:nvPr/>
        </p:nvSpPr>
        <p:spPr>
          <a:xfrm>
            <a:off x="548640" y="4434840"/>
            <a:ext cx="5486400" cy="7315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Thank you</a:t>
            </a:r>
            <a:endParaRPr lang="en-US" sz="4000" dirty="0"/>
          </a:p>
        </p:txBody>
      </p:sp>
      <p:sp>
        <p:nvSpPr>
          <p:cNvPr id="16" name="Text 14"/>
          <p:cNvSpPr txBox="1"/>
          <p:nvPr/>
        </p:nvSpPr>
        <p:spPr>
          <a:xfrm>
            <a:off x="548640" y="5166360"/>
            <a:ext cx="5486400" cy="457200"/>
          </a:xfrm>
          <a:prstGeom prst="rect">
            <a:avLst/>
          </a:prstGeom>
          <a:noFill/>
          <a:ln/>
        </p:spPr>
        <p:txBody>
          <a:bodyPr wrap="square" lIns="0" tIns="0" rIns="0" bIns="0" rtlCol="0" anchor="t"/>
          <a:lstStyle/>
          <a:p>
            <a:pPr indent="0" marL="0">
              <a:buNone/>
            </a:pPr>
            <a:r>
              <a:rPr lang="en-US" sz="2200" dirty="0">
                <a:solidFill>
                  <a:srgbClr val="C9D6EA"/>
                </a:solidFill>
                <a:latin typeface="Calibri" pitchFamily="34" charset="0"/>
                <a:ea typeface="Calibri" pitchFamily="34" charset="-122"/>
                <a:cs typeface="Calibri" pitchFamily="34" charset="-120"/>
              </a:rPr>
              <a:t>Questions?</a:t>
            </a:r>
            <a:endParaRPr lang="en-US" sz="2200" dirty="0"/>
          </a:p>
        </p:txBody>
      </p:sp>
      <p:pic>
        <p:nvPicPr>
          <p:cNvPr id="17" name="Image 0" descr="preencoded.png">    </p:cNvPr>
          <p:cNvPicPr>
            <a:picLocks noChangeAspect="1"/>
          </p:cNvPicPr>
          <p:nvPr/>
        </p:nvPicPr>
        <p:blipFill>
          <a:blip r:embed="rId1"/>
          <a:stretch>
            <a:fillRect/>
          </a:stretch>
        </p:blipFill>
        <p:spPr>
          <a:xfrm>
            <a:off x="548640" y="5870448"/>
            <a:ext cx="237744" cy="237744"/>
          </a:xfrm>
          <a:prstGeom prst="rect">
            <a:avLst/>
          </a:prstGeom>
        </p:spPr>
      </p:pic>
      <p:sp>
        <p:nvSpPr>
          <p:cNvPr id="18" name="Text 15"/>
          <p:cNvSpPr txBox="1"/>
          <p:nvPr/>
        </p:nvSpPr>
        <p:spPr>
          <a:xfrm>
            <a:off x="896112" y="5852160"/>
            <a:ext cx="4572000" cy="274320"/>
          </a:xfrm>
          <a:prstGeom prst="rect">
            <a:avLst/>
          </a:prstGeom>
          <a:noFill/>
          <a:ln/>
        </p:spPr>
        <p:txBody>
          <a:bodyPr wrap="square" lIns="0" tIns="0" rIns="0" bIns="0" rtlCol="0" anchor="ctr"/>
          <a:lstStyle/>
          <a:p>
            <a:pPr indent="0" marL="0">
              <a:buNone/>
            </a:pPr>
            <a:r>
              <a:rPr lang="en-US" sz="1300" dirty="0">
                <a:solidFill>
                  <a:srgbClr val="C9D6EA"/>
                </a:solidFill>
                <a:latin typeface="Calibri" pitchFamily="34" charset="0"/>
                <a:ea typeface="Calibri" pitchFamily="34" charset="-122"/>
                <a:cs typeface="Calibri" pitchFamily="34" charset="-120"/>
              </a:rPr>
              <a:t>github.com/Kes2003/gps-toll-system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GPS Toll-Based System Simulation</dc:title>
  <dc:subject>Distance-based (GNSS) highway tolling on the Coimbatore - Bangalore highway</dc:subject>
  <dc:creator>GPS Toll-Based System Simulation team</dc:creator>
  <cp:lastModifiedBy>GPS Toll-Based System Simulation team</cp:lastModifiedBy>
  <cp:revision>1</cp:revision>
  <dcterms:created xsi:type="dcterms:W3CDTF">2026-09-25T22:09:43Z</dcterms:created>
  <dcterms:modified xsi:type="dcterms:W3CDTF">2026-09-25T22:09:43Z</dcterms:modified>
</cp:coreProperties>
</file>